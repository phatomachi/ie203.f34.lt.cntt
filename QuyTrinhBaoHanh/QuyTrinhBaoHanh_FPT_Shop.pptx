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7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292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82458"/>
                </a:solidFill>
              </a:defRPr>
            </a:pPr>
            <a:r>
              <a:t>I. QUY TRÌNH BẢO HÀNH SẢN PHẨM TẠI FPT 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83210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7617"/>
                </a:solidFill>
              </a:defRPr>
            </a:pPr>
            <a:r>
              <a:t>Tổng quan – phương pháp thực hiện – dựa trên bằng chứng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143000"/>
            <a:ext cx="11201400" cy="32004"/>
          </a:xfrm>
          <a:prstGeom prst="rect">
            <a:avLst/>
          </a:prstGeom>
          <a:solidFill>
            <a:srgbClr val="DE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65760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66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3657600" cy="100584"/>
          </a:xfrm>
          <a:prstGeom prst="rect">
            <a:avLst/>
          </a:prstGeom>
          <a:solidFill>
            <a:srgbClr val="266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8191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2665B5"/>
                </a:solidFill>
              </a:defRPr>
            </a:pPr>
            <a:r>
              <a:t>TỔNG QUAN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38328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Bắt đầu khi khách hàng phát hiện sản phẩm gặp sự cố và gửi yêu cầu bảo hành.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Kết thúc khi sản phẩm được xử lý, bàn giao lại và khách hàng xác nhận.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5 bên chính: Khách hàng, CSKH, Kỹ thuật, TTBH/Hãng và Quản lý cửa hàng.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Mục tiêu: đúng chính sách, giảm thời gian chờ, hạn chế sai sót và nâng cao dịch vụ sau bán hàng.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417320"/>
            <a:ext cx="342900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57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417320"/>
            <a:ext cx="3429000" cy="100584"/>
          </a:xfrm>
          <a:prstGeom prst="rect">
            <a:avLst/>
          </a:prstGeom>
          <a:solidFill>
            <a:srgbClr val="F57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581912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F57617"/>
                </a:solidFill>
              </a:defRPr>
            </a:pPr>
            <a:r>
              <a:t>PHƯƠNG PHÁP THỰC HIỆN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011680"/>
            <a:ext cx="315468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Nghiên cứu dựa trên bằng chứng và tài liệu bảo hành.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Quan sát, xác định các bên tham gia và mô hình hóa hoạt động.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Phỏng vấn định tính và thu thập dữ liệu định lượng.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Mô hình hóa BPMN.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Phân tích VA/BVA/NVA, lãng phí, thời gian, chất lượng và chi phí.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0416" y="1417320"/>
            <a:ext cx="365760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539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0416" y="1417320"/>
            <a:ext cx="3657600" cy="100584"/>
          </a:xfrm>
          <a:prstGeom prst="rect">
            <a:avLst/>
          </a:prstGeom>
          <a:solidFill>
            <a:srgbClr val="53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7576" y="158191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539D4E"/>
                </a:solidFill>
              </a:defRPr>
            </a:pPr>
            <a:r>
              <a:t>BẰNG CHỨNG SỬ DỤNG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7576" y="2011680"/>
            <a:ext cx="338328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Chính sách bảo hành và thông tin từ nhà sản xuất.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IMEI/Serial Number, hóa đơn mua hàng.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Phiếu tiếp nhận, phiếu bàn giao và biểu mẫu kiểm tra.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Trạng thái bảo hành trên hệ thống.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Kết quả kỹ thuật và kết luận của TTBH/Hãng.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7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292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82458"/>
                </a:solidFill>
              </a:defRPr>
            </a:pPr>
            <a:r>
              <a:t>II. MÔ TẢ QUY TRÌNH HIỆN CÓ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83210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7617"/>
                </a:solidFill>
              </a:defRPr>
            </a:pPr>
            <a:r>
              <a:t>Luồng xử lý và sơ đồ tổ chức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143000"/>
            <a:ext cx="11201400" cy="32004"/>
          </a:xfrm>
          <a:prstGeom prst="rect">
            <a:avLst/>
          </a:prstGeom>
          <a:solidFill>
            <a:srgbClr val="DE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176272" cy="1234440"/>
          </a:xfrm>
          <a:prstGeom prst="roundRect">
            <a:avLst/>
          </a:prstGeom>
          <a:solidFill>
            <a:srgbClr val="F7F9FC"/>
          </a:solidFill>
          <a:ln>
            <a:solidFill>
              <a:srgbClr val="266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76072" y="1536192"/>
            <a:ext cx="438912" cy="438912"/>
          </a:xfrm>
          <a:prstGeom prst="ellipse">
            <a:avLst/>
          </a:prstGeom>
          <a:solidFill>
            <a:srgbClr val="266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591056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1499616"/>
            <a:ext cx="151790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2665B5"/>
                </a:solidFill>
              </a:defRPr>
            </a:pPr>
            <a:r>
              <a:t>Khách hàng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847088"/>
            <a:ext cx="1956816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2637"/>
                </a:solidFill>
              </a:defRPr>
            </a:pPr>
            <a:r>
              <a:t>Phát hiện lỗi → mang sản phẩm đến FPT Shop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6352" y="1417320"/>
            <a:ext cx="2176272" cy="1234440"/>
          </a:xfrm>
          <a:prstGeom prst="roundRect">
            <a:avLst/>
          </a:prstGeom>
          <a:solidFill>
            <a:srgbClr val="F7F9FC"/>
          </a:solidFill>
          <a:ln>
            <a:solidFill>
              <a:srgbClr val="F57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89504" y="1536192"/>
            <a:ext cx="438912" cy="438912"/>
          </a:xfrm>
          <a:prstGeom prst="ellipse">
            <a:avLst/>
          </a:prstGeom>
          <a:solidFill>
            <a:srgbClr val="F57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9504" y="1591056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1499616"/>
            <a:ext cx="151790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57617"/>
                </a:solidFill>
              </a:defRPr>
            </a:pPr>
            <a:r>
              <a:t>CSKH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847088"/>
            <a:ext cx="1956816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2637"/>
                </a:solidFill>
              </a:defRPr>
            </a:pPr>
            <a:r>
              <a:t>Tiếp nhận → kiểm tra thông tin, thời hạn và điều kiện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9784" y="1417320"/>
            <a:ext cx="2176272" cy="1234440"/>
          </a:xfrm>
          <a:prstGeom prst="roundRect">
            <a:avLst/>
          </a:prstGeom>
          <a:solidFill>
            <a:srgbClr val="F7F9FC"/>
          </a:solidFill>
          <a:ln>
            <a:solidFill>
              <a:srgbClr val="539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02936" y="1536192"/>
            <a:ext cx="438912" cy="438912"/>
          </a:xfrm>
          <a:prstGeom prst="ellipse">
            <a:avLst/>
          </a:prstGeom>
          <a:solidFill>
            <a:srgbClr val="53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02936" y="1591056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499616"/>
            <a:ext cx="151790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539D4E"/>
                </a:solidFill>
              </a:defRPr>
            </a:pPr>
            <a:r>
              <a:t>Kỹ thuật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1847088"/>
            <a:ext cx="1956816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2637"/>
                </a:solidFill>
              </a:defRPr>
            </a:pPr>
            <a:r>
              <a:t>Kiểm tra ban đầu → xác định lỗi → đánh giá khả năng xử lý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43216" y="1417320"/>
            <a:ext cx="2176272" cy="1234440"/>
          </a:xfrm>
          <a:prstGeom prst="roundRect">
            <a:avLst/>
          </a:prstGeom>
          <a:solidFill>
            <a:srgbClr val="F7F9FC"/>
          </a:solidFill>
          <a:ln>
            <a:solidFill>
              <a:srgbClr val="7A5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16368" y="1536192"/>
            <a:ext cx="438912" cy="438912"/>
          </a:xfrm>
          <a:prstGeom prst="ellipse">
            <a:avLst/>
          </a:prstGeom>
          <a:solidFill>
            <a:srgbClr val="7A5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16368" y="1591056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2" y="1499616"/>
            <a:ext cx="151790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7A5299"/>
                </a:solidFill>
              </a:defRPr>
            </a:pPr>
            <a:r>
              <a:t>TTBH/Hãng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1847088"/>
            <a:ext cx="1956816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2637"/>
                </a:solidFill>
              </a:defRPr>
            </a:pPr>
            <a:r>
              <a:t>Kiểm tra chuyên sâu → sửa/thay linh kiện/đổi theo chính sách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56648" y="1417320"/>
            <a:ext cx="2176272" cy="1234440"/>
          </a:xfrm>
          <a:prstGeom prst="roundRect">
            <a:avLst/>
          </a:prstGeom>
          <a:solidFill>
            <a:srgbClr val="F7F9FC"/>
          </a:solidFill>
          <a:ln>
            <a:solidFill>
              <a:srgbClr val="1E9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9800" y="1536192"/>
            <a:ext cx="438912" cy="438912"/>
          </a:xfrm>
          <a:prstGeom prst="ellipse">
            <a:avLst/>
          </a:prstGeom>
          <a:solidFill>
            <a:srgbClr val="1E9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9800" y="1591056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41864" y="1499616"/>
            <a:ext cx="151790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E9DA4"/>
                </a:solidFill>
              </a:defRPr>
            </a:pPr>
            <a:r>
              <a:t>CSKH + Khách hàng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66376" y="1847088"/>
            <a:ext cx="1956816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2637"/>
                </a:solidFill>
              </a:defRPr>
            </a:pPr>
            <a:r>
              <a:t>Cập nhật kết quả → thông báo → bàn giao → xác nhận</a:t>
            </a:r>
          </a:p>
        </p:txBody>
      </p:sp>
      <p:pic>
        <p:nvPicPr>
          <p:cNvPr id="31" name="Picture 30" descr="9007ac92-afeb-40fd-9e03-660a28598e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80360"/>
            <a:ext cx="107442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7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292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82458"/>
                </a:solidFill>
              </a:defRPr>
            </a:pPr>
            <a:r>
              <a:t>III. MÔ HÌNH HÓA QUY TRÌNH BPMN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83210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7617"/>
                </a:solidFill>
              </a:defRPr>
            </a:pPr>
            <a:r>
              <a:t>Thể hiện trách nhiệm, trình tự, Gateway và các nhánh xử lý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143000"/>
            <a:ext cx="11201400" cy="32004"/>
          </a:xfrm>
          <a:prstGeom prst="rect">
            <a:avLst/>
          </a:prstGeom>
          <a:solidFill>
            <a:srgbClr val="DE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4a1a6f65-78e1-46db-809b-14eb72a698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7726679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325880"/>
            <a:ext cx="3383280" cy="49834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82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75320" y="1325880"/>
            <a:ext cx="3383280" cy="100584"/>
          </a:xfrm>
          <a:prstGeom prst="rect">
            <a:avLst/>
          </a:prstGeom>
          <a:solidFill>
            <a:srgbClr val="082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49047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082458"/>
                </a:solidFill>
              </a:defRPr>
            </a:pPr>
            <a:r>
              <a:t>PHÂN TÍCH MÔ HÌNH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920240"/>
            <a:ext cx="3108960" cy="4270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5 nhóm đối tượng được phân chia theo Pool/Lane.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Gateway kiểm soát: thông tin hợp lệ, thời hạn, dấu hiệu loại trừ, xác định lỗi, phạm vi bảo hành, khả năng sửa và kết quả sau sửa.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Có các nhánh kết thúc sớm khi hết hạn hoặc không đủ điều kiện.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Nhánh phức tạp chuyển TTBH/Hãng để kiểm tra chuyên sâu.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Mô hình giúp nhận diện điểm nghẽn, bàn giao và vòng lặp xử lý lại.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7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292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82458"/>
                </a:solidFill>
              </a:defRPr>
            </a:pPr>
            <a:r>
              <a:t>IV. PHÂN TÍCH SỰ LÃNG PHÍ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83210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7617"/>
                </a:solidFill>
              </a:defRPr>
            </a:pPr>
            <a:r>
              <a:t>Các yếu tố làm tăng Lead Time nhưng không tăng giá trị cho khách hàng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143000"/>
            <a:ext cx="11201400" cy="32004"/>
          </a:xfrm>
          <a:prstGeom prst="rect">
            <a:avLst/>
          </a:prstGeom>
          <a:solidFill>
            <a:srgbClr val="DE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520440" cy="2148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66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3520440" cy="100584"/>
          </a:xfrm>
          <a:prstGeom prst="rect">
            <a:avLst/>
          </a:prstGeom>
          <a:solidFill>
            <a:srgbClr val="266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2665B5"/>
                </a:solidFill>
              </a:defRPr>
            </a:pPr>
            <a:r>
              <a:t>1. CHỜ ĐỢI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324612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Chờ tiếp nhận, chuyển kỹ thuật, TTBH/Hãng kiểm tra.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Chờ linh kiện, thẩm định và vận chuyển về cửa hàng.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Đây có thể là phần chiếm tỷ trọng lớn trong tổng Lead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371600"/>
            <a:ext cx="3520440" cy="2148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57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371600"/>
            <a:ext cx="3520440" cy="100584"/>
          </a:xfrm>
          <a:prstGeom prst="rect">
            <a:avLst/>
          </a:prstGeom>
          <a:solidFill>
            <a:srgbClr val="F57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536192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F57617"/>
                </a:solidFill>
              </a:defRPr>
            </a:pPr>
            <a:r>
              <a:t>2. VẬN CHUYỂN &amp; BÀN GIAO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965960"/>
            <a:ext cx="324612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Khách hàng → CSKH → Kỹ thuật → TTBH/Hãng → CSKH → Khách hàng.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Nhiều lần bàn giao làm tăng thời gian và rủi ro sai lệch thông tin.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1371600"/>
            <a:ext cx="3520440" cy="2148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539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9016" y="1371600"/>
            <a:ext cx="3520440" cy="100584"/>
          </a:xfrm>
          <a:prstGeom prst="rect">
            <a:avLst/>
          </a:prstGeom>
          <a:solidFill>
            <a:srgbClr val="53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1536192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539D4E"/>
                </a:solidFill>
              </a:defRPr>
            </a:pPr>
            <a:r>
              <a:t>3. XỬ LÝ THỪA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1965960"/>
            <a:ext cx="324612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Kiểm tra lại dữ liệu không cần thiết.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Nhập cùng dữ liệu trên nhiều biểu mẫu/hệ thống.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Lỗi đơn giản nhưng phải qua quá nhiều cấp.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95728" y="3794760"/>
            <a:ext cx="3520440" cy="1965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A5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95728" y="3794760"/>
            <a:ext cx="3520440" cy="100584"/>
          </a:xfrm>
          <a:prstGeom prst="rect">
            <a:avLst/>
          </a:prstGeom>
          <a:solidFill>
            <a:srgbClr val="7A5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32888" y="3959352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7A5299"/>
                </a:solidFill>
              </a:defRPr>
            </a:pPr>
            <a:r>
              <a:t>4. LÀM LẠI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32888" y="4389120"/>
            <a:ext cx="324612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Sửa chữa → kiểm tra → không đạt → sửa/kiểm tra lại.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Làm tăng thời gian kỹ thuật, nguồn lực và chi phí.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794760"/>
            <a:ext cx="3520440" cy="1965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E9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794760"/>
            <a:ext cx="3520440" cy="100584"/>
          </a:xfrm>
          <a:prstGeom prst="rect">
            <a:avLst/>
          </a:prstGeom>
          <a:solidFill>
            <a:srgbClr val="1E9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59352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E9DA4"/>
                </a:solidFill>
              </a:defRPr>
            </a:pPr>
            <a:r>
              <a:t>5. LÃNG PHÍ THÔNG TIN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89120"/>
            <a:ext cx="324612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Trạng thái cập nhật chậm hoặc không thống nhất.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Khách hàng/CSKH phải liên hệ nhiều lần.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Tăng nguy cơ khiếu nại và giảm hài lòng.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7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292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82458"/>
                </a:solidFill>
              </a:defRPr>
            </a:pPr>
            <a:r>
              <a:t>V. PHÂN TÍCH ĐỊNH LƯỢNG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83210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7617"/>
                </a:solidFill>
              </a:defRPr>
            </a:pPr>
            <a:r>
              <a:t>Dữ liệu giả định phục vụ phân tích – không phải số liệu vận hành chính thức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143000"/>
            <a:ext cx="11201400" cy="32004"/>
          </a:xfrm>
          <a:prstGeom prst="rect">
            <a:avLst/>
          </a:prstGeom>
          <a:solidFill>
            <a:srgbClr val="DE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703320" cy="48006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66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3703320" cy="100584"/>
          </a:xfrm>
          <a:prstGeom prst="rect">
            <a:avLst/>
          </a:prstGeom>
          <a:solidFill>
            <a:srgbClr val="266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3429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2665B5"/>
                </a:solidFill>
              </a:defRPr>
            </a:pPr>
            <a:r>
              <a:t>THỜI GIAN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3429000" cy="40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Kịch bản: đủ điều kiện nhưng phải chuyển TTBH/Hãng.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Tiếp nhận + kiểm tra + lập phiếu: khoảng 30 phút.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Kiểm tra kỹ thuật ban đầu: khoảng 30 phút.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Chuyển/chờ TTBH: 1 ngày; kiểm tra chuyên sâu: 1 ngày.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Chờ linh kiện: 2 ngày; sửa/thay: 1 ngày.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Chuyển về FPT Shop: 1 ngày.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Tổng Lead Time giả định: khoảng 6–7 ngày làm việc.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371600"/>
            <a:ext cx="3474720" cy="48006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539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371600"/>
            <a:ext cx="3474720" cy="100584"/>
          </a:xfrm>
          <a:prstGeom prst="rect">
            <a:avLst/>
          </a:prstGeom>
          <a:solidFill>
            <a:srgbClr val="539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53619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539D4E"/>
                </a:solidFill>
              </a:defRPr>
            </a:pPr>
            <a:r>
              <a:t>CHẤT LƯỢNG – KPI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965960"/>
            <a:ext cx="3200400" cy="40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Hồ sơ đầy đủ, chính xác: ≥ 98%.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Xử lý đúng chính sách: ≥ 98%.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First Time Fix Rate: ≥ 90%.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Trả sản phẩm đúng hẹn: ≥ 90%.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Tỷ lệ xử lý lại: ≤ 5%.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Thất lạc/nhầm sản phẩm: ≈ 0%.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Hài lòng khách hàng: ≥ 4/5.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371600"/>
            <a:ext cx="3703320" cy="48006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57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560" y="1371600"/>
            <a:ext cx="3703320" cy="100584"/>
          </a:xfrm>
          <a:prstGeom prst="rect">
            <a:avLst/>
          </a:prstGeom>
          <a:solidFill>
            <a:srgbClr val="F57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536192"/>
            <a:ext cx="3429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F57617"/>
                </a:solidFill>
              </a:defRPr>
            </a:pPr>
            <a:r>
              <a:t>CHI PHÍ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965960"/>
            <a:ext cx="3429000" cy="40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Nhân công: CSKH, kỹ thuật, TTBH/Hãng và quản lý.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Vận chuyển: FPT Shop ↔ TTBH/Hãng.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Sửa chữa: linh kiện, thiết bị, nhân công và kiểm định.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Làm lại: kiểm tra lại + sửa lại + vận chuyển + nhân công bổ sung.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Thời gian chờ còn làm tăng cuộc gọi, theo dõi, khiếu nại và chi phí quản lý.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7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292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82458"/>
                </a:solidFill>
              </a:defRPr>
            </a:pPr>
            <a:r>
              <a:t>VI. KẾT LUẬN VÀ HƯỚNG CẢI TIẾN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83210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7617"/>
                </a:solidFill>
              </a:defRPr>
            </a:pPr>
            <a:r>
              <a:t>Trọng tâm nâng cao hiệu quả quy trình bảo hành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143000"/>
            <a:ext cx="11201400" cy="32004"/>
          </a:xfrm>
          <a:prstGeom prst="rect">
            <a:avLst/>
          </a:prstGeom>
          <a:solidFill>
            <a:srgbClr val="DE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457200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82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4572000" cy="100584"/>
          </a:xfrm>
          <a:prstGeom prst="rect">
            <a:avLst/>
          </a:prstGeom>
          <a:solidFill>
            <a:srgbClr val="082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082458"/>
                </a:solidFill>
              </a:defRPr>
            </a:pPr>
            <a:r>
              <a:t>KẾT LUẬN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429768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Trách nhiệm giữa các bên được phân chia tương đối rõ.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Gateway giúp kiểm soát nhiều trường hợp trước khi chuyển sang công đoạn tiếp theo.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Giá trị chính tập trung ở xác định lỗi – sửa chữa/thay thế – kiểm tra kết quả.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Điểm ảnh hưởng lớn đến hiệu quả là thời gian chờ, số lần bàn giao, trao đổi thông tin và tỷ lệ xử lý lại.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371600"/>
            <a:ext cx="6309360" cy="45262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576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0" y="1371600"/>
            <a:ext cx="6309360" cy="100584"/>
          </a:xfrm>
          <a:prstGeom prst="rect">
            <a:avLst/>
          </a:prstGeom>
          <a:solidFill>
            <a:srgbClr val="F57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1536192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F57617"/>
                </a:solidFill>
              </a:defRPr>
            </a:pPr>
            <a:r>
              <a:t>HƯỚNG CẢI TIẾN ĐỀ XUẤT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1965960"/>
            <a:ext cx="6035040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Chuẩn hóa thông tin ngay từ bước tiếp nhận.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Hạn chế nhập và kiểm tra lại dữ liệu không cần thiết.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Cập nhật trạng thái sản phẩm xuyên suốt giữa các bên.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Giảm thời gian chờ và thời gian bàn giao.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Tăng tỷ lệ sửa chữa thành công ngay lần đầu (FTFR).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Hạn chế chuyển qua nhiều bộ phận khi không cần thiết.</a:t>
            </a:r>
          </a:p>
          <a:p>
            <a:pPr>
              <a:spcAft>
                <a:spcPts val="400"/>
              </a:spcAft>
              <a:defRPr sz="1150">
                <a:solidFill>
                  <a:srgbClr val="1E2637"/>
                </a:solidFill>
              </a:defRPr>
            </a:pPr>
            <a:r>
              <a:t>• Theo dõi KPI về thời gian, chất lượng và tỷ lệ làm lại để xác định điểm nghẽn.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08076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082458"/>
                </a:solidFill>
              </a:defRPr>
            </a:pPr>
            <a:r>
              <a:t>MỤC TIÊU: Đúng chính sách • Đúng quy trình • Đúng thời gian • Minh bạch • Nâng cao trải nghiệm khách hàng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