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8.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35CC11C-9F3C-4801-A5B8-1EB217EB9A3A}"/>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4036D439-0E73-4392-A9D1-DB40D6A1D843}"/>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AED8D72-39BA-4813-BE9A-5896B83C2C16}"/>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3574399-47D7-4DFE-841F-7CBC1D185DA3}"/>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63A1E588-873C-49E4-A7B4-C071921A31F0}"/>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271C43D6-2330-42E7-B7B5-7400A7FA4873}"/>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CF8A0900-F5E1-4D59-A602-AB1E03354068}"/>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B75A24BE-7317-4DD6-81AF-C3D9A22C2390}"/>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9BE8A7C2-3867-4E64-B9BA-2969AABE627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BA8BF9B7-B58D-4A1E-B783-E2C5DE9BA49C}"/>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CB79444E-2FEF-457A-B9A8-5DB6F9015EAF}"/>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A5A54038-D365-4073-9E33-FE7D4FC106DE}"/>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A6349F5B-B8DE-4F73-AD5D-4EE4A5157851}"/>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C6384A8-3645-4409-97CD-214A1F577CDA}"/>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E67814AE-C778-44B3-874E-734AA82C69D7}"/>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EA007EB5-A087-4079-8D0A-CC1711AEF46A}"/>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CCF1187D-22E6-476B-8232-89860501D41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92207862-5C10-4EC6-ACDA-5F590A006E29}"/>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8462D05-CCAD-4D78-A04E-CD858C17C332}"/>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E3202425-D841-46E9-B743-2A5CD5469D55}"/>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3C480BB1-7A5A-4EA9-9FFA-AF398F1B3B58}"/>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2BD954FB-597A-47E3-9084-321EF22D1C23}"/>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EBDB9D8-6335-4462-885E-260CB94BAD31}"/>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F098F66B-8E04-4B20-91D8-694E3F9E7C80}"/>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B266D2B-4EA7-4140-85DD-4E5DDBF47C5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75575F64-6AFF-42B2-8BCA-F255C6E350CD}"/>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A3D82C0E-E6F8-4BBE-8DD1-D59A3A499870}"/>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3BBAEA0-C484-4F3B-8586-B35BC61323D7}"/>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04998151-1E82-4B41-92E2-359CDEB20B7A}"/>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CF18467F-5A25-42FF-BAD4-22293F1A5D54}"/>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0C3FB8E-36B3-4877-908E-E248DEF9A22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F1BE9BD3-9958-4803-9DCC-1F21F76C95E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57A7F0A8-5AB7-4F59-B55D-3AA405035D87}"/>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176F6BA3-9A04-4715-B065-EDD40C5AC44C}"/>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FED2EFED-A076-45F8-9EEA-A0E7F947BC7B}"/>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3EFAFA65-725E-44A6-BAAA-0A23F747953D}"/>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8C50E4F-F5CE-4418-83BC-758110F9E70E}"/>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0DB5F52-9B78-4BD4-8279-E5199A3350EE}"/>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8C251EE7-B0CA-4D19-BA4D-4CBCFCEDF4FA}"/>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7307CBA-4C5A-4599-8903-AF15BEA22CC5}"/>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953831D1-ADEE-4D37-8904-386C0634E1FA}"/>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0AF42F2-2DC5-4514-AAF3-C433C4DAED57}"/>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5B28F3F4-F236-4F2C-A089-18E8CD36A13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7FFEA110-EC4E-458B-99D9-B3538DC373E9}"/>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D311505-5119-4998-A9F8-67EE39C20A1A}"/>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C6B9823A-FA75-46F5-8859-0C42C1D8DE8E}"/>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FA847331-BE75-472F-9F64-51484B74675C}"/>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8DEBE1CA-A31B-4C3D-BBD6-73DFF0D3C96E}"/>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7" name="Shape 55">
            <a:extLst>
              <a:ext uri="{FF2B5EF4-FFF2-40B4-BE49-F238E27FC236}">
                <a16:creationId xmlns:a16="http://schemas.microsoft.com/office/drawing/2014/main" id="{D4D1E4F3-D27D-4EC2-8CBB-BB8CA0F3CE4A}"/>
              </a:ext>
            </a:extLst>
          </p:cNvPr>
          <p:cNvSpPr>
            <a:spLocks noGrp="1"/>
          </p:cNvSpPr>
          <p:nvPr/>
        </p:nvSpPr>
        <p:spPr>
          <a:xfrm>
            <a:off x="9829800" y="6144768"/>
            <a:ext cx="1783080" cy="713232"/>
          </a:xfrm>
          <a:prstGeom prst="parallelogram">
            <a:avLst/>
          </a:prstGeom>
          <a:solidFill>
            <a:srgbClr val="0A4FC5">
              <a:alpha val="90000"/>
            </a:srgbClr>
          </a:solidFill>
          <a:ln w="12700">
            <a:solidFill>
              <a:srgbClr val="0A4FC5">
                <a:alpha val="0"/>
              </a:srgbClr>
            </a:solidFill>
            <a:prstDash val="solid"/>
          </a:ln>
        </p:spPr>
        <p:txBody>
          <a:bodyPr/>
          <a:lstStyle/>
          <a:p>
            <a:endParaRPr/>
          </a:p>
        </p:txBody>
      </p:sp>
      <p:sp>
        <p:nvSpPr>
          <p:cNvPr id="59" name="Text 57">
            <a:extLst>
              <a:ext uri="{FF2B5EF4-FFF2-40B4-BE49-F238E27FC236}">
                <a16:creationId xmlns:a16="http://schemas.microsoft.com/office/drawing/2014/main" id="{8F8336FF-426C-4552-B77C-AC482F27F556}"/>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01</a:t>
            </a:r>
          </a:p>
        </p:txBody>
      </p:sp>
      <p:sp>
        <p:nvSpPr>
          <p:cNvPr id="61" name="Text 58">
            <a:extLst>
              <a:ext uri="{FF2B5EF4-FFF2-40B4-BE49-F238E27FC236}">
                <a16:creationId xmlns:a16="http://schemas.microsoft.com/office/drawing/2014/main" id="{D89536DE-EE89-4482-B153-B080F067CFD9}"/>
              </a:ext>
            </a:extLst>
          </p:cNvPr>
          <p:cNvSpPr>
            <a:spLocks noGrp="1"/>
          </p:cNvSpPr>
          <p:nvPr/>
        </p:nvSpPr>
        <p:spPr>
          <a:xfrm>
            <a:off x="594360" y="1572768"/>
            <a:ext cx="10789920" cy="640080"/>
          </a:xfrm>
          <a:prstGeom prst="rect">
            <a:avLst/>
          </a:prstGeom>
          <a:noFill/>
        </p:spPr>
        <p:txBody>
          <a:bodyPr wrap="square" lIns="0" tIns="0" rIns="0" bIns="0" anchor="ctr">
            <a:noAutofit/>
          </a:bodyPr>
          <a:lstStyle/>
          <a:p>
            <a:pPr algn="ctr">
              <a:lnSpc>
                <a:spcPct val="104000"/>
              </a:lnSpc>
              <a:buNone/>
              <a:defRPr sz="2400" b="1">
                <a:solidFill>
                  <a:srgbClr val="062B8D"/>
                </a:solidFill>
                <a:latin typeface="Arial"/>
                <a:ea typeface="Arial"/>
                <a:cs typeface="Arial"/>
              </a:defRPr>
            </a:pPr>
            <a:r>
              <a:rPr sz="2400" b="1">
                <a:solidFill>
                  <a:srgbClr val="062B8D"/>
                </a:solidFill>
                <a:latin typeface="Arial"/>
                <a:ea typeface="Arial"/>
                <a:cs typeface="Arial"/>
              </a:rPr>
              <a:t>HỆ THỐNG QUẢN TRỊ QUY TRÌNH NGHIỆP VỤ</a:t>
            </a:r>
          </a:p>
        </p:txBody>
      </p:sp>
      <p:sp>
        <p:nvSpPr>
          <p:cNvPr id="62" name="Text 59">
            <a:extLst>
              <a:ext uri="{FF2B5EF4-FFF2-40B4-BE49-F238E27FC236}">
                <a16:creationId xmlns:a16="http://schemas.microsoft.com/office/drawing/2014/main" id="{EEE0C576-477A-4AC5-A906-33F82448012F}"/>
              </a:ext>
            </a:extLst>
          </p:cNvPr>
          <p:cNvSpPr>
            <a:spLocks noGrp="1"/>
          </p:cNvSpPr>
          <p:nvPr/>
        </p:nvSpPr>
        <p:spPr>
          <a:xfrm>
            <a:off x="868680" y="2514600"/>
            <a:ext cx="914400" cy="292608"/>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Đề tài:</a:t>
            </a:r>
          </a:p>
        </p:txBody>
      </p:sp>
      <p:sp>
        <p:nvSpPr>
          <p:cNvPr id="63" name="Text 60">
            <a:extLst>
              <a:ext uri="{FF2B5EF4-FFF2-40B4-BE49-F238E27FC236}">
                <a16:creationId xmlns:a16="http://schemas.microsoft.com/office/drawing/2014/main" id="{2E09BB53-ECA0-4944-8046-5064EA327A31}"/>
              </a:ext>
            </a:extLst>
          </p:cNvPr>
          <p:cNvSpPr>
            <a:spLocks noGrp="1"/>
          </p:cNvSpPr>
          <p:nvPr/>
        </p:nvSpPr>
        <p:spPr>
          <a:xfrm>
            <a:off x="2143124" y="2465440"/>
            <a:ext cx="6750153" cy="552968"/>
          </a:xfrm>
          <a:prstGeom prst="rect">
            <a:avLst/>
          </a:prstGeom>
          <a:noFill/>
        </p:spPr>
        <p:txBody>
          <a:bodyPr wrap="square" lIns="0" tIns="0" rIns="0" bIns="0" anchor="t">
            <a:noAutofit/>
          </a:bodyPr>
          <a:lstStyle/>
          <a:p>
            <a:pPr>
              <a:lnSpc>
                <a:spcPct val="104000"/>
              </a:lnSpc>
              <a:defRPr sz="1650" b="1">
                <a:solidFill>
                  <a:srgbClr val="17325C"/>
                </a:solidFill>
                <a:latin typeface="Arial"/>
                <a:ea typeface="Arial"/>
                <a:cs typeface="Arial"/>
              </a:defRPr>
            </a:pPr>
            <a:r>
              <a:rPr lang="en-US" sz="1650" b="1" dirty="0" err="1">
                <a:solidFill>
                  <a:srgbClr val="17325C"/>
                </a:solidFill>
                <a:latin typeface="Arial"/>
                <a:ea typeface="Arial"/>
                <a:cs typeface="Arial"/>
              </a:rPr>
              <a:t>Tìm</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hiểu</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hệ</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thống</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quy</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trình</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nghiệp</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vụ</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tại</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công</a:t>
            </a:r>
            <a:r>
              <a:rPr lang="en-US" sz="1650" b="1" dirty="0">
                <a:solidFill>
                  <a:srgbClr val="17325C"/>
                </a:solidFill>
                <a:latin typeface="Arial"/>
                <a:ea typeface="Arial"/>
                <a:cs typeface="Arial"/>
              </a:rPr>
              <a:t> ty </a:t>
            </a:r>
            <a:r>
              <a:rPr lang="en-US" sz="1650" b="1" dirty="0" err="1">
                <a:solidFill>
                  <a:srgbClr val="17325C"/>
                </a:solidFill>
                <a:latin typeface="Arial"/>
                <a:ea typeface="Arial"/>
                <a:cs typeface="Arial"/>
              </a:rPr>
              <a:t>cổ</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phần</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bán</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lẻ</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kỹ</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thuật</a:t>
            </a:r>
            <a:r>
              <a:rPr lang="en-US" sz="1650" b="1" dirty="0">
                <a:solidFill>
                  <a:srgbClr val="17325C"/>
                </a:solidFill>
                <a:latin typeface="Arial"/>
                <a:ea typeface="Arial"/>
                <a:cs typeface="Arial"/>
              </a:rPr>
              <a:t> </a:t>
            </a:r>
            <a:r>
              <a:rPr lang="en-US" sz="1650" b="1" dirty="0" err="1">
                <a:solidFill>
                  <a:srgbClr val="17325C"/>
                </a:solidFill>
                <a:latin typeface="Arial"/>
                <a:ea typeface="Arial"/>
                <a:cs typeface="Arial"/>
              </a:rPr>
              <a:t>số</a:t>
            </a:r>
            <a:r>
              <a:rPr lang="en-US" sz="1650" b="1" dirty="0">
                <a:solidFill>
                  <a:srgbClr val="17325C"/>
                </a:solidFill>
                <a:latin typeface="Arial"/>
                <a:ea typeface="Arial"/>
                <a:cs typeface="Arial"/>
              </a:rPr>
              <a:t> FPT (FPT SHOP)</a:t>
            </a:r>
            <a:endParaRPr sz="1650" b="1" dirty="0">
              <a:solidFill>
                <a:srgbClr val="17325C"/>
              </a:solidFill>
              <a:latin typeface="Arial"/>
              <a:ea typeface="Arial"/>
              <a:cs typeface="Arial"/>
            </a:endParaRPr>
          </a:p>
        </p:txBody>
      </p:sp>
      <p:sp>
        <p:nvSpPr>
          <p:cNvPr id="64" name="Text 61">
            <a:extLst>
              <a:ext uri="{FF2B5EF4-FFF2-40B4-BE49-F238E27FC236}">
                <a16:creationId xmlns:a16="http://schemas.microsoft.com/office/drawing/2014/main" id="{D5357761-6E17-4C2D-B2D0-FF513C5D7A9D}"/>
              </a:ext>
            </a:extLst>
          </p:cNvPr>
          <p:cNvSpPr>
            <a:spLocks noGrp="1"/>
          </p:cNvSpPr>
          <p:nvPr/>
        </p:nvSpPr>
        <p:spPr>
          <a:xfrm>
            <a:off x="868680" y="3145536"/>
            <a:ext cx="1066800"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Môn học:</a:t>
            </a:r>
          </a:p>
        </p:txBody>
      </p:sp>
      <p:sp>
        <p:nvSpPr>
          <p:cNvPr id="65" name="Text 62">
            <a:extLst>
              <a:ext uri="{FF2B5EF4-FFF2-40B4-BE49-F238E27FC236}">
                <a16:creationId xmlns:a16="http://schemas.microsoft.com/office/drawing/2014/main" id="{2ED13856-5A71-4C01-B492-D7E562452C90}"/>
              </a:ext>
            </a:extLst>
          </p:cNvPr>
          <p:cNvSpPr>
            <a:spLocks noGrp="1"/>
          </p:cNvSpPr>
          <p:nvPr/>
        </p:nvSpPr>
        <p:spPr>
          <a:xfrm>
            <a:off x="2047875" y="3145536"/>
            <a:ext cx="4953000"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Hệ thống quản trị quy trình nghiệp vụ</a:t>
            </a:r>
          </a:p>
        </p:txBody>
      </p:sp>
      <p:sp>
        <p:nvSpPr>
          <p:cNvPr id="66" name="Text 63">
            <a:extLst>
              <a:ext uri="{FF2B5EF4-FFF2-40B4-BE49-F238E27FC236}">
                <a16:creationId xmlns:a16="http://schemas.microsoft.com/office/drawing/2014/main" id="{64143891-2621-465C-B0D0-9B423B2AD7F9}"/>
              </a:ext>
            </a:extLst>
          </p:cNvPr>
          <p:cNvSpPr>
            <a:spLocks noGrp="1"/>
          </p:cNvSpPr>
          <p:nvPr/>
        </p:nvSpPr>
        <p:spPr>
          <a:xfrm>
            <a:off x="868680" y="3611880"/>
            <a:ext cx="1381125"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Giảng viên:</a:t>
            </a:r>
          </a:p>
        </p:txBody>
      </p:sp>
      <p:sp>
        <p:nvSpPr>
          <p:cNvPr id="67" name="Text 64">
            <a:extLst>
              <a:ext uri="{FF2B5EF4-FFF2-40B4-BE49-F238E27FC236}">
                <a16:creationId xmlns:a16="http://schemas.microsoft.com/office/drawing/2014/main" id="{E6515D3F-22B4-4CF6-87ED-05C5E78E625C}"/>
              </a:ext>
            </a:extLst>
          </p:cNvPr>
          <p:cNvSpPr>
            <a:spLocks noGrp="1"/>
          </p:cNvSpPr>
          <p:nvPr/>
        </p:nvSpPr>
        <p:spPr>
          <a:xfrm>
            <a:off x="2047875" y="3611880"/>
            <a:ext cx="3429000"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ThS. Hà Lê Hoài Trung</a:t>
            </a:r>
          </a:p>
        </p:txBody>
      </p:sp>
      <p:sp>
        <p:nvSpPr>
          <p:cNvPr id="69" name="Shape 65">
            <a:extLst>
              <a:ext uri="{FF2B5EF4-FFF2-40B4-BE49-F238E27FC236}">
                <a16:creationId xmlns:a16="http://schemas.microsoft.com/office/drawing/2014/main" id="{E4D5CDA3-37B9-4E99-8AD6-F48D7DCFA046}"/>
              </a:ext>
            </a:extLst>
          </p:cNvPr>
          <p:cNvSpPr>
            <a:spLocks noGrp="1"/>
          </p:cNvSpPr>
          <p:nvPr/>
        </p:nvSpPr>
        <p:spPr>
          <a:xfrm>
            <a:off x="640080" y="4343400"/>
            <a:ext cx="10698480" cy="1600200"/>
          </a:xfrm>
          <a:prstGeom prst="roundRect">
            <a:avLst>
              <a:gd name="adj" fmla="val 5714"/>
            </a:avLst>
          </a:prstGeom>
          <a:solidFill>
            <a:srgbClr val="FFFFFF"/>
          </a:solidFill>
          <a:ln w="15240">
            <a:solidFill>
              <a:srgbClr val="7DA9F5"/>
            </a:solidFill>
            <a:prstDash val="solid"/>
          </a:ln>
        </p:spPr>
        <p:txBody>
          <a:bodyPr/>
          <a:lstStyle/>
          <a:p>
            <a:endParaRPr/>
          </a:p>
        </p:txBody>
      </p:sp>
      <p:sp>
        <p:nvSpPr>
          <p:cNvPr id="70" name="Shape 66">
            <a:extLst>
              <a:ext uri="{FF2B5EF4-FFF2-40B4-BE49-F238E27FC236}">
                <a16:creationId xmlns:a16="http://schemas.microsoft.com/office/drawing/2014/main" id="{247E44C5-2946-4617-AC35-08144D0753E1}"/>
              </a:ext>
            </a:extLst>
          </p:cNvPr>
          <p:cNvSpPr>
            <a:spLocks noGrp="1"/>
          </p:cNvSpPr>
          <p:nvPr/>
        </p:nvSpPr>
        <p:spPr>
          <a:xfrm>
            <a:off x="640080" y="4133088"/>
            <a:ext cx="2971800" cy="384048"/>
          </a:xfrm>
          <a:prstGeom prst="roundRect">
            <a:avLst>
              <a:gd name="adj" fmla="val 19048"/>
            </a:avLst>
          </a:prstGeom>
          <a:solidFill>
            <a:srgbClr val="063EAE"/>
          </a:solidFill>
          <a:ln w="12700">
            <a:solidFill>
              <a:srgbClr val="063EAE">
                <a:alpha val="0"/>
              </a:srgbClr>
            </a:solidFill>
            <a:prstDash val="solid"/>
          </a:ln>
        </p:spPr>
        <p:txBody>
          <a:bodyPr/>
          <a:lstStyle/>
          <a:p>
            <a:endParaRPr/>
          </a:p>
        </p:txBody>
      </p:sp>
      <p:sp>
        <p:nvSpPr>
          <p:cNvPr id="71" name="Text 67">
            <a:extLst>
              <a:ext uri="{FF2B5EF4-FFF2-40B4-BE49-F238E27FC236}">
                <a16:creationId xmlns:a16="http://schemas.microsoft.com/office/drawing/2014/main" id="{955EB119-3F4B-4BA4-8100-95337E47AEA8}"/>
              </a:ext>
            </a:extLst>
          </p:cNvPr>
          <p:cNvSpPr>
            <a:spLocks noGrp="1"/>
          </p:cNvSpPr>
          <p:nvPr/>
        </p:nvSpPr>
        <p:spPr>
          <a:xfrm>
            <a:off x="866775" y="4171950"/>
            <a:ext cx="2857500" cy="285750"/>
          </a:xfrm>
          <a:prstGeom prst="rect">
            <a:avLst/>
          </a:prstGeom>
          <a:noFill/>
        </p:spPr>
        <p:txBody>
          <a:bodyPr wrap="square" lIns="0" tIns="0" rIns="0" bIns="0" anchor="t">
            <a:noAutofit/>
          </a:bodyPr>
          <a:lstStyle/>
          <a:p>
            <a:pPr algn="l">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DANH SÁCH SINH VIÊN</a:t>
            </a:r>
          </a:p>
        </p:txBody>
      </p:sp>
      <p:sp>
        <p:nvSpPr>
          <p:cNvPr id="72" name="Text 68">
            <a:extLst>
              <a:ext uri="{FF2B5EF4-FFF2-40B4-BE49-F238E27FC236}">
                <a16:creationId xmlns:a16="http://schemas.microsoft.com/office/drawing/2014/main" id="{876DA200-6282-45EF-A10E-5E44FA27706C}"/>
              </a:ext>
            </a:extLst>
          </p:cNvPr>
          <p:cNvSpPr>
            <a:spLocks noGrp="1"/>
          </p:cNvSpPr>
          <p:nvPr/>
        </p:nvSpPr>
        <p:spPr>
          <a:xfrm>
            <a:off x="895350" y="46386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73" name="Text 69">
            <a:extLst>
              <a:ext uri="{FF2B5EF4-FFF2-40B4-BE49-F238E27FC236}">
                <a16:creationId xmlns:a16="http://schemas.microsoft.com/office/drawing/2014/main" id="{8CFEFFD1-A6F0-4135-BFFF-1ABB68435D2A}"/>
              </a:ext>
            </a:extLst>
          </p:cNvPr>
          <p:cNvSpPr>
            <a:spLocks noGrp="1"/>
          </p:cNvSpPr>
          <p:nvPr/>
        </p:nvSpPr>
        <p:spPr>
          <a:xfrm>
            <a:off x="1143000" y="45910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Phạm Quang Phát</a:t>
            </a:r>
          </a:p>
        </p:txBody>
      </p:sp>
      <p:sp>
        <p:nvSpPr>
          <p:cNvPr id="74" name="Text 70">
            <a:extLst>
              <a:ext uri="{FF2B5EF4-FFF2-40B4-BE49-F238E27FC236}">
                <a16:creationId xmlns:a16="http://schemas.microsoft.com/office/drawing/2014/main" id="{38822B66-560B-4A13-9F96-EB00BF8611E3}"/>
              </a:ext>
            </a:extLst>
          </p:cNvPr>
          <p:cNvSpPr>
            <a:spLocks noGrp="1"/>
          </p:cNvSpPr>
          <p:nvPr/>
        </p:nvSpPr>
        <p:spPr>
          <a:xfrm>
            <a:off x="3714750" y="45910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25410278</a:t>
            </a:r>
          </a:p>
        </p:txBody>
      </p:sp>
      <p:sp>
        <p:nvSpPr>
          <p:cNvPr id="75" name="Text 71">
            <a:extLst>
              <a:ext uri="{FF2B5EF4-FFF2-40B4-BE49-F238E27FC236}">
                <a16:creationId xmlns:a16="http://schemas.microsoft.com/office/drawing/2014/main" id="{D7B62FC6-9DE2-4402-87A7-EDF2C0C3E218}"/>
              </a:ext>
            </a:extLst>
          </p:cNvPr>
          <p:cNvSpPr>
            <a:spLocks noGrp="1"/>
          </p:cNvSpPr>
          <p:nvPr/>
        </p:nvSpPr>
        <p:spPr>
          <a:xfrm>
            <a:off x="895350" y="49434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76" name="Text 72">
            <a:extLst>
              <a:ext uri="{FF2B5EF4-FFF2-40B4-BE49-F238E27FC236}">
                <a16:creationId xmlns:a16="http://schemas.microsoft.com/office/drawing/2014/main" id="{1A18F4A4-2D8B-40E3-9653-59DEC2EA7A3B}"/>
              </a:ext>
            </a:extLst>
          </p:cNvPr>
          <p:cNvSpPr>
            <a:spLocks noGrp="1"/>
          </p:cNvSpPr>
          <p:nvPr/>
        </p:nvSpPr>
        <p:spPr>
          <a:xfrm>
            <a:off x="1143000" y="48958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Nguyễn Hồ Phát</a:t>
            </a:r>
          </a:p>
        </p:txBody>
      </p:sp>
      <p:sp>
        <p:nvSpPr>
          <p:cNvPr id="77" name="Text 73">
            <a:extLst>
              <a:ext uri="{FF2B5EF4-FFF2-40B4-BE49-F238E27FC236}">
                <a16:creationId xmlns:a16="http://schemas.microsoft.com/office/drawing/2014/main" id="{D4716127-A0F1-4B0A-81CA-9DA69D9E5EC1}"/>
              </a:ext>
            </a:extLst>
          </p:cNvPr>
          <p:cNvSpPr>
            <a:spLocks noGrp="1"/>
          </p:cNvSpPr>
          <p:nvPr/>
        </p:nvSpPr>
        <p:spPr>
          <a:xfrm>
            <a:off x="3714750" y="48958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25410277</a:t>
            </a:r>
          </a:p>
        </p:txBody>
      </p:sp>
      <p:sp>
        <p:nvSpPr>
          <p:cNvPr id="78" name="Text 74">
            <a:extLst>
              <a:ext uri="{FF2B5EF4-FFF2-40B4-BE49-F238E27FC236}">
                <a16:creationId xmlns:a16="http://schemas.microsoft.com/office/drawing/2014/main" id="{E881CF17-34D0-4B6F-BAC0-6F52CE5D61F6}"/>
              </a:ext>
            </a:extLst>
          </p:cNvPr>
          <p:cNvSpPr>
            <a:spLocks noGrp="1"/>
          </p:cNvSpPr>
          <p:nvPr/>
        </p:nvSpPr>
        <p:spPr>
          <a:xfrm>
            <a:off x="895350" y="52482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79" name="Text 75">
            <a:extLst>
              <a:ext uri="{FF2B5EF4-FFF2-40B4-BE49-F238E27FC236}">
                <a16:creationId xmlns:a16="http://schemas.microsoft.com/office/drawing/2014/main" id="{F631BA41-0B39-42B0-B302-EA547FB2C458}"/>
              </a:ext>
            </a:extLst>
          </p:cNvPr>
          <p:cNvSpPr>
            <a:spLocks noGrp="1"/>
          </p:cNvSpPr>
          <p:nvPr/>
        </p:nvSpPr>
        <p:spPr>
          <a:xfrm>
            <a:off x="1143000" y="52006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Phùng Châu Phát</a:t>
            </a:r>
          </a:p>
        </p:txBody>
      </p:sp>
      <p:sp>
        <p:nvSpPr>
          <p:cNvPr id="80" name="Text 76">
            <a:extLst>
              <a:ext uri="{FF2B5EF4-FFF2-40B4-BE49-F238E27FC236}">
                <a16:creationId xmlns:a16="http://schemas.microsoft.com/office/drawing/2014/main" id="{DA3AC6E3-3ADA-490A-ACFC-24DA15BFEC2C}"/>
              </a:ext>
            </a:extLst>
          </p:cNvPr>
          <p:cNvSpPr>
            <a:spLocks noGrp="1"/>
          </p:cNvSpPr>
          <p:nvPr/>
        </p:nvSpPr>
        <p:spPr>
          <a:xfrm>
            <a:off x="3714750" y="52006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25410279</a:t>
            </a:r>
          </a:p>
        </p:txBody>
      </p:sp>
      <p:sp>
        <p:nvSpPr>
          <p:cNvPr id="81" name="Shape 77">
            <a:extLst>
              <a:ext uri="{FF2B5EF4-FFF2-40B4-BE49-F238E27FC236}">
                <a16:creationId xmlns:a16="http://schemas.microsoft.com/office/drawing/2014/main" id="{7666A999-845D-4A1B-A367-525512D26AD3}"/>
              </a:ext>
            </a:extLst>
          </p:cNvPr>
          <p:cNvSpPr>
            <a:spLocks noGrp="1"/>
          </p:cNvSpPr>
          <p:nvPr/>
        </p:nvSpPr>
        <p:spPr>
          <a:xfrm>
            <a:off x="5334000" y="4572000"/>
            <a:ext cx="0" cy="1181100"/>
          </a:xfrm>
          <a:prstGeom prst="line">
            <a:avLst/>
          </a:prstGeom>
          <a:noFill/>
          <a:ln w="12700">
            <a:solidFill>
              <a:srgbClr val="7DA9F5"/>
            </a:solidFill>
            <a:prstDash val="solid"/>
          </a:ln>
        </p:spPr>
        <p:txBody>
          <a:bodyPr/>
          <a:lstStyle/>
          <a:p>
            <a:endParaRPr/>
          </a:p>
        </p:txBody>
      </p:sp>
      <p:sp>
        <p:nvSpPr>
          <p:cNvPr id="82" name="Text 78">
            <a:extLst>
              <a:ext uri="{FF2B5EF4-FFF2-40B4-BE49-F238E27FC236}">
                <a16:creationId xmlns:a16="http://schemas.microsoft.com/office/drawing/2014/main" id="{071B392B-217F-4FD0-BD82-4EE4C28B3853}"/>
              </a:ext>
            </a:extLst>
          </p:cNvPr>
          <p:cNvSpPr>
            <a:spLocks noGrp="1"/>
          </p:cNvSpPr>
          <p:nvPr/>
        </p:nvSpPr>
        <p:spPr>
          <a:xfrm>
            <a:off x="895350" y="55530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83" name="Text 79">
            <a:extLst>
              <a:ext uri="{FF2B5EF4-FFF2-40B4-BE49-F238E27FC236}">
                <a16:creationId xmlns:a16="http://schemas.microsoft.com/office/drawing/2014/main" id="{8ACBC5AA-CD5F-4F24-9CAB-1BF69777869A}"/>
              </a:ext>
            </a:extLst>
          </p:cNvPr>
          <p:cNvSpPr>
            <a:spLocks noGrp="1"/>
          </p:cNvSpPr>
          <p:nvPr/>
        </p:nvSpPr>
        <p:spPr>
          <a:xfrm>
            <a:off x="1143000" y="55054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Lê Dương Nhựt Minh</a:t>
            </a:r>
          </a:p>
        </p:txBody>
      </p:sp>
      <p:sp>
        <p:nvSpPr>
          <p:cNvPr id="84" name="Text 80">
            <a:extLst>
              <a:ext uri="{FF2B5EF4-FFF2-40B4-BE49-F238E27FC236}">
                <a16:creationId xmlns:a16="http://schemas.microsoft.com/office/drawing/2014/main" id="{38E7B4DE-A9BB-4090-ACBE-85E30A14C406}"/>
              </a:ext>
            </a:extLst>
          </p:cNvPr>
          <p:cNvSpPr>
            <a:spLocks noGrp="1"/>
          </p:cNvSpPr>
          <p:nvPr/>
        </p:nvSpPr>
        <p:spPr>
          <a:xfrm>
            <a:off x="3714750" y="55054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25410255</a:t>
            </a:r>
          </a:p>
        </p:txBody>
      </p:sp>
      <p:sp>
        <p:nvSpPr>
          <p:cNvPr id="85" name="Text 81">
            <a:extLst>
              <a:ext uri="{FF2B5EF4-FFF2-40B4-BE49-F238E27FC236}">
                <a16:creationId xmlns:a16="http://schemas.microsoft.com/office/drawing/2014/main" id="{A61B3FFF-C880-49BF-87E8-1A998C43516A}"/>
              </a:ext>
            </a:extLst>
          </p:cNvPr>
          <p:cNvSpPr>
            <a:spLocks noGrp="1"/>
          </p:cNvSpPr>
          <p:nvPr/>
        </p:nvSpPr>
        <p:spPr>
          <a:xfrm>
            <a:off x="5715000" y="46386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86" name="Text 82">
            <a:extLst>
              <a:ext uri="{FF2B5EF4-FFF2-40B4-BE49-F238E27FC236}">
                <a16:creationId xmlns:a16="http://schemas.microsoft.com/office/drawing/2014/main" id="{81447B21-FB0C-4CF5-B923-C48FBA23FE9B}"/>
              </a:ext>
            </a:extLst>
          </p:cNvPr>
          <p:cNvSpPr>
            <a:spLocks noGrp="1"/>
          </p:cNvSpPr>
          <p:nvPr/>
        </p:nvSpPr>
        <p:spPr>
          <a:xfrm>
            <a:off x="5962650" y="4591050"/>
            <a:ext cx="347662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Lê Nguyễn Phương</a:t>
            </a:r>
          </a:p>
        </p:txBody>
      </p:sp>
      <p:sp>
        <p:nvSpPr>
          <p:cNvPr id="87" name="Text 83">
            <a:extLst>
              <a:ext uri="{FF2B5EF4-FFF2-40B4-BE49-F238E27FC236}">
                <a16:creationId xmlns:a16="http://schemas.microsoft.com/office/drawing/2014/main" id="{0EBDB2FF-4BB1-49DA-890A-E47B09FB4E72}"/>
              </a:ext>
            </a:extLst>
          </p:cNvPr>
          <p:cNvSpPr>
            <a:spLocks noGrp="1"/>
          </p:cNvSpPr>
          <p:nvPr/>
        </p:nvSpPr>
        <p:spPr>
          <a:xfrm>
            <a:off x="9677400" y="45910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25410287</a:t>
            </a:r>
          </a:p>
        </p:txBody>
      </p:sp>
      <p:sp>
        <p:nvSpPr>
          <p:cNvPr id="88" name="Text 84">
            <a:extLst>
              <a:ext uri="{FF2B5EF4-FFF2-40B4-BE49-F238E27FC236}">
                <a16:creationId xmlns:a16="http://schemas.microsoft.com/office/drawing/2014/main" id="{9A394B37-583A-48A0-A88A-AD5061464F80}"/>
              </a:ext>
            </a:extLst>
          </p:cNvPr>
          <p:cNvSpPr>
            <a:spLocks noGrp="1"/>
          </p:cNvSpPr>
          <p:nvPr/>
        </p:nvSpPr>
        <p:spPr>
          <a:xfrm>
            <a:off x="5715000" y="49434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89" name="Text 85">
            <a:extLst>
              <a:ext uri="{FF2B5EF4-FFF2-40B4-BE49-F238E27FC236}">
                <a16:creationId xmlns:a16="http://schemas.microsoft.com/office/drawing/2014/main" id="{7908E1F2-AD58-48DC-8B8C-C4D833C0D516}"/>
              </a:ext>
            </a:extLst>
          </p:cNvPr>
          <p:cNvSpPr>
            <a:spLocks noGrp="1"/>
          </p:cNvSpPr>
          <p:nvPr/>
        </p:nvSpPr>
        <p:spPr>
          <a:xfrm>
            <a:off x="5962650" y="4895850"/>
            <a:ext cx="347662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Phạm Xuân Thân</a:t>
            </a:r>
          </a:p>
        </p:txBody>
      </p:sp>
      <p:sp>
        <p:nvSpPr>
          <p:cNvPr id="90" name="Text 86">
            <a:extLst>
              <a:ext uri="{FF2B5EF4-FFF2-40B4-BE49-F238E27FC236}">
                <a16:creationId xmlns:a16="http://schemas.microsoft.com/office/drawing/2014/main" id="{62522FEE-533D-4516-9001-F58059A1E258}"/>
              </a:ext>
            </a:extLst>
          </p:cNvPr>
          <p:cNvSpPr>
            <a:spLocks noGrp="1"/>
          </p:cNvSpPr>
          <p:nvPr/>
        </p:nvSpPr>
        <p:spPr>
          <a:xfrm>
            <a:off x="9677400" y="48958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25410303</a:t>
            </a:r>
          </a:p>
        </p:txBody>
      </p:sp>
      <p:sp>
        <p:nvSpPr>
          <p:cNvPr id="92" name="Text 88">
            <a:extLst>
              <a:ext uri="{FF2B5EF4-FFF2-40B4-BE49-F238E27FC236}">
                <a16:creationId xmlns:a16="http://schemas.microsoft.com/office/drawing/2014/main" id="{2AE1B891-6815-4D7F-8BF1-1E6D37FAA21F}"/>
              </a:ext>
            </a:extLst>
          </p:cNvPr>
          <p:cNvSpPr>
            <a:spLocks noGrp="1"/>
          </p:cNvSpPr>
          <p:nvPr/>
        </p:nvSpPr>
        <p:spPr>
          <a:xfrm>
            <a:off x="5715000" y="52482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93" name="Text 89">
            <a:extLst>
              <a:ext uri="{FF2B5EF4-FFF2-40B4-BE49-F238E27FC236}">
                <a16:creationId xmlns:a16="http://schemas.microsoft.com/office/drawing/2014/main" id="{BCA6F949-2586-4A8E-BD7D-B7115C30DA03}"/>
              </a:ext>
            </a:extLst>
          </p:cNvPr>
          <p:cNvSpPr>
            <a:spLocks noGrp="1"/>
          </p:cNvSpPr>
          <p:nvPr/>
        </p:nvSpPr>
        <p:spPr>
          <a:xfrm>
            <a:off x="5962650" y="5200650"/>
            <a:ext cx="347662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Nguyễn Hữu Trí</a:t>
            </a:r>
          </a:p>
        </p:txBody>
      </p:sp>
      <p:sp>
        <p:nvSpPr>
          <p:cNvPr id="94" name="Text 90">
            <a:extLst>
              <a:ext uri="{FF2B5EF4-FFF2-40B4-BE49-F238E27FC236}">
                <a16:creationId xmlns:a16="http://schemas.microsoft.com/office/drawing/2014/main" id="{06153899-4F4D-43E9-A9F2-A754414FEBFF}"/>
              </a:ext>
            </a:extLst>
          </p:cNvPr>
          <p:cNvSpPr>
            <a:spLocks noGrp="1"/>
          </p:cNvSpPr>
          <p:nvPr/>
        </p:nvSpPr>
        <p:spPr>
          <a:xfrm>
            <a:off x="9677400" y="52006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25410320</a:t>
            </a:r>
          </a:p>
        </p:txBody>
      </p:sp>
      <p:pic>
        <p:nvPicPr>
          <p:cNvPr id="179" name="Picture 187"/>
          <p:cNvPicPr>
            <a:picLocks noChangeAspect="1"/>
          </p:cNvPicPr>
          <p:nvPr/>
        </p:nvPicPr>
        <p:blipFill>
          <a:blip r:embed="rId3"/>
          <a:stretch/>
        </p:blipFill>
        <p:spPr>
          <a:xfrm>
            <a:off x="8893278" y="2102362"/>
            <a:ext cx="2047875" cy="1365250"/>
          </a:xfrm>
          <a:prstGeom prst="rect">
            <a:avLst/>
          </a:prstGeom>
        </p:spPr>
      </p:pic>
      <p:pic>
        <p:nvPicPr>
          <p:cNvPr id="180" name="Picture 179"/>
          <p:cNvPicPr>
            <a:picLocks noChangeAspect="1"/>
          </p:cNvPicPr>
          <p:nvPr/>
        </p:nvPicPr>
        <p:blipFill>
          <a:blip r:embed="rId4"/>
          <a:stretch/>
        </p:blipFill>
        <p:spPr>
          <a:xfrm>
            <a:off x="8825284" y="333375"/>
            <a:ext cx="2580532" cy="952500"/>
          </a:xfrm>
          <a:prstGeom prst="rect">
            <a:avLst/>
          </a:prstGeom>
        </p:spPr>
      </p:pic>
    </p:spTree>
    <p:extLst>
      <p:ext uri="{BB962C8B-B14F-4D97-AF65-F5344CB8AC3E}">
        <p14:creationId xmlns:p14="http://schemas.microsoft.com/office/powerpoint/2010/main" val="523872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23B4C9A-C7CF-4DCC-8B08-71147D274B8F}"/>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39B40766-6014-496E-9A9A-7BFB6D662318}"/>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7542A48-BF66-4E66-B91B-1272F554DAE7}"/>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006020C7-4794-4834-93F8-7CCEDFC5DB06}"/>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B4892738-5C06-4200-98EE-DD876838B172}"/>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8E0626E7-5D1F-460E-BC4C-35376AFA4B84}"/>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442691E0-DD93-432B-8723-4B44C6B0F574}"/>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9874480B-26A4-4239-918E-6B3820D72984}"/>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A8BA6CC5-3086-4332-8556-FBE1740B2CAA}"/>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6807F45D-8655-4763-8C45-48312E317AD7}"/>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CC54DBB3-5DF8-4991-8893-4674C4F034B3}"/>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661461E6-9284-4058-ACB4-2827FF187E51}"/>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1E8377A9-6789-4947-AAE9-88A8A21EC513}"/>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CAFB3E5-FD78-4157-B3F5-291DB4706524}"/>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222EC5D8-D423-4EDE-9F4E-2383B074AE1C}"/>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10D14E7D-A1CC-4CB7-BE22-3F19302E0E97}"/>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EC8F2AA8-1154-426C-838A-8640D2C9BCBA}"/>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D28AD4AE-D359-46AC-8691-FF235276F3F6}"/>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66C576BA-DA4C-4AFD-8F33-E66A40B80E25}"/>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9D372882-47BF-4F5A-AB93-3092520C9CE7}"/>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EEC52A70-3298-445C-9EF3-DC28E18B36B6}"/>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3ADDBE18-D978-4345-A066-932E10D006EE}"/>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F00AC59-A807-42B3-AA26-8D7B010BE469}"/>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6DFAAE5A-C75D-4AD7-8305-2EDD53A4969A}"/>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C33FB77C-3D8C-44D2-8FF7-84891FD7D7A3}"/>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A44765A9-999B-4C85-8410-BD5361BB3508}"/>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48CCD97E-C9F1-487F-8A86-D02728EFEA8E}"/>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F565FBBD-0CE3-44DE-B926-4329F1E20F9F}"/>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4426C4C2-7FCB-4B20-9805-5182CF7C243C}"/>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0955D863-F57A-41C7-8534-150B0A89EE78}"/>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BEC178D3-00C4-4E75-98E1-C42DA4855587}"/>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74F1D288-28A6-40D8-8B9F-72B97E7A3C05}"/>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0DCBBC72-E662-4FE3-B0B2-55211303C1EB}"/>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DC5A62E7-0238-475A-BFB3-5A9903183302}"/>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6E306549-9F8E-4697-88FB-813AD7B0E0E0}"/>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E28B9EE6-DDE6-4113-BE99-3841BF104887}"/>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C4EAF715-353F-42DB-88F0-76BF5062F5BD}"/>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38B9C90-442A-49B5-8409-A77C4E491BB6}"/>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7102CB9B-770E-4A6E-9CCC-EA97F6175512}"/>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CF0E49CA-22E2-4D42-81BA-15B5A319335A}"/>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AF1B0BA1-9DA7-4033-B571-DB96992EF56D}"/>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ED12E10C-8E60-4490-9E68-822467A0F102}"/>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38DCEE3C-7DF8-48F9-BB9D-4C5A23B93BE8}"/>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1AD2B5C-EDF3-481E-9ED7-8F1A65BDE2D1}"/>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2CD60AFE-8D7B-40D6-8B89-37A764CA26BB}"/>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D838D4B8-E8DA-4C00-991C-B030E71C5C43}"/>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B9E518D5-28D5-47D2-A951-C11202F05DD4}"/>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C8FA1AB-73F8-40E0-BDBA-CF271E5042B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0767108-7CF4-43C3-BF6A-72A4363D216A}"/>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02</a:t>
            </a:r>
          </a:p>
        </p:txBody>
      </p:sp>
      <p:sp>
        <p:nvSpPr>
          <p:cNvPr id="60" name="Rectangle 59">
            <a:extLst>
              <a:ext uri="{FF2B5EF4-FFF2-40B4-BE49-F238E27FC236}">
                <a16:creationId xmlns:a16="http://schemas.microsoft.com/office/drawing/2014/main" id="{6145EF7C-A9F9-4AA7-8E65-D241241D33A6}"/>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MỤC LỤC</a:t>
            </a:r>
          </a:p>
        </p:txBody>
      </p:sp>
      <p:graphicFrame>
        <p:nvGraphicFramePr>
          <p:cNvPr id="112" name="Table 111"/>
          <p:cNvGraphicFramePr/>
          <p:nvPr/>
        </p:nvGraphicFramePr>
        <p:xfrm>
          <a:off x="742950" y="1714500"/>
          <a:ext cx="10763250" cy="4229100"/>
        </p:xfrm>
        <a:graphic>
          <a:graphicData uri="http://schemas.openxmlformats.org/drawingml/2006/table">
            <a:tbl>
              <a:tblPr firstRow="1"/>
              <a:tblGrid>
                <a:gridCol w="1047750">
                  <a:extLst>
                    <a:ext uri="{9D8B030D-6E8A-4147-A177-3AD203B41FA5}">
                      <a16:colId xmlns:a16="http://schemas.microsoft.com/office/drawing/2014/main" val="20000"/>
                    </a:ext>
                  </a:extLst>
                </a:gridCol>
                <a:gridCol w="971550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Phần</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extLst>
                  <a:ext uri="{0D108BD9-81ED-4DB2-BD59-A6C34878D82A}">
                    <a16:rowId xmlns:a16="http://schemas.microsoft.com/office/drawing/2014/main" val="10000"/>
                  </a:ext>
                </a:extLst>
              </a:tr>
              <a:tr h="476250">
                <a:tc>
                  <a:txBody>
                    <a:bodyPr/>
                    <a:lstStyle/>
                    <a:p>
                      <a:pPr algn="l">
                        <a:lnSpc>
                          <a:spcPct val="104000"/>
                        </a:lnSpc>
                        <a:buNone/>
                      </a:pPr>
                      <a:r>
                        <a:rPr sz="1650" b="0">
                          <a:solidFill>
                            <a:srgbClr val="17325C"/>
                          </a:solidFill>
                          <a:latin typeface="Arial"/>
                          <a:ea typeface="Arial"/>
                          <a:cs typeface="Arial"/>
                        </a:rPr>
                        <a:t>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Giới thiệu FPT Shop, cơ cấu tổ chức và kiến trúc quy trình</a:t>
                      </a:r>
                    </a:p>
                  </a:txBody>
                  <a:tcPr anchor="ctr">
                    <a:solidFill>
                      <a:srgbClr val="FFFFFF"/>
                    </a:solidFill>
                  </a:tcPr>
                </a:tc>
                <a:extLst>
                  <a:ext uri="{0D108BD9-81ED-4DB2-BD59-A6C34878D82A}">
                    <a16:rowId xmlns:a16="http://schemas.microsoft.com/office/drawing/2014/main" val="10001"/>
                  </a:ext>
                </a:extLst>
              </a:tr>
              <a:tr h="476250">
                <a:tc>
                  <a:txBody>
                    <a:bodyPr/>
                    <a:lstStyle/>
                    <a:p>
                      <a:pPr algn="l">
                        <a:lnSpc>
                          <a:spcPct val="104000"/>
                        </a:lnSpc>
                        <a:buNone/>
                      </a:pPr>
                      <a:r>
                        <a:rPr sz="1650" b="0">
                          <a:solidFill>
                            <a:srgbClr val="17325C"/>
                          </a:solidFill>
                          <a:latin typeface="Arial"/>
                          <a:ea typeface="Arial"/>
                          <a:cs typeface="Arial"/>
                        </a:rPr>
                        <a:t>II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Phương pháp thực hiện</a:t>
                      </a:r>
                    </a:p>
                  </a:txBody>
                  <a:tcPr anchor="ctr">
                    <a:solidFill>
                      <a:srgbClr val="F1F6FC"/>
                    </a:solidFill>
                  </a:tcPr>
                </a:tc>
                <a:extLst>
                  <a:ext uri="{0D108BD9-81ED-4DB2-BD59-A6C34878D82A}">
                    <a16:rowId xmlns:a16="http://schemas.microsoft.com/office/drawing/2014/main" val="10002"/>
                  </a:ext>
                </a:extLst>
              </a:tr>
              <a:tr h="476250">
                <a:tc>
                  <a:txBody>
                    <a:bodyPr/>
                    <a:lstStyle/>
                    <a:p>
                      <a:pPr algn="l">
                        <a:lnSpc>
                          <a:spcPct val="104000"/>
                        </a:lnSpc>
                        <a:buNone/>
                      </a:pPr>
                      <a:r>
                        <a:rPr sz="1650" b="0">
                          <a:solidFill>
                            <a:srgbClr val="17325C"/>
                          </a:solidFill>
                          <a:latin typeface="Arial"/>
                          <a:ea typeface="Arial"/>
                          <a:cs typeface="Arial"/>
                        </a:rPr>
                        <a:t>III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Quản lý nhà cung cấp và quản lý tồn kho</a:t>
                      </a:r>
                    </a:p>
                  </a:txBody>
                  <a:tcPr anchor="ctr">
                    <a:solidFill>
                      <a:srgbClr val="FFFFFF"/>
                    </a:solidFill>
                  </a:tcPr>
                </a:tc>
                <a:extLst>
                  <a:ext uri="{0D108BD9-81ED-4DB2-BD59-A6C34878D82A}">
                    <a16:rowId xmlns:a16="http://schemas.microsoft.com/office/drawing/2014/main" val="10003"/>
                  </a:ext>
                </a:extLst>
              </a:tr>
              <a:tr h="476250">
                <a:tc>
                  <a:txBody>
                    <a:bodyPr/>
                    <a:lstStyle/>
                    <a:p>
                      <a:pPr algn="l">
                        <a:lnSpc>
                          <a:spcPct val="104000"/>
                        </a:lnSpc>
                        <a:buNone/>
                      </a:pPr>
                      <a:r>
                        <a:rPr sz="1650" b="0">
                          <a:solidFill>
                            <a:srgbClr val="17325C"/>
                          </a:solidFill>
                          <a:latin typeface="Arial"/>
                          <a:ea typeface="Arial"/>
                          <a:cs typeface="Arial"/>
                        </a:rPr>
                        <a:t>IV</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Bán hàng trực tuyến và câu hỏi phỏng vấn</a:t>
                      </a:r>
                    </a:p>
                  </a:txBody>
                  <a:tcPr anchor="ctr">
                    <a:solidFill>
                      <a:srgbClr val="F1F6FC"/>
                    </a:solidFill>
                  </a:tcPr>
                </a:tc>
                <a:extLst>
                  <a:ext uri="{0D108BD9-81ED-4DB2-BD59-A6C34878D82A}">
                    <a16:rowId xmlns:a16="http://schemas.microsoft.com/office/drawing/2014/main" val="10004"/>
                  </a:ext>
                </a:extLst>
              </a:tr>
              <a:tr h="476250">
                <a:tc>
                  <a:txBody>
                    <a:bodyPr/>
                    <a:lstStyle/>
                    <a:p>
                      <a:pPr algn="l">
                        <a:lnSpc>
                          <a:spcPct val="104000"/>
                        </a:lnSpc>
                        <a:buNone/>
                      </a:pPr>
                      <a:r>
                        <a:rPr sz="1650" b="0">
                          <a:solidFill>
                            <a:srgbClr val="17325C"/>
                          </a:solidFill>
                          <a:latin typeface="Arial"/>
                          <a:ea typeface="Arial"/>
                          <a:cs typeface="Arial"/>
                        </a:rPr>
                        <a:t>V</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Tuyển dụng nhân sự</a:t>
                      </a:r>
                    </a:p>
                  </a:txBody>
                  <a:tcPr anchor="ctr">
                    <a:solidFill>
                      <a:srgbClr val="FFFFFF"/>
                    </a:solidFill>
                  </a:tcPr>
                </a:tc>
                <a:extLst>
                  <a:ext uri="{0D108BD9-81ED-4DB2-BD59-A6C34878D82A}">
                    <a16:rowId xmlns:a16="http://schemas.microsoft.com/office/drawing/2014/main" val="10005"/>
                  </a:ext>
                </a:extLst>
              </a:tr>
              <a:tr h="476250">
                <a:tc>
                  <a:txBody>
                    <a:bodyPr/>
                    <a:lstStyle/>
                    <a:p>
                      <a:pPr algn="l">
                        <a:lnSpc>
                          <a:spcPct val="104000"/>
                        </a:lnSpc>
                        <a:buNone/>
                      </a:pPr>
                      <a:r>
                        <a:rPr sz="1650" b="0">
                          <a:solidFill>
                            <a:srgbClr val="17325C"/>
                          </a:solidFill>
                          <a:latin typeface="Arial"/>
                          <a:ea typeface="Arial"/>
                          <a:cs typeface="Arial"/>
                        </a:rPr>
                        <a:t>VI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Phân tích định tính: giá trị gia tăng, lãng phí</a:t>
                      </a:r>
                    </a:p>
                  </a:txBody>
                  <a:tcPr anchor="ctr">
                    <a:solidFill>
                      <a:srgbClr val="F1F6FC"/>
                    </a:solidFill>
                  </a:tcPr>
                </a:tc>
                <a:extLst>
                  <a:ext uri="{0D108BD9-81ED-4DB2-BD59-A6C34878D82A}">
                    <a16:rowId xmlns:a16="http://schemas.microsoft.com/office/drawing/2014/main" val="10006"/>
                  </a:ext>
                </a:extLst>
              </a:tr>
              <a:tr h="476250">
                <a:tc>
                  <a:txBody>
                    <a:bodyPr/>
                    <a:lstStyle/>
                    <a:p>
                      <a:pPr algn="l">
                        <a:lnSpc>
                          <a:spcPct val="104000"/>
                        </a:lnSpc>
                        <a:buNone/>
                      </a:pPr>
                      <a:r>
                        <a:rPr sz="1650" b="0">
                          <a:solidFill>
                            <a:srgbClr val="17325C"/>
                          </a:solidFill>
                          <a:latin typeface="Arial"/>
                          <a:ea typeface="Arial"/>
                          <a:cs typeface="Arial"/>
                        </a:rPr>
                        <a:t>VII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tích định lượng: thời gian, chất lượng, chi phí</a:t>
                      </a:r>
                    </a:p>
                  </a:txBody>
                  <a:tcPr anchor="ctr">
                    <a:solidFill>
                      <a:srgbClr val="FFFFFF"/>
                    </a:solidFill>
                  </a:tcPr>
                </a:tc>
                <a:extLst>
                  <a:ext uri="{0D108BD9-81ED-4DB2-BD59-A6C34878D82A}">
                    <a16:rowId xmlns:a16="http://schemas.microsoft.com/office/drawing/2014/main" val="10007"/>
                  </a:ext>
                </a:extLst>
              </a:tr>
              <a:tr h="476250">
                <a:tc>
                  <a:txBody>
                    <a:bodyPr/>
                    <a:lstStyle/>
                    <a:p>
                      <a:pPr algn="l">
                        <a:lnSpc>
                          <a:spcPct val="104000"/>
                        </a:lnSpc>
                        <a:buNone/>
                      </a:pPr>
                      <a:r>
                        <a:rPr sz="1650" b="0">
                          <a:solidFill>
                            <a:srgbClr val="17325C"/>
                          </a:solidFill>
                          <a:latin typeface="Arial"/>
                          <a:ea typeface="Arial"/>
                          <a:cs typeface="Arial"/>
                        </a:rPr>
                        <a:t>VIII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Các bên liên quan, Pareto/Why–why và kết luận</a:t>
                      </a:r>
                    </a:p>
                  </a:txBody>
                  <a:tcPr anchor="ctr">
                    <a:solidFill>
                      <a:srgbClr val="F1F6FC"/>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58392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03</a:t>
            </a:r>
          </a:p>
        </p:txBody>
      </p:sp>
      <p:sp>
        <p:nvSpPr>
          <p:cNvPr id="60" name="Rectangle 59">
            <a:extLst>
              <a:ext uri="{FF2B5EF4-FFF2-40B4-BE49-F238E27FC236}">
                <a16:creationId xmlns:a16="http://schemas.microsoft.com/office/drawing/2014/main" id="{280C399F-528F-451F-ADF0-D76D5DC63225}"/>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 GIỚI THIỆU FPT SHOP</a:t>
            </a:r>
          </a:p>
        </p:txBody>
      </p:sp>
      <p:sp>
        <p:nvSpPr>
          <p:cNvPr id="61" name="Card FPT SHOP">
            <a:extLst>
              <a:ext uri="{FF2B5EF4-FFF2-40B4-BE49-F238E27FC236}">
                <a16:creationId xmlns:a16="http://schemas.microsoft.com/office/drawing/2014/main" id="{4F470106-8047-43AF-A9F3-CBE16FDDDAFC}"/>
              </a:ext>
            </a:extLst>
          </p:cNvPr>
          <p:cNvSpPr>
            <a:spLocks noGrp="1"/>
          </p:cNvSpPr>
          <p:nvPr/>
        </p:nvSpPr>
        <p:spPr>
          <a:xfrm>
            <a:off x="571500" y="1733550"/>
            <a:ext cx="3448050" cy="3352800"/>
          </a:xfrm>
          <a:prstGeom prst="roundRect">
            <a:avLst>
              <a:gd name="adj" fmla="val 4545"/>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2" name="Accent FPT SHOP">
            <a:extLst>
              <a:ext uri="{FF2B5EF4-FFF2-40B4-BE49-F238E27FC236}">
                <a16:creationId xmlns:a16="http://schemas.microsoft.com/office/drawing/2014/main" id="{7A99EEB0-F313-4A84-A50C-728D4CF104E1}"/>
              </a:ext>
            </a:extLst>
          </p:cNvPr>
          <p:cNvSpPr>
            <a:spLocks noGrp="1"/>
          </p:cNvSpPr>
          <p:nvPr/>
        </p:nvSpPr>
        <p:spPr>
          <a:xfrm>
            <a:off x="571500" y="1733550"/>
            <a:ext cx="3448050" cy="104775"/>
          </a:xfrm>
          <a:prstGeom prst="roundRect">
            <a:avLst>
              <a:gd name="adj" fmla="val 50000"/>
            </a:avLst>
          </a:prstGeom>
          <a:solidFill>
            <a:srgbClr val="0B54C7"/>
          </a:solidFill>
          <a:ln w="0">
            <a:solidFill>
              <a:srgbClr val="0B54C7"/>
            </a:solidFill>
            <a:prstDash val="solid"/>
          </a:ln>
        </p:spPr>
        <p:txBody>
          <a:bodyPr/>
          <a:lstStyle/>
          <a:p>
            <a:endParaRPr/>
          </a:p>
        </p:txBody>
      </p:sp>
      <p:sp>
        <p:nvSpPr>
          <p:cNvPr id="63" name="Rectangle 62">
            <a:extLst>
              <a:ext uri="{FF2B5EF4-FFF2-40B4-BE49-F238E27FC236}">
                <a16:creationId xmlns:a16="http://schemas.microsoft.com/office/drawing/2014/main" id="{8C297FD5-275F-444E-97A5-4165A4AC7A7C}"/>
              </a:ext>
            </a:extLst>
          </p:cNvPr>
          <p:cNvSpPr>
            <a:spLocks noGrp="1"/>
          </p:cNvSpPr>
          <p:nvPr/>
        </p:nvSpPr>
        <p:spPr>
          <a:xfrm>
            <a:off x="742950" y="192405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FPT SHOP</a:t>
            </a:r>
          </a:p>
        </p:txBody>
      </p:sp>
      <p:sp>
        <p:nvSpPr>
          <p:cNvPr id="64" name="Rectangle 63">
            <a:extLst>
              <a:ext uri="{FF2B5EF4-FFF2-40B4-BE49-F238E27FC236}">
                <a16:creationId xmlns:a16="http://schemas.microsoft.com/office/drawing/2014/main" id="{77137E4C-FE52-4A52-AD5C-AAEFE36CEABF}"/>
              </a:ext>
            </a:extLst>
          </p:cNvPr>
          <p:cNvSpPr>
            <a:spLocks noGrp="1"/>
          </p:cNvSpPr>
          <p:nvPr/>
        </p:nvSpPr>
        <p:spPr>
          <a:xfrm>
            <a:off x="723900" y="2400300"/>
            <a:ext cx="3143250" cy="25336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Chuỗi bán lẻ công nghệ thuộc FPT Retail.
Thành lập: 08/2007.
Kết hợp cửa hàng vật lý và bán hàng trực tuyến.</a:t>
            </a:r>
          </a:p>
        </p:txBody>
      </p:sp>
      <p:sp>
        <p:nvSpPr>
          <p:cNvPr id="65" name="Card PHẠM VI NGHIÊN CỨU">
            <a:extLst>
              <a:ext uri="{FF2B5EF4-FFF2-40B4-BE49-F238E27FC236}">
                <a16:creationId xmlns:a16="http://schemas.microsoft.com/office/drawing/2014/main" id="{905B7F85-4078-4845-91A3-4353977BFFB1}"/>
              </a:ext>
            </a:extLst>
          </p:cNvPr>
          <p:cNvSpPr>
            <a:spLocks noGrp="1"/>
          </p:cNvSpPr>
          <p:nvPr/>
        </p:nvSpPr>
        <p:spPr>
          <a:xfrm>
            <a:off x="4362450" y="1733550"/>
            <a:ext cx="3448050" cy="3352800"/>
          </a:xfrm>
          <a:prstGeom prst="roundRect">
            <a:avLst>
              <a:gd name="adj" fmla="val 4545"/>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6" name="Accent PHẠM VI NGHIÊN CỨU">
            <a:extLst>
              <a:ext uri="{FF2B5EF4-FFF2-40B4-BE49-F238E27FC236}">
                <a16:creationId xmlns:a16="http://schemas.microsoft.com/office/drawing/2014/main" id="{51452EBF-45D4-4AC3-BA20-A818BDB5D012}"/>
              </a:ext>
            </a:extLst>
          </p:cNvPr>
          <p:cNvSpPr>
            <a:spLocks noGrp="1"/>
          </p:cNvSpPr>
          <p:nvPr/>
        </p:nvSpPr>
        <p:spPr>
          <a:xfrm>
            <a:off x="4362450" y="1733550"/>
            <a:ext cx="3448050" cy="104775"/>
          </a:xfrm>
          <a:prstGeom prst="roundRect">
            <a:avLst>
              <a:gd name="adj" fmla="val 50000"/>
            </a:avLst>
          </a:prstGeom>
          <a:solidFill>
            <a:srgbClr val="009B91"/>
          </a:solidFill>
          <a:ln w="0">
            <a:solidFill>
              <a:srgbClr val="009B91"/>
            </a:solidFill>
            <a:prstDash val="solid"/>
          </a:ln>
        </p:spPr>
        <p:txBody>
          <a:bodyPr/>
          <a:lstStyle/>
          <a:p>
            <a:endParaRPr/>
          </a:p>
        </p:txBody>
      </p:sp>
      <p:sp>
        <p:nvSpPr>
          <p:cNvPr id="67" name="Rectangle 66">
            <a:extLst>
              <a:ext uri="{FF2B5EF4-FFF2-40B4-BE49-F238E27FC236}">
                <a16:creationId xmlns:a16="http://schemas.microsoft.com/office/drawing/2014/main" id="{DC8F5928-3EEF-4B12-89F9-CDE462687AC9}"/>
              </a:ext>
            </a:extLst>
          </p:cNvPr>
          <p:cNvSpPr>
            <a:spLocks noGrp="1"/>
          </p:cNvSpPr>
          <p:nvPr/>
        </p:nvSpPr>
        <p:spPr>
          <a:xfrm>
            <a:off x="4533900" y="192405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PHẠM VI NGHIÊN CỨU</a:t>
            </a:r>
          </a:p>
        </p:txBody>
      </p:sp>
      <p:sp>
        <p:nvSpPr>
          <p:cNvPr id="68" name="Rectangle 67">
            <a:extLst>
              <a:ext uri="{FF2B5EF4-FFF2-40B4-BE49-F238E27FC236}">
                <a16:creationId xmlns:a16="http://schemas.microsoft.com/office/drawing/2014/main" id="{02F48212-AC80-4989-8404-BA537741A8C3}"/>
              </a:ext>
            </a:extLst>
          </p:cNvPr>
          <p:cNvSpPr>
            <a:spLocks noGrp="1"/>
          </p:cNvSpPr>
          <p:nvPr/>
        </p:nvSpPr>
        <p:spPr>
          <a:xfrm>
            <a:off x="4514850" y="2400300"/>
            <a:ext cx="3143250" cy="25336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Hệ thống quy trình của FPT Shop.
Ba nhóm: Management, Core, Support.
Kiến trúc gồm 17 quy trình nghiệp vụ.</a:t>
            </a:r>
          </a:p>
        </p:txBody>
      </p:sp>
      <p:sp>
        <p:nvSpPr>
          <p:cNvPr id="69" name="Card MỤC TIÊU ĐỒ ÁN">
            <a:extLst>
              <a:ext uri="{FF2B5EF4-FFF2-40B4-BE49-F238E27FC236}">
                <a16:creationId xmlns:a16="http://schemas.microsoft.com/office/drawing/2014/main" id="{AFDF7000-0572-443A-B113-95B4F168CAE6}"/>
              </a:ext>
            </a:extLst>
          </p:cNvPr>
          <p:cNvSpPr>
            <a:spLocks noGrp="1"/>
          </p:cNvSpPr>
          <p:nvPr/>
        </p:nvSpPr>
        <p:spPr>
          <a:xfrm>
            <a:off x="8153400" y="1733550"/>
            <a:ext cx="3371850" cy="3352800"/>
          </a:xfrm>
          <a:prstGeom prst="roundRect">
            <a:avLst>
              <a:gd name="adj" fmla="val 4545"/>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70" name="Accent MỤC TIÊU ĐỒ ÁN">
            <a:extLst>
              <a:ext uri="{FF2B5EF4-FFF2-40B4-BE49-F238E27FC236}">
                <a16:creationId xmlns:a16="http://schemas.microsoft.com/office/drawing/2014/main" id="{3F806A61-2A42-4AAB-95B8-FE618D9F950A}"/>
              </a:ext>
            </a:extLst>
          </p:cNvPr>
          <p:cNvSpPr>
            <a:spLocks noGrp="1"/>
          </p:cNvSpPr>
          <p:nvPr/>
        </p:nvSpPr>
        <p:spPr>
          <a:xfrm>
            <a:off x="8153400" y="1733550"/>
            <a:ext cx="3371850" cy="104775"/>
          </a:xfrm>
          <a:prstGeom prst="roundRect">
            <a:avLst>
              <a:gd name="adj" fmla="val 50000"/>
            </a:avLst>
          </a:prstGeom>
          <a:solidFill>
            <a:srgbClr val="F28C28"/>
          </a:solidFill>
          <a:ln w="0">
            <a:solidFill>
              <a:srgbClr val="F28C28"/>
            </a:solidFill>
            <a:prstDash val="solid"/>
          </a:ln>
        </p:spPr>
        <p:txBody>
          <a:bodyPr/>
          <a:lstStyle/>
          <a:p>
            <a:endParaRPr/>
          </a:p>
        </p:txBody>
      </p:sp>
      <p:sp>
        <p:nvSpPr>
          <p:cNvPr id="71" name="Rectangle 70">
            <a:extLst>
              <a:ext uri="{FF2B5EF4-FFF2-40B4-BE49-F238E27FC236}">
                <a16:creationId xmlns:a16="http://schemas.microsoft.com/office/drawing/2014/main" id="{B966AF27-82B0-46EB-BCAC-29C7F19D2E60}"/>
              </a:ext>
            </a:extLst>
          </p:cNvPr>
          <p:cNvSpPr>
            <a:spLocks noGrp="1"/>
          </p:cNvSpPr>
          <p:nvPr/>
        </p:nvSpPr>
        <p:spPr>
          <a:xfrm>
            <a:off x="8324850" y="1924050"/>
            <a:ext cx="30289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MỤC TIÊU ĐỒ ÁN</a:t>
            </a:r>
          </a:p>
        </p:txBody>
      </p:sp>
      <p:sp>
        <p:nvSpPr>
          <p:cNvPr id="72" name="Rectangle 71">
            <a:extLst>
              <a:ext uri="{FF2B5EF4-FFF2-40B4-BE49-F238E27FC236}">
                <a16:creationId xmlns:a16="http://schemas.microsoft.com/office/drawing/2014/main" id="{B1F38FAF-44E9-4250-BEC2-92CDC622D80C}"/>
              </a:ext>
            </a:extLst>
          </p:cNvPr>
          <p:cNvSpPr>
            <a:spLocks noGrp="1"/>
          </p:cNvSpPr>
          <p:nvPr/>
        </p:nvSpPr>
        <p:spPr>
          <a:xfrm>
            <a:off x="8305800" y="2400300"/>
            <a:ext cx="3067050" cy="25336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Hệ thống hóa hoạt động bán lẻ đa kênh.
Làm rõ quan hệ giữa quản lý, tạo giá trị và hỗ trợ.
Tạo nền tảng cho mô hình hóa và phân tích cải tiến.</a:t>
            </a:r>
          </a:p>
        </p:txBody>
      </p:sp>
      <p:sp>
        <p:nvSpPr>
          <p:cNvPr id="73" name="Rectangle: Rounded Corners 72">
            <a:extLst>
              <a:ext uri="{FF2B5EF4-FFF2-40B4-BE49-F238E27FC236}">
                <a16:creationId xmlns:a16="http://schemas.microsoft.com/office/drawing/2014/main" id="{4B7C27B2-9CE1-45A8-A3D1-4F2537A52E2A}"/>
              </a:ext>
            </a:extLst>
          </p:cNvPr>
          <p:cNvSpPr>
            <a:spLocks noGrp="1"/>
          </p:cNvSpPr>
          <p:nvPr/>
        </p:nvSpPr>
        <p:spPr>
          <a:xfrm>
            <a:off x="571500" y="5314950"/>
            <a:ext cx="10953750" cy="552450"/>
          </a:xfrm>
          <a:prstGeom prst="roundRect">
            <a:avLst>
              <a:gd name="adj" fmla="val 25862"/>
            </a:avLst>
          </a:prstGeom>
          <a:solidFill>
            <a:srgbClr val="0B54C7">
              <a:alpha val="6275"/>
            </a:srgbClr>
          </a:solidFill>
          <a:ln w="10478">
            <a:solidFill>
              <a:srgbClr val="0B54C7">
                <a:alpha val="33333"/>
              </a:srgbClr>
            </a:solid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dirty="0" err="1">
                <a:solidFill>
                  <a:srgbClr val="17325C"/>
                </a:solidFill>
                <a:latin typeface="Arial"/>
                <a:ea typeface="Arial"/>
                <a:cs typeface="Arial"/>
              </a:rPr>
              <a:t>Khối</a:t>
            </a:r>
            <a:r>
              <a:rPr sz="1650" b="0" dirty="0">
                <a:solidFill>
                  <a:srgbClr val="17325C"/>
                </a:solidFill>
                <a:latin typeface="Arial"/>
                <a:ea typeface="Arial"/>
                <a:cs typeface="Arial"/>
              </a:rPr>
              <a:t> </a:t>
            </a:r>
            <a:r>
              <a:rPr sz="1650" b="0" dirty="0" err="1">
                <a:solidFill>
                  <a:srgbClr val="17325C"/>
                </a:solidFill>
                <a:latin typeface="Arial"/>
                <a:ea typeface="Arial"/>
                <a:cs typeface="Arial"/>
              </a:rPr>
              <a:t>liên</a:t>
            </a:r>
            <a:r>
              <a:rPr sz="1650" b="0" dirty="0">
                <a:solidFill>
                  <a:srgbClr val="17325C"/>
                </a:solidFill>
                <a:latin typeface="Arial"/>
                <a:ea typeface="Arial"/>
                <a:cs typeface="Arial"/>
              </a:rPr>
              <a:t> </a:t>
            </a:r>
            <a:r>
              <a:rPr sz="1650" b="0" dirty="0" err="1">
                <a:solidFill>
                  <a:srgbClr val="17325C"/>
                </a:solidFill>
                <a:latin typeface="Arial"/>
                <a:ea typeface="Arial"/>
                <a:cs typeface="Arial"/>
              </a:rPr>
              <a:t>quan</a:t>
            </a:r>
            <a:r>
              <a:rPr sz="1650" b="0" dirty="0">
                <a:solidFill>
                  <a:srgbClr val="17325C"/>
                </a:solidFill>
                <a:latin typeface="Arial"/>
                <a:ea typeface="Arial"/>
                <a:cs typeface="Arial"/>
              </a:rPr>
              <a:t>: </a:t>
            </a:r>
            <a:r>
              <a:rPr sz="1650" b="0" dirty="0" err="1">
                <a:solidFill>
                  <a:srgbClr val="17325C"/>
                </a:solidFill>
                <a:latin typeface="Arial"/>
                <a:ea typeface="Arial"/>
                <a:cs typeface="Arial"/>
              </a:rPr>
              <a:t>Phát</a:t>
            </a:r>
            <a:r>
              <a:rPr sz="1650" b="0" dirty="0">
                <a:solidFill>
                  <a:srgbClr val="17325C"/>
                </a:solidFill>
                <a:latin typeface="Arial"/>
                <a:ea typeface="Arial"/>
                <a:cs typeface="Arial"/>
              </a:rPr>
              <a:t> </a:t>
            </a:r>
            <a:r>
              <a:rPr sz="1650" b="0" dirty="0" err="1">
                <a:solidFill>
                  <a:srgbClr val="17325C"/>
                </a:solidFill>
                <a:latin typeface="Arial"/>
                <a:ea typeface="Arial"/>
                <a:cs typeface="Arial"/>
              </a:rPr>
              <a:t>triển</a:t>
            </a:r>
            <a:r>
              <a:rPr sz="1650" b="0" dirty="0">
                <a:solidFill>
                  <a:srgbClr val="17325C"/>
                </a:solidFill>
                <a:latin typeface="Arial"/>
                <a:ea typeface="Arial"/>
                <a:cs typeface="Arial"/>
              </a:rPr>
              <a:t> </a:t>
            </a:r>
            <a:r>
              <a:rPr sz="1650" b="0" dirty="0" err="1">
                <a:solidFill>
                  <a:srgbClr val="17325C"/>
                </a:solidFill>
                <a:latin typeface="Arial"/>
                <a:ea typeface="Arial"/>
                <a:cs typeface="Arial"/>
              </a:rPr>
              <a:t>kinh</a:t>
            </a:r>
            <a:r>
              <a:rPr sz="1650" b="0" dirty="0">
                <a:solidFill>
                  <a:srgbClr val="17325C"/>
                </a:solidFill>
                <a:latin typeface="Arial"/>
                <a:ea typeface="Arial"/>
                <a:cs typeface="Arial"/>
              </a:rPr>
              <a:t> </a:t>
            </a:r>
            <a:r>
              <a:rPr sz="1650" b="0" dirty="0" err="1">
                <a:solidFill>
                  <a:srgbClr val="17325C"/>
                </a:solidFill>
                <a:latin typeface="Arial"/>
                <a:ea typeface="Arial"/>
                <a:cs typeface="Arial"/>
              </a:rPr>
              <a:t>doanh</a:t>
            </a:r>
            <a:r>
              <a:rPr sz="1650" b="0" dirty="0">
                <a:solidFill>
                  <a:srgbClr val="17325C"/>
                </a:solidFill>
                <a:latin typeface="Arial"/>
                <a:ea typeface="Arial"/>
                <a:cs typeface="Arial"/>
              </a:rPr>
              <a:t> • </a:t>
            </a:r>
            <a:r>
              <a:rPr sz="1650" b="0" dirty="0" err="1">
                <a:solidFill>
                  <a:srgbClr val="17325C"/>
                </a:solidFill>
                <a:latin typeface="Arial"/>
                <a:ea typeface="Arial"/>
                <a:cs typeface="Arial"/>
              </a:rPr>
              <a:t>Vận</a:t>
            </a:r>
            <a:r>
              <a:rPr sz="1650" b="0" dirty="0">
                <a:solidFill>
                  <a:srgbClr val="17325C"/>
                </a:solidFill>
                <a:latin typeface="Arial"/>
                <a:ea typeface="Arial"/>
                <a:cs typeface="Arial"/>
              </a:rPr>
              <a:t> </a:t>
            </a:r>
            <a:r>
              <a:rPr sz="1650" b="0" dirty="0" err="1">
                <a:solidFill>
                  <a:srgbClr val="17325C"/>
                </a:solidFill>
                <a:latin typeface="Arial"/>
                <a:ea typeface="Arial"/>
                <a:cs typeface="Arial"/>
              </a:rPr>
              <a:t>hành</a:t>
            </a:r>
            <a:r>
              <a:rPr sz="1650" b="0" dirty="0">
                <a:solidFill>
                  <a:srgbClr val="17325C"/>
                </a:solidFill>
                <a:latin typeface="Arial"/>
                <a:ea typeface="Arial"/>
                <a:cs typeface="Arial"/>
              </a:rPr>
              <a:t> • CNTT • </a:t>
            </a:r>
            <a:r>
              <a:rPr sz="1650" b="0" dirty="0" err="1">
                <a:solidFill>
                  <a:srgbClr val="17325C"/>
                </a:solidFill>
                <a:latin typeface="Arial"/>
                <a:ea typeface="Arial"/>
                <a:cs typeface="Arial"/>
              </a:rPr>
              <a:t>Nhân</a:t>
            </a:r>
            <a:r>
              <a:rPr sz="1650" b="0" dirty="0">
                <a:solidFill>
                  <a:srgbClr val="17325C"/>
                </a:solidFill>
                <a:latin typeface="Arial"/>
                <a:ea typeface="Arial"/>
                <a:cs typeface="Arial"/>
              </a:rPr>
              <a:t> </a:t>
            </a:r>
            <a:r>
              <a:rPr sz="1650" b="0" dirty="0" err="1">
                <a:solidFill>
                  <a:srgbClr val="17325C"/>
                </a:solidFill>
                <a:latin typeface="Arial"/>
                <a:ea typeface="Arial"/>
                <a:cs typeface="Arial"/>
              </a:rPr>
              <a:t>sự</a:t>
            </a:r>
            <a:r>
              <a:rPr sz="1650" b="0" dirty="0">
                <a:solidFill>
                  <a:srgbClr val="17325C"/>
                </a:solidFill>
                <a:latin typeface="Arial"/>
                <a:ea typeface="Arial"/>
                <a:cs typeface="Arial"/>
              </a:rPr>
              <a:t> • Tài </a:t>
            </a:r>
            <a:r>
              <a:rPr sz="1650" b="0" dirty="0" err="1">
                <a:solidFill>
                  <a:srgbClr val="17325C"/>
                </a:solidFill>
                <a:latin typeface="Arial"/>
                <a:ea typeface="Arial"/>
                <a:cs typeface="Arial"/>
              </a:rPr>
              <a:t>chính</a:t>
            </a:r>
            <a:r>
              <a:rPr sz="1650" b="0" dirty="0">
                <a:solidFill>
                  <a:srgbClr val="17325C"/>
                </a:solidFill>
                <a:latin typeface="Arial"/>
                <a:ea typeface="Arial"/>
                <a:cs typeface="Arial"/>
              </a:rPr>
              <a:t> – </a:t>
            </a:r>
            <a:r>
              <a:rPr sz="1650" b="0" dirty="0" err="1">
                <a:solidFill>
                  <a:srgbClr val="17325C"/>
                </a:solidFill>
                <a:latin typeface="Arial"/>
                <a:ea typeface="Arial"/>
                <a:cs typeface="Arial"/>
              </a:rPr>
              <a:t>kế</a:t>
            </a:r>
            <a:r>
              <a:rPr sz="1650" b="0" dirty="0">
                <a:solidFill>
                  <a:srgbClr val="17325C"/>
                </a:solidFill>
                <a:latin typeface="Arial"/>
                <a:ea typeface="Arial"/>
                <a:cs typeface="Arial"/>
              </a:rPr>
              <a:t> </a:t>
            </a:r>
            <a:r>
              <a:rPr sz="1650" b="0" dirty="0" err="1">
                <a:solidFill>
                  <a:srgbClr val="17325C"/>
                </a:solidFill>
                <a:latin typeface="Arial"/>
                <a:ea typeface="Arial"/>
                <a:cs typeface="Arial"/>
              </a:rPr>
              <a:t>toán</a:t>
            </a:r>
            <a:endParaRPr sz="1650" b="0" dirty="0">
              <a:solidFill>
                <a:srgbClr val="17325C"/>
              </a:solidFill>
              <a:latin typeface="Arial"/>
              <a:ea typeface="Arial"/>
              <a:cs typeface="Arial"/>
            </a:endParaRPr>
          </a:p>
        </p:txBody>
      </p:sp>
    </p:spTree>
    <p:extLst>
      <p:ext uri="{BB962C8B-B14F-4D97-AF65-F5344CB8AC3E}">
        <p14:creationId xmlns:p14="http://schemas.microsoft.com/office/powerpoint/2010/main" val="985234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04</a:t>
            </a:r>
          </a:p>
        </p:txBody>
      </p:sp>
      <p:sp>
        <p:nvSpPr>
          <p:cNvPr id="60" name="Rectangle 59">
            <a:extLst>
              <a:ext uri="{FF2B5EF4-FFF2-40B4-BE49-F238E27FC236}">
                <a16:creationId xmlns:a16="http://schemas.microsoft.com/office/drawing/2014/main" id="{0C27330C-58CA-47F3-ABAD-24A5D5F8A49D}"/>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LỊCH SỬ HÌNH THÀNH VÀ PHÁT TRIỂN</a:t>
            </a:r>
          </a:p>
        </p:txBody>
      </p:sp>
      <p:sp>
        <p:nvSpPr>
          <p:cNvPr id="61" name="Rectangle: Rounded Corners 60">
            <a:extLst>
              <a:ext uri="{FF2B5EF4-FFF2-40B4-BE49-F238E27FC236}">
                <a16:creationId xmlns:a16="http://schemas.microsoft.com/office/drawing/2014/main" id="{9FA1628E-FB42-4B70-90B3-FB3FDAF5570D}"/>
              </a:ext>
            </a:extLst>
          </p:cNvPr>
          <p:cNvSpPr>
            <a:spLocks noGrp="1"/>
          </p:cNvSpPr>
          <p:nvPr/>
        </p:nvSpPr>
        <p:spPr>
          <a:xfrm>
            <a:off x="571500" y="1695450"/>
            <a:ext cx="5143500" cy="1152525"/>
          </a:xfrm>
          <a:prstGeom prst="roundRect">
            <a:avLst>
              <a:gd name="adj" fmla="val 13223"/>
            </a:avLst>
          </a:prstGeom>
          <a:solidFill>
            <a:srgbClr val="FFFFFF"/>
          </a:solidFill>
          <a:ln w="10954">
            <a:solidFill>
              <a:srgbClr val="C9DAF5"/>
            </a:solidFill>
            <a:prstDash val="solid"/>
          </a:ln>
        </p:spPr>
        <p:txBody>
          <a:bodyPr/>
          <a:lstStyle/>
          <a:p>
            <a:endParaRPr/>
          </a:p>
        </p:txBody>
      </p:sp>
      <p:sp>
        <p:nvSpPr>
          <p:cNvPr id="62" name="Rectangle: Rounded Corners 61">
            <a:extLst>
              <a:ext uri="{FF2B5EF4-FFF2-40B4-BE49-F238E27FC236}">
                <a16:creationId xmlns:a16="http://schemas.microsoft.com/office/drawing/2014/main" id="{7CA69DE6-000E-466E-B7FD-5DB97100AFDB}"/>
              </a:ext>
            </a:extLst>
          </p:cNvPr>
          <p:cNvSpPr>
            <a:spLocks noGrp="1"/>
          </p:cNvSpPr>
          <p:nvPr/>
        </p:nvSpPr>
        <p:spPr>
          <a:xfrm>
            <a:off x="723900" y="1905000"/>
            <a:ext cx="1381125" cy="733425"/>
          </a:xfrm>
          <a:prstGeom prst="roundRect">
            <a:avLst>
              <a:gd name="adj" fmla="val 22078"/>
            </a:avLst>
          </a:prstGeom>
          <a:solidFill>
            <a:srgbClr val="0B54C7"/>
          </a:solidFill>
          <a:ln w="0">
            <a:solidFill>
              <a:srgbClr val="0B54C7"/>
            </a:solidFill>
            <a:prstDash val="solid"/>
          </a:ln>
        </p:spPr>
        <p:txBody>
          <a:bodyPr wrap="square" lIns="38100" tIns="0" rIns="38100" bIns="0" anchor="ctr">
            <a:noAutofit/>
          </a:body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2007–2012</a:t>
            </a:r>
          </a:p>
        </p:txBody>
      </p:sp>
      <p:sp>
        <p:nvSpPr>
          <p:cNvPr id="63" name="Rectangle 62">
            <a:extLst>
              <a:ext uri="{FF2B5EF4-FFF2-40B4-BE49-F238E27FC236}">
                <a16:creationId xmlns:a16="http://schemas.microsoft.com/office/drawing/2014/main" id="{88B71EF9-2216-4F00-9B7F-7A1F44065ABC}"/>
              </a:ext>
            </a:extLst>
          </p:cNvPr>
          <p:cNvSpPr>
            <a:spLocks noGrp="1"/>
          </p:cNvSpPr>
          <p:nvPr/>
        </p:nvSpPr>
        <p:spPr>
          <a:xfrm>
            <a:off x="2286000" y="1695450"/>
            <a:ext cx="3219450" cy="12001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2007: FPT Shop ra đời.
2012: FPT Retail chuyển đổi thành công ty cổ phần.</a:t>
            </a:r>
          </a:p>
        </p:txBody>
      </p:sp>
      <p:sp>
        <p:nvSpPr>
          <p:cNvPr id="64" name="Rectangle: Rounded Corners 63">
            <a:extLst>
              <a:ext uri="{FF2B5EF4-FFF2-40B4-BE49-F238E27FC236}">
                <a16:creationId xmlns:a16="http://schemas.microsoft.com/office/drawing/2014/main" id="{D082D0AE-A2A4-40E0-A33D-54E8B83C04C8}"/>
              </a:ext>
            </a:extLst>
          </p:cNvPr>
          <p:cNvSpPr>
            <a:spLocks noGrp="1"/>
          </p:cNvSpPr>
          <p:nvPr/>
        </p:nvSpPr>
        <p:spPr>
          <a:xfrm>
            <a:off x="571500" y="3019425"/>
            <a:ext cx="5143500" cy="1152525"/>
          </a:xfrm>
          <a:prstGeom prst="roundRect">
            <a:avLst>
              <a:gd name="adj" fmla="val 13223"/>
            </a:avLst>
          </a:prstGeom>
          <a:solidFill>
            <a:srgbClr val="FFFFFF"/>
          </a:solidFill>
          <a:ln w="10954">
            <a:solidFill>
              <a:srgbClr val="C9DAF5"/>
            </a:solidFill>
            <a:prstDash val="solid"/>
          </a:ln>
        </p:spPr>
        <p:txBody>
          <a:bodyPr/>
          <a:lstStyle/>
          <a:p>
            <a:endParaRPr/>
          </a:p>
        </p:txBody>
      </p:sp>
      <p:sp>
        <p:nvSpPr>
          <p:cNvPr id="65" name="Rectangle: Rounded Corners 64">
            <a:extLst>
              <a:ext uri="{FF2B5EF4-FFF2-40B4-BE49-F238E27FC236}">
                <a16:creationId xmlns:a16="http://schemas.microsoft.com/office/drawing/2014/main" id="{60A1C5AC-A102-46B6-A62C-07F073780D6F}"/>
              </a:ext>
            </a:extLst>
          </p:cNvPr>
          <p:cNvSpPr>
            <a:spLocks noGrp="1"/>
          </p:cNvSpPr>
          <p:nvPr/>
        </p:nvSpPr>
        <p:spPr>
          <a:xfrm>
            <a:off x="723900" y="3228975"/>
            <a:ext cx="1381125" cy="733425"/>
          </a:xfrm>
          <a:prstGeom prst="roundRect">
            <a:avLst>
              <a:gd name="adj" fmla="val 22078"/>
            </a:avLst>
          </a:prstGeom>
          <a:solidFill>
            <a:srgbClr val="009B91"/>
          </a:solidFill>
          <a:ln w="0">
            <a:solidFill>
              <a:srgbClr val="009B91"/>
            </a:solidFill>
            <a:prstDash val="solid"/>
          </a:ln>
        </p:spPr>
        <p:txBody>
          <a:bodyPr wrap="square" lIns="38100" tIns="0" rIns="38100" bIns="0" anchor="ctr">
            <a:noAutofit/>
          </a:body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2013–2023</a:t>
            </a:r>
          </a:p>
        </p:txBody>
      </p:sp>
      <p:sp>
        <p:nvSpPr>
          <p:cNvPr id="66" name="Rectangle 65">
            <a:extLst>
              <a:ext uri="{FF2B5EF4-FFF2-40B4-BE49-F238E27FC236}">
                <a16:creationId xmlns:a16="http://schemas.microsoft.com/office/drawing/2014/main" id="{76A27543-DD81-4C58-B10E-62D0C62C51DE}"/>
              </a:ext>
            </a:extLst>
          </p:cNvPr>
          <p:cNvSpPr>
            <a:spLocks noGrp="1"/>
          </p:cNvSpPr>
          <p:nvPr/>
        </p:nvSpPr>
        <p:spPr>
          <a:xfrm>
            <a:off x="2286000" y="3019425"/>
            <a:ext cx="3219450" cy="12001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2013: đạt 100 cửa hàng.
2014: 160; 2015: 200 cửa hàng. Mở rộng bán hàng đa kênh.</a:t>
            </a:r>
          </a:p>
        </p:txBody>
      </p:sp>
      <p:sp>
        <p:nvSpPr>
          <p:cNvPr id="67" name="Rectangle: Rounded Corners 66">
            <a:extLst>
              <a:ext uri="{FF2B5EF4-FFF2-40B4-BE49-F238E27FC236}">
                <a16:creationId xmlns:a16="http://schemas.microsoft.com/office/drawing/2014/main" id="{942BEF4F-9018-4A96-8E66-276F863C363B}"/>
              </a:ext>
            </a:extLst>
          </p:cNvPr>
          <p:cNvSpPr>
            <a:spLocks noGrp="1"/>
          </p:cNvSpPr>
          <p:nvPr/>
        </p:nvSpPr>
        <p:spPr>
          <a:xfrm>
            <a:off x="571500" y="4343400"/>
            <a:ext cx="5143500" cy="1152525"/>
          </a:xfrm>
          <a:prstGeom prst="roundRect">
            <a:avLst>
              <a:gd name="adj" fmla="val 13223"/>
            </a:avLst>
          </a:prstGeom>
          <a:solidFill>
            <a:srgbClr val="FFFFFF"/>
          </a:solidFill>
          <a:ln w="10954">
            <a:solidFill>
              <a:srgbClr val="C9DAF5"/>
            </a:solidFill>
            <a:prstDash val="solid"/>
          </a:ln>
        </p:spPr>
        <p:txBody>
          <a:bodyPr/>
          <a:lstStyle/>
          <a:p>
            <a:endParaRPr/>
          </a:p>
        </p:txBody>
      </p:sp>
      <p:sp>
        <p:nvSpPr>
          <p:cNvPr id="68" name="Rectangle: Rounded Corners 67">
            <a:extLst>
              <a:ext uri="{FF2B5EF4-FFF2-40B4-BE49-F238E27FC236}">
                <a16:creationId xmlns:a16="http://schemas.microsoft.com/office/drawing/2014/main" id="{7FDDF189-0600-4987-8CA5-66704FB5D75C}"/>
              </a:ext>
            </a:extLst>
          </p:cNvPr>
          <p:cNvSpPr>
            <a:spLocks noGrp="1"/>
          </p:cNvSpPr>
          <p:nvPr/>
        </p:nvSpPr>
        <p:spPr>
          <a:xfrm>
            <a:off x="723900" y="4552950"/>
            <a:ext cx="1381125" cy="733425"/>
          </a:xfrm>
          <a:prstGeom prst="roundRect">
            <a:avLst>
              <a:gd name="adj" fmla="val 22078"/>
            </a:avLst>
          </a:prstGeom>
          <a:solidFill>
            <a:srgbClr val="F28C28"/>
          </a:solidFill>
          <a:ln w="0">
            <a:solidFill>
              <a:srgbClr val="F28C28"/>
            </a:solidFill>
            <a:prstDash val="solid"/>
          </a:ln>
        </p:spPr>
        <p:txBody>
          <a:bodyPr wrap="square" lIns="95250" tIns="66675" rIns="95250" bIns="66675" anchor="ctr">
            <a:noAutofit/>
          </a:body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2024</a:t>
            </a:r>
          </a:p>
        </p:txBody>
      </p:sp>
      <p:sp>
        <p:nvSpPr>
          <p:cNvPr id="69" name="Rectangle 68">
            <a:extLst>
              <a:ext uri="{FF2B5EF4-FFF2-40B4-BE49-F238E27FC236}">
                <a16:creationId xmlns:a16="http://schemas.microsoft.com/office/drawing/2014/main" id="{D4FF794C-EC62-4898-A4DC-8364D47ECC12}"/>
              </a:ext>
            </a:extLst>
          </p:cNvPr>
          <p:cNvSpPr>
            <a:spLocks noGrp="1"/>
          </p:cNvSpPr>
          <p:nvPr/>
        </p:nvSpPr>
        <p:spPr>
          <a:xfrm>
            <a:off x="2286000" y="4343400"/>
            <a:ext cx="3219450" cy="12001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dirty="0">
                <a:solidFill>
                  <a:srgbClr val="17325C"/>
                </a:solidFill>
                <a:latin typeface="Arial"/>
                <a:ea typeface="Arial"/>
                <a:cs typeface="Arial"/>
              </a:rPr>
              <a:t>634 </a:t>
            </a:r>
            <a:r>
              <a:rPr sz="1650" b="0" dirty="0" err="1">
                <a:solidFill>
                  <a:srgbClr val="17325C"/>
                </a:solidFill>
                <a:latin typeface="Arial"/>
                <a:ea typeface="Arial"/>
                <a:cs typeface="Arial"/>
              </a:rPr>
              <a:t>cửa</a:t>
            </a:r>
            <a:r>
              <a:rPr sz="1650" b="0" dirty="0">
                <a:solidFill>
                  <a:srgbClr val="17325C"/>
                </a:solidFill>
                <a:latin typeface="Arial"/>
                <a:ea typeface="Arial"/>
                <a:cs typeface="Arial"/>
              </a:rPr>
              <a:t> </a:t>
            </a:r>
            <a:r>
              <a:rPr sz="1650" b="0" dirty="0" err="1">
                <a:solidFill>
                  <a:srgbClr val="17325C"/>
                </a:solidFill>
                <a:latin typeface="Arial"/>
                <a:ea typeface="Arial"/>
                <a:cs typeface="Arial"/>
              </a:rPr>
              <a:t>hàng</a:t>
            </a:r>
            <a:r>
              <a:rPr sz="1650" b="0" dirty="0">
                <a:solidFill>
                  <a:srgbClr val="17325C"/>
                </a:solidFill>
                <a:latin typeface="Arial"/>
                <a:ea typeface="Arial"/>
                <a:cs typeface="Arial"/>
              </a:rPr>
              <a:t>; 54 </a:t>
            </a:r>
            <a:r>
              <a:rPr sz="1650" b="0" dirty="0" err="1">
                <a:solidFill>
                  <a:srgbClr val="17325C"/>
                </a:solidFill>
                <a:latin typeface="Arial"/>
                <a:ea typeface="Arial"/>
                <a:cs typeface="Arial"/>
              </a:rPr>
              <a:t>cửa</a:t>
            </a:r>
            <a:r>
              <a:rPr sz="1650" b="0" dirty="0">
                <a:solidFill>
                  <a:srgbClr val="17325C"/>
                </a:solidFill>
                <a:latin typeface="Arial"/>
                <a:ea typeface="Arial"/>
                <a:cs typeface="Arial"/>
              </a:rPr>
              <a:t> </a:t>
            </a:r>
            <a:r>
              <a:rPr sz="1650" b="0" dirty="0" err="1">
                <a:solidFill>
                  <a:srgbClr val="17325C"/>
                </a:solidFill>
                <a:latin typeface="Arial"/>
                <a:ea typeface="Arial"/>
                <a:cs typeface="Arial"/>
              </a:rPr>
              <a:t>hàng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chuyển</a:t>
            </a:r>
            <a:r>
              <a:rPr sz="1650" b="0" dirty="0">
                <a:solidFill>
                  <a:srgbClr val="17325C"/>
                </a:solidFill>
                <a:latin typeface="Arial"/>
                <a:ea typeface="Arial"/>
                <a:cs typeface="Arial"/>
              </a:rPr>
              <a:t> sang FPT Shop </a:t>
            </a:r>
            <a:r>
              <a:rPr sz="1650" b="0" dirty="0" err="1">
                <a:solidFill>
                  <a:srgbClr val="17325C"/>
                </a:solidFill>
                <a:latin typeface="Arial"/>
                <a:ea typeface="Arial"/>
                <a:cs typeface="Arial"/>
              </a:rPr>
              <a:t>Điện</a:t>
            </a:r>
            <a:r>
              <a:rPr sz="1650" b="0" dirty="0">
                <a:solidFill>
                  <a:srgbClr val="17325C"/>
                </a:solidFill>
                <a:latin typeface="Arial"/>
                <a:ea typeface="Arial"/>
                <a:cs typeface="Arial"/>
              </a:rPr>
              <a:t> </a:t>
            </a:r>
            <a:r>
              <a:rPr sz="1650" b="0" dirty="0" err="1">
                <a:solidFill>
                  <a:srgbClr val="17325C"/>
                </a:solidFill>
                <a:latin typeface="Arial"/>
                <a:ea typeface="Arial"/>
                <a:cs typeface="Arial"/>
              </a:rPr>
              <a:t>Máy</a:t>
            </a:r>
            <a:r>
              <a:rPr sz="1650" b="0" dirty="0">
                <a:solidFill>
                  <a:srgbClr val="17325C"/>
                </a:solidFill>
                <a:latin typeface="Arial"/>
                <a:ea typeface="Arial"/>
                <a:cs typeface="Arial"/>
              </a:rPr>
              <a:t>. Tái </a:t>
            </a:r>
            <a:r>
              <a:rPr sz="1650" b="0" dirty="0" err="1">
                <a:solidFill>
                  <a:srgbClr val="17325C"/>
                </a:solidFill>
                <a:latin typeface="Arial"/>
                <a:ea typeface="Arial"/>
                <a:cs typeface="Arial"/>
              </a:rPr>
              <a:t>cơ</a:t>
            </a:r>
            <a:r>
              <a:rPr sz="1650" b="0" dirty="0">
                <a:solidFill>
                  <a:srgbClr val="17325C"/>
                </a:solidFill>
                <a:latin typeface="Arial"/>
                <a:ea typeface="Arial"/>
                <a:cs typeface="Arial"/>
              </a:rPr>
              <a:t> </a:t>
            </a:r>
            <a:r>
              <a:rPr sz="1650" b="0" dirty="0" err="1">
                <a:solidFill>
                  <a:srgbClr val="17325C"/>
                </a:solidFill>
                <a:latin typeface="Arial"/>
                <a:ea typeface="Arial"/>
                <a:cs typeface="Arial"/>
              </a:rPr>
              <a:t>cấu</a:t>
            </a:r>
            <a:r>
              <a:rPr sz="1650" b="0" dirty="0">
                <a:solidFill>
                  <a:srgbClr val="17325C"/>
                </a:solidFill>
                <a:latin typeface="Arial"/>
                <a:ea typeface="Arial"/>
                <a:cs typeface="Arial"/>
              </a:rPr>
              <a:t> </a:t>
            </a:r>
            <a:r>
              <a:rPr sz="1650" b="0" dirty="0" err="1">
                <a:solidFill>
                  <a:srgbClr val="17325C"/>
                </a:solidFill>
                <a:latin typeface="Arial"/>
                <a:ea typeface="Arial"/>
                <a:cs typeface="Arial"/>
              </a:rPr>
              <a:t>mạng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lưới</a:t>
            </a:r>
            <a:r>
              <a:rPr sz="1650" b="0" dirty="0">
                <a:solidFill>
                  <a:srgbClr val="17325C"/>
                </a:solidFill>
                <a:latin typeface="Arial"/>
                <a:ea typeface="Arial"/>
                <a:cs typeface="Arial"/>
              </a:rPr>
              <a:t> </a:t>
            </a:r>
            <a:r>
              <a:rPr sz="1650" b="0" dirty="0" err="1">
                <a:solidFill>
                  <a:srgbClr val="17325C"/>
                </a:solidFill>
                <a:latin typeface="Arial"/>
                <a:ea typeface="Arial"/>
                <a:cs typeface="Arial"/>
              </a:rPr>
              <a:t>bán</a:t>
            </a:r>
            <a:r>
              <a:rPr sz="1650" b="0" dirty="0">
                <a:solidFill>
                  <a:srgbClr val="17325C"/>
                </a:solidFill>
                <a:latin typeface="Arial"/>
                <a:ea typeface="Arial"/>
                <a:cs typeface="Arial"/>
              </a:rPr>
              <a:t> </a:t>
            </a:r>
            <a:r>
              <a:rPr sz="1650" b="0" dirty="0" err="1">
                <a:solidFill>
                  <a:srgbClr val="17325C"/>
                </a:solidFill>
                <a:latin typeface="Arial"/>
                <a:ea typeface="Arial"/>
                <a:cs typeface="Arial"/>
              </a:rPr>
              <a:t>lẻ</a:t>
            </a:r>
            <a:r>
              <a:rPr sz="1650" b="0" dirty="0">
                <a:solidFill>
                  <a:srgbClr val="17325C"/>
                </a:solidFill>
                <a:latin typeface="Arial"/>
                <a:ea typeface="Arial"/>
                <a:cs typeface="Arial"/>
              </a:rPr>
              <a:t>.</a:t>
            </a:r>
          </a:p>
        </p:txBody>
      </p:sp>
      <p:pic>
        <p:nvPicPr>
          <p:cNvPr id="130" name="Picture 129"/>
          <p:cNvPicPr>
            <a:picLocks noChangeAspect="1"/>
          </p:cNvPicPr>
          <p:nvPr/>
        </p:nvPicPr>
        <p:blipFill>
          <a:blip r:embed="rId3"/>
          <a:stretch/>
        </p:blipFill>
        <p:spPr>
          <a:xfrm>
            <a:off x="5848350" y="2295525"/>
            <a:ext cx="5676900" cy="2838450"/>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05</a:t>
            </a:r>
          </a:p>
        </p:txBody>
      </p:sp>
      <p:sp>
        <p:nvSpPr>
          <p:cNvPr id="60" name="Rectangle 59">
            <a:extLst>
              <a:ext uri="{FF2B5EF4-FFF2-40B4-BE49-F238E27FC236}">
                <a16:creationId xmlns:a16="http://schemas.microsoft.com/office/drawing/2014/main" id="{228AC48F-16B6-4277-80B8-F05516F03993}"/>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MÔ VÀ DANH MỤC KINH DOANH</a:t>
            </a:r>
          </a:p>
        </p:txBody>
      </p:sp>
      <p:sp>
        <p:nvSpPr>
          <p:cNvPr id="61" name="Rectangle: Rounded Corners 60">
            <a:extLst>
              <a:ext uri="{FF2B5EF4-FFF2-40B4-BE49-F238E27FC236}">
                <a16:creationId xmlns:a16="http://schemas.microsoft.com/office/drawing/2014/main" id="{4F4D7989-D953-444F-9037-C0DA444C785A}"/>
              </a:ext>
            </a:extLst>
          </p:cNvPr>
          <p:cNvSpPr>
            <a:spLocks noGrp="1"/>
          </p:cNvSpPr>
          <p:nvPr/>
        </p:nvSpPr>
        <p:spPr>
          <a:xfrm>
            <a:off x="571500" y="1695450"/>
            <a:ext cx="3429000" cy="1295400"/>
          </a:xfrm>
          <a:prstGeom prst="roundRect">
            <a:avLst>
              <a:gd name="adj" fmla="val 13971"/>
            </a:avLst>
          </a:prstGeom>
          <a:solidFill>
            <a:srgbClr val="0B54C7">
              <a:alpha val="6275"/>
            </a:srgbClr>
          </a:solidFill>
          <a:ln w="12383">
            <a:solidFill>
              <a:srgbClr val="0B54C7">
                <a:alpha val="40000"/>
              </a:srgbClr>
            </a:solidFill>
            <a:prstDash val="solid"/>
          </a:ln>
        </p:spPr>
        <p:txBody>
          <a:bodyPr wrap="square" lIns="95250" tIns="66675" rIns="95250" bIns="66675" anchor="ctr">
            <a:noAutofit/>
          </a:bodyPr>
          <a:lstStyle/>
          <a:p>
            <a:pPr algn="ctr">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634
CỬA HÀNG (2024)</a:t>
            </a:r>
          </a:p>
        </p:txBody>
      </p:sp>
      <p:sp>
        <p:nvSpPr>
          <p:cNvPr id="62" name="Rectangle: Rounded Corners 61">
            <a:extLst>
              <a:ext uri="{FF2B5EF4-FFF2-40B4-BE49-F238E27FC236}">
                <a16:creationId xmlns:a16="http://schemas.microsoft.com/office/drawing/2014/main" id="{DDD02DEA-6BE3-469C-B857-DF0B7A749207}"/>
              </a:ext>
            </a:extLst>
          </p:cNvPr>
          <p:cNvSpPr>
            <a:spLocks noGrp="1"/>
          </p:cNvSpPr>
          <p:nvPr/>
        </p:nvSpPr>
        <p:spPr>
          <a:xfrm>
            <a:off x="4381500" y="1695450"/>
            <a:ext cx="3429000" cy="1295400"/>
          </a:xfrm>
          <a:prstGeom prst="roundRect">
            <a:avLst>
              <a:gd name="adj" fmla="val 13971"/>
            </a:avLst>
          </a:prstGeom>
          <a:solidFill>
            <a:srgbClr val="009B91">
              <a:alpha val="6275"/>
            </a:srgbClr>
          </a:solidFill>
          <a:ln w="12383">
            <a:solidFill>
              <a:srgbClr val="009B91">
                <a:alpha val="40000"/>
              </a:srgbClr>
            </a:solidFill>
            <a:prstDash val="solid"/>
          </a:ln>
        </p:spPr>
        <p:txBody>
          <a:bodyPr wrap="square" lIns="95250" tIns="66675" rIns="95250" bIns="66675" anchor="ctr">
            <a:noAutofit/>
          </a:bodyPr>
          <a:lstStyle/>
          <a:p>
            <a:pPr algn="ctr">
              <a:lnSpc>
                <a:spcPct val="104000"/>
              </a:lnSpc>
              <a:buNone/>
              <a:defRPr sz="1650" b="1">
                <a:solidFill>
                  <a:srgbClr val="009D9E"/>
                </a:solidFill>
                <a:latin typeface="Arial"/>
                <a:ea typeface="Arial"/>
                <a:cs typeface="Arial"/>
              </a:defRPr>
            </a:pPr>
            <a:r>
              <a:rPr lang="en-US" sz="1650" b="1" dirty="0">
                <a:solidFill>
                  <a:srgbClr val="009D9E"/>
                </a:solidFill>
                <a:latin typeface="Arial"/>
                <a:ea typeface="Arial"/>
                <a:cs typeface="Arial"/>
              </a:rPr>
              <a:t>63</a:t>
            </a:r>
            <a:r>
              <a:rPr sz="1650" b="1" dirty="0">
                <a:solidFill>
                  <a:srgbClr val="009D9E"/>
                </a:solidFill>
                <a:latin typeface="Arial"/>
                <a:ea typeface="Arial"/>
                <a:cs typeface="Arial"/>
              </a:rPr>
              <a:t>
TỈNH/THÀNH (2024)</a:t>
            </a:r>
          </a:p>
        </p:txBody>
      </p:sp>
      <p:sp>
        <p:nvSpPr>
          <p:cNvPr id="63" name="Rectangle: Rounded Corners 62">
            <a:extLst>
              <a:ext uri="{FF2B5EF4-FFF2-40B4-BE49-F238E27FC236}">
                <a16:creationId xmlns:a16="http://schemas.microsoft.com/office/drawing/2014/main" id="{61108417-F907-4774-9EBA-6A599AF82774}"/>
              </a:ext>
            </a:extLst>
          </p:cNvPr>
          <p:cNvSpPr>
            <a:spLocks noGrp="1"/>
          </p:cNvSpPr>
          <p:nvPr/>
        </p:nvSpPr>
        <p:spPr>
          <a:xfrm>
            <a:off x="8191500" y="1695450"/>
            <a:ext cx="3429000" cy="1295400"/>
          </a:xfrm>
          <a:prstGeom prst="roundRect">
            <a:avLst>
              <a:gd name="adj" fmla="val 13971"/>
            </a:avLst>
          </a:prstGeom>
          <a:solidFill>
            <a:srgbClr val="F28C28">
              <a:alpha val="6275"/>
            </a:srgbClr>
          </a:solidFill>
          <a:ln w="12383">
            <a:solidFill>
              <a:srgbClr val="F28C28">
                <a:alpha val="40000"/>
              </a:srgbClr>
            </a:solidFill>
            <a:prstDash val="solid"/>
          </a:ln>
        </p:spPr>
        <p:txBody>
          <a:bodyPr wrap="square" lIns="95250" tIns="66675" rIns="95250" bIns="66675" anchor="ctr">
            <a:noAutofit/>
          </a:bodyPr>
          <a:lstStyle/>
          <a:p>
            <a:pPr algn="ctr">
              <a:lnSpc>
                <a:spcPct val="104000"/>
              </a:lnSpc>
              <a:buNone/>
              <a:defRPr sz="1650" b="1">
                <a:solidFill>
                  <a:srgbClr val="EF8B22"/>
                </a:solidFill>
                <a:latin typeface="Arial"/>
                <a:ea typeface="Arial"/>
                <a:cs typeface="Arial"/>
              </a:defRPr>
            </a:pPr>
            <a:r>
              <a:rPr sz="1650" b="1">
                <a:solidFill>
                  <a:srgbClr val="EF8B22"/>
                </a:solidFill>
                <a:latin typeface="Arial"/>
                <a:ea typeface="Arial"/>
                <a:cs typeface="Arial"/>
              </a:rPr>
              <a:t>54
CỬA HÀNG ĐIỆN MÁY (2024)</a:t>
            </a:r>
          </a:p>
        </p:txBody>
      </p:sp>
      <p:sp>
        <p:nvSpPr>
          <p:cNvPr id="64" name="Card NHÓM SẢN PHẨM CÔNG NGHỆ">
            <a:extLst>
              <a:ext uri="{FF2B5EF4-FFF2-40B4-BE49-F238E27FC236}">
                <a16:creationId xmlns:a16="http://schemas.microsoft.com/office/drawing/2014/main" id="{3859BCBD-9F24-44C0-9C50-A37B70CACA77}"/>
              </a:ext>
            </a:extLst>
          </p:cNvPr>
          <p:cNvSpPr>
            <a:spLocks noGrp="1"/>
          </p:cNvSpPr>
          <p:nvPr/>
        </p:nvSpPr>
        <p:spPr>
          <a:xfrm>
            <a:off x="571500" y="3314700"/>
            <a:ext cx="533400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5" name="Accent NHÓM SẢN PHẨM CÔNG NGHỆ">
            <a:extLst>
              <a:ext uri="{FF2B5EF4-FFF2-40B4-BE49-F238E27FC236}">
                <a16:creationId xmlns:a16="http://schemas.microsoft.com/office/drawing/2014/main" id="{272B1763-2E7C-401F-93AD-CD8E9B28FFCE}"/>
              </a:ext>
            </a:extLst>
          </p:cNvPr>
          <p:cNvSpPr>
            <a:spLocks noGrp="1"/>
          </p:cNvSpPr>
          <p:nvPr/>
        </p:nvSpPr>
        <p:spPr>
          <a:xfrm>
            <a:off x="571500" y="3314700"/>
            <a:ext cx="5334000" cy="104775"/>
          </a:xfrm>
          <a:prstGeom prst="roundRect">
            <a:avLst>
              <a:gd name="adj" fmla="val 50000"/>
            </a:avLst>
          </a:prstGeom>
          <a:solidFill>
            <a:srgbClr val="00A7D8"/>
          </a:solidFill>
          <a:ln w="0">
            <a:solidFill>
              <a:srgbClr val="00A7D8"/>
            </a:solidFill>
            <a:prstDash val="solid"/>
          </a:ln>
        </p:spPr>
        <p:txBody>
          <a:bodyPr/>
          <a:lstStyle/>
          <a:p>
            <a:endParaRPr/>
          </a:p>
        </p:txBody>
      </p:sp>
      <p:sp>
        <p:nvSpPr>
          <p:cNvPr id="66" name="Rectangle 65">
            <a:extLst>
              <a:ext uri="{FF2B5EF4-FFF2-40B4-BE49-F238E27FC236}">
                <a16:creationId xmlns:a16="http://schemas.microsoft.com/office/drawing/2014/main" id="{DFF6F815-85FD-48B2-91BB-47CBB727F417}"/>
              </a:ext>
            </a:extLst>
          </p:cNvPr>
          <p:cNvSpPr>
            <a:spLocks noGrp="1"/>
          </p:cNvSpPr>
          <p:nvPr/>
        </p:nvSpPr>
        <p:spPr>
          <a:xfrm>
            <a:off x="742950" y="3505200"/>
            <a:ext cx="499110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NHÓM SẢN PHẨM CÔNG NGHỆ</a:t>
            </a:r>
          </a:p>
        </p:txBody>
      </p:sp>
      <p:sp>
        <p:nvSpPr>
          <p:cNvPr id="67" name="Rectangle 66">
            <a:extLst>
              <a:ext uri="{FF2B5EF4-FFF2-40B4-BE49-F238E27FC236}">
                <a16:creationId xmlns:a16="http://schemas.microsoft.com/office/drawing/2014/main" id="{806A1D5C-A16A-417C-B0B5-5B0287CB7B9C}"/>
              </a:ext>
            </a:extLst>
          </p:cNvPr>
          <p:cNvSpPr>
            <a:spLocks noGrp="1"/>
          </p:cNvSpPr>
          <p:nvPr/>
        </p:nvSpPr>
        <p:spPr>
          <a:xfrm>
            <a:off x="723900" y="3981450"/>
            <a:ext cx="502920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Điện thoại, laptop, máy tính bảng.
Phụ kiện, SIM và dịch vụ viễn thông.</a:t>
            </a:r>
          </a:p>
        </p:txBody>
      </p:sp>
      <p:sp>
        <p:nvSpPr>
          <p:cNvPr id="68" name="Card ĐIỆN MÁY &amp; DỊCH VỤ">
            <a:extLst>
              <a:ext uri="{FF2B5EF4-FFF2-40B4-BE49-F238E27FC236}">
                <a16:creationId xmlns:a16="http://schemas.microsoft.com/office/drawing/2014/main" id="{B46B9A9B-D44F-4565-9449-02DC2AE447EE}"/>
              </a:ext>
            </a:extLst>
          </p:cNvPr>
          <p:cNvSpPr>
            <a:spLocks noGrp="1"/>
          </p:cNvSpPr>
          <p:nvPr/>
        </p:nvSpPr>
        <p:spPr>
          <a:xfrm>
            <a:off x="6191250" y="3314700"/>
            <a:ext cx="533400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9" name="Accent ĐIỆN MÁY &amp; DỊCH VỤ">
            <a:extLst>
              <a:ext uri="{FF2B5EF4-FFF2-40B4-BE49-F238E27FC236}">
                <a16:creationId xmlns:a16="http://schemas.microsoft.com/office/drawing/2014/main" id="{D66C9426-9D65-4F8C-B193-8A677BD9B6D6}"/>
              </a:ext>
            </a:extLst>
          </p:cNvPr>
          <p:cNvSpPr>
            <a:spLocks noGrp="1"/>
          </p:cNvSpPr>
          <p:nvPr/>
        </p:nvSpPr>
        <p:spPr>
          <a:xfrm>
            <a:off x="6191250" y="3314700"/>
            <a:ext cx="5334000" cy="104775"/>
          </a:xfrm>
          <a:prstGeom prst="roundRect">
            <a:avLst>
              <a:gd name="adj" fmla="val 50000"/>
            </a:avLst>
          </a:prstGeom>
          <a:solidFill>
            <a:srgbClr val="F28C28"/>
          </a:solidFill>
          <a:ln w="0">
            <a:solidFill>
              <a:srgbClr val="F28C28"/>
            </a:solidFill>
            <a:prstDash val="solid"/>
          </a:ln>
        </p:spPr>
        <p:txBody>
          <a:bodyPr/>
          <a:lstStyle/>
          <a:p>
            <a:endParaRPr/>
          </a:p>
        </p:txBody>
      </p:sp>
      <p:sp>
        <p:nvSpPr>
          <p:cNvPr id="70" name="Rectangle 69">
            <a:extLst>
              <a:ext uri="{FF2B5EF4-FFF2-40B4-BE49-F238E27FC236}">
                <a16:creationId xmlns:a16="http://schemas.microsoft.com/office/drawing/2014/main" id="{50BD1417-9C14-4484-BE49-A5590E38C67D}"/>
              </a:ext>
            </a:extLst>
          </p:cNvPr>
          <p:cNvSpPr>
            <a:spLocks noGrp="1"/>
          </p:cNvSpPr>
          <p:nvPr/>
        </p:nvSpPr>
        <p:spPr>
          <a:xfrm>
            <a:off x="6362700" y="3505200"/>
            <a:ext cx="499110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ĐIỆN MÁY &amp; DỊCH VỤ</a:t>
            </a:r>
          </a:p>
        </p:txBody>
      </p:sp>
      <p:sp>
        <p:nvSpPr>
          <p:cNvPr id="71" name="Rectangle 70">
            <a:extLst>
              <a:ext uri="{FF2B5EF4-FFF2-40B4-BE49-F238E27FC236}">
                <a16:creationId xmlns:a16="http://schemas.microsoft.com/office/drawing/2014/main" id="{E976C986-5885-48C3-85FF-A5A55CDD1A63}"/>
              </a:ext>
            </a:extLst>
          </p:cNvPr>
          <p:cNvSpPr>
            <a:spLocks noGrp="1"/>
          </p:cNvSpPr>
          <p:nvPr/>
        </p:nvSpPr>
        <p:spPr>
          <a:xfrm>
            <a:off x="6343650" y="3981450"/>
            <a:ext cx="502920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Điện máy, đồ gia dụng tại cửa hàng chuyển đổi.
Dịch vụ công nghệ và hỗ trợ liên quan.</a:t>
            </a:r>
          </a:p>
        </p:txBody>
      </p:sp>
    </p:spTree>
    <p:extLst>
      <p:ext uri="{BB962C8B-B14F-4D97-AF65-F5344CB8AC3E}">
        <p14:creationId xmlns:p14="http://schemas.microsoft.com/office/powerpoint/2010/main" val="985234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06</a:t>
            </a:r>
          </a:p>
        </p:txBody>
      </p:sp>
      <p:sp>
        <p:nvSpPr>
          <p:cNvPr id="60" name="Rectangle 59">
            <a:extLst>
              <a:ext uri="{FF2B5EF4-FFF2-40B4-BE49-F238E27FC236}">
                <a16:creationId xmlns:a16="http://schemas.microsoft.com/office/drawing/2014/main" id="{43E4CB85-5179-49A3-A9AB-0C754E884EFD}"/>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MÔ HÌNH KINH DOANH ĐA KÊNH</a:t>
            </a:r>
          </a:p>
        </p:txBody>
      </p:sp>
      <p:sp>
        <p:nvSpPr>
          <p:cNvPr id="61" name="Card 01  CỬA HÀNG">
            <a:extLst>
              <a:ext uri="{FF2B5EF4-FFF2-40B4-BE49-F238E27FC236}">
                <a16:creationId xmlns:a16="http://schemas.microsoft.com/office/drawing/2014/main" id="{1AB0A62A-3617-4AF8-A396-468F064FCA97}"/>
              </a:ext>
            </a:extLst>
          </p:cNvPr>
          <p:cNvSpPr>
            <a:spLocks noGrp="1"/>
          </p:cNvSpPr>
          <p:nvPr/>
        </p:nvSpPr>
        <p:spPr>
          <a:xfrm>
            <a:off x="571500" y="1714500"/>
            <a:ext cx="344805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2" name="Accent 01  CỬA HÀNG">
            <a:extLst>
              <a:ext uri="{FF2B5EF4-FFF2-40B4-BE49-F238E27FC236}">
                <a16:creationId xmlns:a16="http://schemas.microsoft.com/office/drawing/2014/main" id="{A4B29715-4741-48C1-851C-97DAD64346FE}"/>
              </a:ext>
            </a:extLst>
          </p:cNvPr>
          <p:cNvSpPr>
            <a:spLocks noGrp="1"/>
          </p:cNvSpPr>
          <p:nvPr/>
        </p:nvSpPr>
        <p:spPr>
          <a:xfrm>
            <a:off x="571500" y="1714500"/>
            <a:ext cx="3448050" cy="104775"/>
          </a:xfrm>
          <a:prstGeom prst="roundRect">
            <a:avLst>
              <a:gd name="adj" fmla="val 50000"/>
            </a:avLst>
          </a:prstGeom>
          <a:solidFill>
            <a:srgbClr val="0B54C7"/>
          </a:solidFill>
          <a:ln w="0">
            <a:solidFill>
              <a:srgbClr val="0B54C7"/>
            </a:solidFill>
            <a:prstDash val="solid"/>
          </a:ln>
        </p:spPr>
        <p:txBody>
          <a:bodyPr/>
          <a:lstStyle/>
          <a:p>
            <a:endParaRPr/>
          </a:p>
        </p:txBody>
      </p:sp>
      <p:sp>
        <p:nvSpPr>
          <p:cNvPr id="63" name="Rectangle 62">
            <a:extLst>
              <a:ext uri="{FF2B5EF4-FFF2-40B4-BE49-F238E27FC236}">
                <a16:creationId xmlns:a16="http://schemas.microsoft.com/office/drawing/2014/main" id="{41EDE035-E168-47CF-903A-1E3A331CF276}"/>
              </a:ext>
            </a:extLst>
          </p:cNvPr>
          <p:cNvSpPr>
            <a:spLocks noGrp="1"/>
          </p:cNvSpPr>
          <p:nvPr/>
        </p:nvSpPr>
        <p:spPr>
          <a:xfrm>
            <a:off x="742950" y="190500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01  CỬA HÀNG</a:t>
            </a:r>
          </a:p>
        </p:txBody>
      </p:sp>
      <p:sp>
        <p:nvSpPr>
          <p:cNvPr id="64" name="Rectangle 63">
            <a:extLst>
              <a:ext uri="{FF2B5EF4-FFF2-40B4-BE49-F238E27FC236}">
                <a16:creationId xmlns:a16="http://schemas.microsoft.com/office/drawing/2014/main" id="{2720D313-1588-48FA-A74B-AEC9D83E1A81}"/>
              </a:ext>
            </a:extLst>
          </p:cNvPr>
          <p:cNvSpPr>
            <a:spLocks noGrp="1"/>
          </p:cNvSpPr>
          <p:nvPr/>
        </p:nvSpPr>
        <p:spPr>
          <a:xfrm>
            <a:off x="723900" y="2381250"/>
            <a:ext cx="314325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Tư vấn trực tiếp, trải nghiệm sản phẩm, thanh toán và bàn giao tại điểm bán.</a:t>
            </a:r>
          </a:p>
        </p:txBody>
      </p:sp>
      <p:sp>
        <p:nvSpPr>
          <p:cNvPr id="65" name="Card 02  TRỰC TUYẾN">
            <a:extLst>
              <a:ext uri="{FF2B5EF4-FFF2-40B4-BE49-F238E27FC236}">
                <a16:creationId xmlns:a16="http://schemas.microsoft.com/office/drawing/2014/main" id="{731BA973-D7E0-4D8C-8FA1-E2A97B19F9D3}"/>
              </a:ext>
            </a:extLst>
          </p:cNvPr>
          <p:cNvSpPr>
            <a:spLocks noGrp="1"/>
          </p:cNvSpPr>
          <p:nvPr/>
        </p:nvSpPr>
        <p:spPr>
          <a:xfrm>
            <a:off x="4362450" y="1714500"/>
            <a:ext cx="344805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6" name="Accent 02  TRỰC TUYẾN">
            <a:extLst>
              <a:ext uri="{FF2B5EF4-FFF2-40B4-BE49-F238E27FC236}">
                <a16:creationId xmlns:a16="http://schemas.microsoft.com/office/drawing/2014/main" id="{A25E14A7-B967-4AA7-90F9-81A874A48195}"/>
              </a:ext>
            </a:extLst>
          </p:cNvPr>
          <p:cNvSpPr>
            <a:spLocks noGrp="1"/>
          </p:cNvSpPr>
          <p:nvPr/>
        </p:nvSpPr>
        <p:spPr>
          <a:xfrm>
            <a:off x="4362450" y="1714500"/>
            <a:ext cx="3448050" cy="104775"/>
          </a:xfrm>
          <a:prstGeom prst="roundRect">
            <a:avLst>
              <a:gd name="adj" fmla="val 50000"/>
            </a:avLst>
          </a:prstGeom>
          <a:solidFill>
            <a:srgbClr val="009B91"/>
          </a:solidFill>
          <a:ln w="0">
            <a:solidFill>
              <a:srgbClr val="009B91"/>
            </a:solidFill>
            <a:prstDash val="solid"/>
          </a:ln>
        </p:spPr>
        <p:txBody>
          <a:bodyPr/>
          <a:lstStyle/>
          <a:p>
            <a:endParaRPr/>
          </a:p>
        </p:txBody>
      </p:sp>
      <p:sp>
        <p:nvSpPr>
          <p:cNvPr id="67" name="Rectangle 66">
            <a:extLst>
              <a:ext uri="{FF2B5EF4-FFF2-40B4-BE49-F238E27FC236}">
                <a16:creationId xmlns:a16="http://schemas.microsoft.com/office/drawing/2014/main" id="{E7AFE74F-D6C2-43F3-B6BB-5469E7D207CD}"/>
              </a:ext>
            </a:extLst>
          </p:cNvPr>
          <p:cNvSpPr>
            <a:spLocks noGrp="1"/>
          </p:cNvSpPr>
          <p:nvPr/>
        </p:nvSpPr>
        <p:spPr>
          <a:xfrm>
            <a:off x="4533900" y="190500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02  TRỰC TUYẾN</a:t>
            </a:r>
          </a:p>
        </p:txBody>
      </p:sp>
      <p:sp>
        <p:nvSpPr>
          <p:cNvPr id="68" name="Rectangle 67">
            <a:extLst>
              <a:ext uri="{FF2B5EF4-FFF2-40B4-BE49-F238E27FC236}">
                <a16:creationId xmlns:a16="http://schemas.microsoft.com/office/drawing/2014/main" id="{34451F18-1031-4663-AB5F-0D7C37715196}"/>
              </a:ext>
            </a:extLst>
          </p:cNvPr>
          <p:cNvSpPr>
            <a:spLocks noGrp="1"/>
          </p:cNvSpPr>
          <p:nvPr/>
        </p:nvSpPr>
        <p:spPr>
          <a:xfrm>
            <a:off x="4514850" y="2381250"/>
            <a:ext cx="314325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Tiếp nhận và xử lý đơn hàng qua FPTShop.com.vn, kết nối với kho và cửa hàng.</a:t>
            </a:r>
          </a:p>
        </p:txBody>
      </p:sp>
      <p:sp>
        <p:nvSpPr>
          <p:cNvPr id="69" name="Card 03  SAU BÁN HÀNG">
            <a:extLst>
              <a:ext uri="{FF2B5EF4-FFF2-40B4-BE49-F238E27FC236}">
                <a16:creationId xmlns:a16="http://schemas.microsoft.com/office/drawing/2014/main" id="{67776244-C258-4FBF-A064-5621E3BB3DAC}"/>
              </a:ext>
            </a:extLst>
          </p:cNvPr>
          <p:cNvSpPr>
            <a:spLocks noGrp="1"/>
          </p:cNvSpPr>
          <p:nvPr/>
        </p:nvSpPr>
        <p:spPr>
          <a:xfrm>
            <a:off x="8153400" y="1714500"/>
            <a:ext cx="337185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70" name="Accent 03  SAU BÁN HÀNG">
            <a:extLst>
              <a:ext uri="{FF2B5EF4-FFF2-40B4-BE49-F238E27FC236}">
                <a16:creationId xmlns:a16="http://schemas.microsoft.com/office/drawing/2014/main" id="{F9AC4DB2-77F9-4602-8692-FEE25DD1D34F}"/>
              </a:ext>
            </a:extLst>
          </p:cNvPr>
          <p:cNvSpPr>
            <a:spLocks noGrp="1"/>
          </p:cNvSpPr>
          <p:nvPr/>
        </p:nvSpPr>
        <p:spPr>
          <a:xfrm>
            <a:off x="8153400" y="1714500"/>
            <a:ext cx="3371850" cy="104775"/>
          </a:xfrm>
          <a:prstGeom prst="roundRect">
            <a:avLst>
              <a:gd name="adj" fmla="val 50000"/>
            </a:avLst>
          </a:prstGeom>
          <a:solidFill>
            <a:srgbClr val="F28C28"/>
          </a:solidFill>
          <a:ln w="0">
            <a:solidFill>
              <a:srgbClr val="F28C28"/>
            </a:solidFill>
            <a:prstDash val="solid"/>
          </a:ln>
        </p:spPr>
        <p:txBody>
          <a:bodyPr/>
          <a:lstStyle/>
          <a:p>
            <a:endParaRPr/>
          </a:p>
        </p:txBody>
      </p:sp>
      <p:sp>
        <p:nvSpPr>
          <p:cNvPr id="71" name="Rectangle 70">
            <a:extLst>
              <a:ext uri="{FF2B5EF4-FFF2-40B4-BE49-F238E27FC236}">
                <a16:creationId xmlns:a16="http://schemas.microsoft.com/office/drawing/2014/main" id="{3E53042F-F72B-44FF-9F99-FA6CB858C5A2}"/>
              </a:ext>
            </a:extLst>
          </p:cNvPr>
          <p:cNvSpPr>
            <a:spLocks noGrp="1"/>
          </p:cNvSpPr>
          <p:nvPr/>
        </p:nvSpPr>
        <p:spPr>
          <a:xfrm>
            <a:off x="8324850" y="1905000"/>
            <a:ext cx="30289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03  SAU BÁN HÀNG</a:t>
            </a:r>
          </a:p>
        </p:txBody>
      </p:sp>
      <p:sp>
        <p:nvSpPr>
          <p:cNvPr id="72" name="Rectangle 71">
            <a:extLst>
              <a:ext uri="{FF2B5EF4-FFF2-40B4-BE49-F238E27FC236}">
                <a16:creationId xmlns:a16="http://schemas.microsoft.com/office/drawing/2014/main" id="{C5DE276E-F2F7-42CD-9FF8-2CB165C59AD7}"/>
              </a:ext>
            </a:extLst>
          </p:cNvPr>
          <p:cNvSpPr>
            <a:spLocks noGrp="1"/>
          </p:cNvSpPr>
          <p:nvPr/>
        </p:nvSpPr>
        <p:spPr>
          <a:xfrm>
            <a:off x="8305800" y="2381250"/>
            <a:ext cx="306705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Bảo hành, đổi trả và hỗ trợ kỹ thuật nhằm duy trì trải nghiệm khách hàng.</a:t>
            </a:r>
          </a:p>
        </p:txBody>
      </p:sp>
      <p:sp>
        <p:nvSpPr>
          <p:cNvPr id="73" name="Rectangle: Rounded Corners 72">
            <a:extLst>
              <a:ext uri="{FF2B5EF4-FFF2-40B4-BE49-F238E27FC236}">
                <a16:creationId xmlns:a16="http://schemas.microsoft.com/office/drawing/2014/main" id="{E40F1EBE-3D85-4DED-8EFC-314810CAF8F8}"/>
              </a:ext>
            </a:extLst>
          </p:cNvPr>
          <p:cNvSpPr>
            <a:spLocks noGrp="1"/>
          </p:cNvSpPr>
          <p:nvPr/>
        </p:nvSpPr>
        <p:spPr>
          <a:xfrm>
            <a:off x="571500" y="4533900"/>
            <a:ext cx="10953750" cy="1257300"/>
          </a:xfrm>
          <a:prstGeom prst="roundRect">
            <a:avLst>
              <a:gd name="adj" fmla="val 13636"/>
            </a:avLst>
          </a:prstGeom>
          <a:solidFill>
            <a:srgbClr val="F5F9FF"/>
          </a:solidFill>
          <a:ln w="11430">
            <a:solidFill>
              <a:srgbClr val="C9DAF5"/>
            </a:solidFill>
            <a:prstDash val="solid"/>
          </a:ln>
        </p:spPr>
        <p:txBody>
          <a:bodyPr wrap="square" lIns="95250" tIns="66675" rIns="95250" bIns="66675" anchor="ctr">
            <a:noAutofit/>
          </a:bodyPr>
          <a:lstStyle/>
          <a:p>
            <a:pPr algn="ctr">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Nhà cung cấp → Nguồn hàng → Kho/Cửa hàng
Kênh trực tuyến → Khách hàng → Hậu mãi</a:t>
            </a:r>
          </a:p>
        </p:txBody>
      </p:sp>
    </p:spTree>
    <p:extLst>
      <p:ext uri="{BB962C8B-B14F-4D97-AF65-F5344CB8AC3E}">
        <p14:creationId xmlns:p14="http://schemas.microsoft.com/office/powerpoint/2010/main" val="985234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C85EEAF-7351-4352-B80D-C91F9A877DB8}"/>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D4B525CC-4847-47C8-88E8-D4ED528D678E}"/>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F5C809DA-0526-4AC1-B92F-34C1B8E78CAB}"/>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2697010F-FEF1-44C5-B567-B25875877CE9}"/>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F81270E4-5432-400C-B591-07AFAEE6C5EC}"/>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3BBBB558-AB47-4D03-B3F7-D77FD7DEEB88}"/>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1E8D3BE3-B093-4767-9B27-E35CA89A2654}"/>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A6FB7468-EC02-46F6-80A3-E8A6869B1F53}"/>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F04C47D8-499D-4B01-8B2E-232EEC1038A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CF47B291-37BC-49BB-B21F-727A0A729F83}"/>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9F9610B8-5790-45F4-BE85-5E4A939149B2}"/>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B50A3EC9-94D5-4861-AB34-E972C6B05813}"/>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046E971-EBAF-4AE8-B68A-78F3ECE813AF}"/>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BAB12842-0915-4028-8D10-FEFBAA6DE6BD}"/>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28DAFA64-0929-4D18-9E24-68D6204EEFBA}"/>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8D19FB03-EB0B-4D75-A59D-A8C69C121CB0}"/>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0B6598CA-1FF1-4501-8A0F-8001D5AFDE9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A1A9F3C5-2E09-4EC6-B819-B2F296E85EBA}"/>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8FDF8BA3-6852-46BC-AC9F-2EF1779B3E67}"/>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276F77B9-8021-4690-953D-BA74CF1706AD}"/>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F8DB9F24-E4F2-49E0-9AF8-1F73963AFD4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B59C8A4E-4CA5-4268-83FA-9DA631F6A28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8C82C16-67EB-4EA5-9DB5-D071E63B35F5}"/>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7EB5CB8F-272D-43CE-9907-96DCC9C34A5E}"/>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21286BC-5C1C-4959-8061-A7F07BB303EA}"/>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11B664A8-3F70-4087-B382-4EB97003E9DE}"/>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7F9D790B-E427-49E4-8C8D-9D914847067D}"/>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3A527E39-ECCF-4565-B0AD-AAE744FFCBA3}"/>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3834DC39-6F21-4373-A13F-DC37AEF15771}"/>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2FAC8FD4-E695-46CD-9690-8BFF0D2F889F}"/>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D5A8C35-39A2-42E6-9F07-27D7991F3C5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3449AA0B-DA92-45E9-B2D1-AB9B357F9F9D}"/>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BA8345E4-7723-42F6-9D35-0B19B5CEFDDE}"/>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C1E583A5-D1DE-464E-B2F9-F64DC377BE63}"/>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3F213B2D-D603-4B0C-896B-6822EF13FA02}"/>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7584232D-9FDB-4538-B9A8-C92A31B78619}"/>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65DABA60-DC6C-420A-8169-5C77F4B3F28C}"/>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3E0A062-53D8-4743-B245-0ECD8F0479CA}"/>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EAE28A1-FF63-49B1-B9BE-A53A08B505B2}"/>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BBF49BFA-3A83-4E87-A1B0-3A1A67211898}"/>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0ECCB623-25D4-47E7-A2D3-AB74E251BADE}"/>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CCE0CB0-3BB7-4B26-B21F-F19D061522D6}"/>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F1060F3E-F199-4BDD-BB38-85D5DF40782D}"/>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1EB3C01E-DD83-4CEE-B30F-187C46230A50}"/>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1A5AE25-3D47-4FAA-94D0-3AA59D87EEF6}"/>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E6068577-62E7-4C40-9877-EF527DE74656}"/>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6ED61750-E680-4BE4-A107-E41851D763AA}"/>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D708ADC8-893A-42B7-B307-7615B700A11C}"/>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F197116D-6B23-4C36-BC7C-0D33DB1F355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07</a:t>
            </a:r>
          </a:p>
        </p:txBody>
      </p:sp>
      <p:sp>
        <p:nvSpPr>
          <p:cNvPr id="60" name="Rectangle 59">
            <a:extLst>
              <a:ext uri="{FF2B5EF4-FFF2-40B4-BE49-F238E27FC236}">
                <a16:creationId xmlns:a16="http://schemas.microsoft.com/office/drawing/2014/main" id="{9B0ECFC6-3BED-46C0-B090-7E0576726E92}"/>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CƠ CẤU TỔ CHỨC FPT RETAIL</a:t>
            </a:r>
          </a:p>
        </p:txBody>
      </p:sp>
      <p:pic>
        <p:nvPicPr>
          <p:cNvPr id="112" name="Picture 111"/>
          <p:cNvPicPr>
            <a:picLocks noChangeAspect="1"/>
          </p:cNvPicPr>
          <p:nvPr/>
        </p:nvPicPr>
        <p:blipFill>
          <a:blip r:embed="rId3"/>
          <a:stretch/>
        </p:blipFill>
        <p:spPr>
          <a:xfrm>
            <a:off x="1853565" y="1638801"/>
            <a:ext cx="8542020" cy="4494798"/>
          </a:xfrm>
          <a:prstGeom prst="rect">
            <a:avLst/>
          </a:prstGeom>
        </p:spPr>
      </p:pic>
    </p:spTree>
    <p:extLst>
      <p:ext uri="{BB962C8B-B14F-4D97-AF65-F5344CB8AC3E}">
        <p14:creationId xmlns:p14="http://schemas.microsoft.com/office/powerpoint/2010/main" val="1095436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A846433-66BB-4787-A165-0919B4AB79DC}"/>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4A6D03FD-E59A-4729-A767-4329588B8F4B}"/>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00E462D4-7563-4994-8D86-A9DDE6CE0FFC}"/>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1E2C1155-3BC3-4865-879D-396EAEC4A30F}"/>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5BA15CD6-E646-4A33-9DD5-200F93639B1C}"/>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F1ED9EBB-1494-4683-BAC6-84E12D02F9BA}"/>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ECDF811C-8CDE-4E3E-8135-BCCC3605903E}"/>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B97808DC-8859-4FAD-8A4D-B3DF4AED4A25}"/>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36B4B86D-B3F8-401D-A97F-04502D1933A7}"/>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24EFC251-0B7D-45E1-A61C-33A5B1542D2B}"/>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1FBE4F1-3D0D-4794-8445-1ECB62EB6F79}"/>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A3163F7B-D967-4112-9E61-47F837F77678}"/>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97FE0BCF-BE08-4891-847E-DAA4BE2FE6CC}"/>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3072780-4347-43C7-A4A4-626D6B06CA5D}"/>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75C9EFEF-680E-4DE1-A6CA-8C64640B44E5}"/>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66E067AD-2083-4295-8445-51540BBF1EEC}"/>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9C34690A-28CA-4BB6-83D9-E61684FEF5A3}"/>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757F66BA-98A4-40D0-B77A-93C347AF3A66}"/>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FE720CBD-8789-43A7-9753-0F2B2FEEACC6}"/>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604F49A0-B917-4857-8F72-EE542788FFAF}"/>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1FD7DAB7-58FF-46A3-B300-706C48D28CB0}"/>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68C09EEC-41D4-4AA1-931F-AA726FE3FD4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3410FC09-0EDB-40D6-9A45-F9D0F201BE27}"/>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6726E3CE-ADDC-4F2B-94A2-28562F63B1E7}"/>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B80A3DB7-5C62-472B-ABFB-1329D47C9209}"/>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E1C145E0-DE6B-4ACA-B5E7-BE499D34EF87}"/>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6ABAEE74-FFB9-41DF-9F9A-C54406FE3CD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1FEBC7FE-0E94-4E8A-B436-585559A4EEAA}"/>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AF67EE0E-8A0B-41D5-940E-8C2596148F73}"/>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32974009-55F7-451D-A382-B2ADD864E7F5}"/>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67D6109C-0ED7-4F5D-8670-DC25682C2243}"/>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E81B4976-BD7A-4466-A0EA-0998CCC1E910}"/>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79EA1A47-A664-4E83-8210-724E6DCB6954}"/>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B15BD6C-6401-43A9-A465-8B2161296CE0}"/>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97684471-9057-4832-9D11-B3309B92EAA0}"/>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1D895CFB-8960-4CC3-98CA-EDFAD3E37254}"/>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7E80E156-256B-4D04-9376-9B98BB564E6D}"/>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561BA864-9DDB-4D4C-B775-346513EF9229}"/>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9DAC1388-FC90-4A80-8FCA-4671BB8D0573}"/>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0360054-9024-4458-A8A3-22F007AC6603}"/>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CF6035D7-C305-425A-B1DB-56ED317BD7FF}"/>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74FAA513-DFCE-4F0E-B40F-9A46C0603ABE}"/>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DC4F4414-BF5B-4C30-B266-0438FF9E8210}"/>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3E45E5A2-1329-4128-9602-0C2F8D9F6B6A}"/>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34BFCBB-C83C-4572-B8B4-7672C9DC5CDF}"/>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EC968FA2-CC19-4DE7-8023-DA10A015027B}"/>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47AD02D3-1FF2-4ABD-8A73-0E0FF23694B3}"/>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F0CDBCBA-AEFB-40C8-A8D5-52F652C22770}"/>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D001EF79-0BE0-4632-A68A-D8ABB81F9085}"/>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08</a:t>
            </a:r>
          </a:p>
        </p:txBody>
      </p:sp>
      <p:sp>
        <p:nvSpPr>
          <p:cNvPr id="60" name="Rectangle 59">
            <a:extLst>
              <a:ext uri="{FF2B5EF4-FFF2-40B4-BE49-F238E27FC236}">
                <a16:creationId xmlns:a16="http://schemas.microsoft.com/office/drawing/2014/main" id="{1251964C-83A2-420E-9985-846CCDDECCC6}"/>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KIẾN TRÚC QUY TRÌNH NGHIỆP VỤ</a:t>
            </a:r>
          </a:p>
        </p:txBody>
      </p:sp>
      <p:pic>
        <p:nvPicPr>
          <p:cNvPr id="113" name="Picture 112"/>
          <p:cNvPicPr>
            <a:picLocks noChangeAspect="1"/>
          </p:cNvPicPr>
          <p:nvPr/>
        </p:nvPicPr>
        <p:blipFill>
          <a:blip r:embed="rId3"/>
          <a:stretch/>
        </p:blipFill>
        <p:spPr>
          <a:xfrm>
            <a:off x="1054894" y="1638300"/>
            <a:ext cx="4843463" cy="4495800"/>
          </a:xfrm>
          <a:prstGeom prst="rect">
            <a:avLst/>
          </a:prstGeom>
        </p:spPr>
      </p:pic>
      <p:graphicFrame>
        <p:nvGraphicFramePr>
          <p:cNvPr id="114" name="Table 113"/>
          <p:cNvGraphicFramePr/>
          <p:nvPr/>
        </p:nvGraphicFramePr>
        <p:xfrm>
          <a:off x="6457950" y="1857375"/>
          <a:ext cx="5048250" cy="3990975"/>
        </p:xfrm>
        <a:graphic>
          <a:graphicData uri="http://schemas.openxmlformats.org/drawingml/2006/table">
            <a:tbl>
              <a:tblPr firstRow="1"/>
              <a:tblGrid>
                <a:gridCol w="1666875">
                  <a:extLst>
                    <a:ext uri="{9D8B030D-6E8A-4147-A177-3AD203B41FA5}">
                      <a16:colId xmlns:a16="http://schemas.microsoft.com/office/drawing/2014/main" val="20000"/>
                    </a:ext>
                  </a:extLst>
                </a:gridCol>
                <a:gridCol w="3381375">
                  <a:extLst>
                    <a:ext uri="{9D8B030D-6E8A-4147-A177-3AD203B41FA5}">
                      <a16:colId xmlns:a16="http://schemas.microsoft.com/office/drawing/2014/main" val="20001"/>
                    </a:ext>
                  </a:extLst>
                </a:gridCol>
              </a:tblGrid>
              <a:tr h="476250">
                <a:tc>
                  <a:txBody>
                    <a:bodyPr/>
                    <a:lstStyle/>
                    <a:p>
                      <a:pPr algn="l">
                        <a:lnSpc>
                          <a:spcPct val="104000"/>
                        </a:lnSpc>
                        <a:buNone/>
                      </a:pPr>
                      <a:r>
                        <a:rPr sz="1650" b="1">
                          <a:solidFill>
                            <a:srgbClr val="FFFFFF"/>
                          </a:solidFill>
                          <a:latin typeface="Arial"/>
                          <a:ea typeface="Arial"/>
                          <a:cs typeface="Arial"/>
                        </a:rPr>
                        <a:t>Nhóm</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Vai trò</a:t>
                      </a:r>
                    </a:p>
                  </a:txBody>
                  <a:tcPr anchor="ctr">
                    <a:solidFill>
                      <a:srgbClr val="0B5ED7"/>
                    </a:solidFill>
                  </a:tcPr>
                </a:tc>
                <a:extLst>
                  <a:ext uri="{0D108BD9-81ED-4DB2-BD59-A6C34878D82A}">
                    <a16:rowId xmlns:a16="http://schemas.microsoft.com/office/drawing/2014/main" val="10000"/>
                  </a:ext>
                </a:extLst>
              </a:tr>
              <a:tr h="1171575">
                <a:tc>
                  <a:txBody>
                    <a:bodyPr/>
                    <a:lstStyle/>
                    <a:p>
                      <a:pPr algn="l">
                        <a:lnSpc>
                          <a:spcPct val="104000"/>
                        </a:lnSpc>
                        <a:buNone/>
                      </a:pPr>
                      <a:r>
                        <a:rPr sz="1650" b="0">
                          <a:solidFill>
                            <a:srgbClr val="17325C"/>
                          </a:solidFill>
                          <a:latin typeface="Arial"/>
                          <a:ea typeface="Arial"/>
                          <a:cs typeface="Arial"/>
                        </a:rPr>
                        <a:t>Quản lý</a:t>
                      </a:r>
                    </a:p>
                    <a:p>
                      <a:pPr algn="l">
                        <a:lnSpc>
                          <a:spcPct val="104000"/>
                        </a:lnSpc>
                        <a:buNone/>
                      </a:pPr>
                      <a:r>
                        <a:rPr sz="1650" b="0">
                          <a:solidFill>
                            <a:srgbClr val="17325C"/>
                          </a:solidFill>
                          <a:latin typeface="Arial"/>
                          <a:ea typeface="Arial"/>
                          <a:cs typeface="Arial"/>
                        </a:rPr>
                        <a:t>5 quy trình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Định hướng, kiểm soát và đánh giá hoạt động.</a:t>
                      </a:r>
                    </a:p>
                  </a:txBody>
                  <a:tcPr anchor="ctr">
                    <a:solidFill>
                      <a:srgbClr val="FFFFFF"/>
                    </a:solidFill>
                  </a:tcPr>
                </a:tc>
                <a:extLst>
                  <a:ext uri="{0D108BD9-81ED-4DB2-BD59-A6C34878D82A}">
                    <a16:rowId xmlns:a16="http://schemas.microsoft.com/office/drawing/2014/main" val="10001"/>
                  </a:ext>
                </a:extLst>
              </a:tr>
              <a:tr h="1171575">
                <a:tc>
                  <a:txBody>
                    <a:bodyPr/>
                    <a:lstStyle/>
                    <a:p>
                      <a:pPr algn="l">
                        <a:lnSpc>
                          <a:spcPct val="104000"/>
                        </a:lnSpc>
                        <a:buNone/>
                      </a:pPr>
                      <a:r>
                        <a:rPr sz="1650" b="0">
                          <a:solidFill>
                            <a:srgbClr val="17325C"/>
                          </a:solidFill>
                          <a:latin typeface="Arial"/>
                          <a:ea typeface="Arial"/>
                          <a:cs typeface="Arial"/>
                        </a:rPr>
                        <a:t>Cốt lõi</a:t>
                      </a:r>
                    </a:p>
                    <a:p>
                      <a:pPr algn="l">
                        <a:lnSpc>
                          <a:spcPct val="104000"/>
                        </a:lnSpc>
                        <a:buNone/>
                      </a:pPr>
                      <a:r>
                        <a:rPr sz="1650" b="0">
                          <a:solidFill>
                            <a:srgbClr val="17325C"/>
                          </a:solidFill>
                          <a:latin typeface="Arial"/>
                          <a:ea typeface="Arial"/>
                          <a:cs typeface="Arial"/>
                        </a:rPr>
                        <a:t>8 quy trình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Tạo giá trị từ tiếp nhận hàng đến bán hàng và hậu mãi.</a:t>
                      </a:r>
                    </a:p>
                  </a:txBody>
                  <a:tcPr anchor="ctr">
                    <a:solidFill>
                      <a:srgbClr val="F1F6FC"/>
                    </a:solidFill>
                  </a:tcPr>
                </a:tc>
                <a:extLst>
                  <a:ext uri="{0D108BD9-81ED-4DB2-BD59-A6C34878D82A}">
                    <a16:rowId xmlns:a16="http://schemas.microsoft.com/office/drawing/2014/main" val="10002"/>
                  </a:ext>
                </a:extLst>
              </a:tr>
              <a:tr h="1171575">
                <a:tc>
                  <a:txBody>
                    <a:bodyPr/>
                    <a:lstStyle/>
                    <a:p>
                      <a:pPr algn="l">
                        <a:lnSpc>
                          <a:spcPct val="104000"/>
                        </a:lnSpc>
                        <a:buNone/>
                      </a:pPr>
                      <a:r>
                        <a:rPr sz="1650" b="0">
                          <a:solidFill>
                            <a:srgbClr val="17325C"/>
                          </a:solidFill>
                          <a:latin typeface="Arial"/>
                          <a:ea typeface="Arial"/>
                          <a:cs typeface="Arial"/>
                        </a:rPr>
                        <a:t>Hỗ trợ</a:t>
                      </a:r>
                    </a:p>
                    <a:p>
                      <a:pPr algn="l">
                        <a:lnSpc>
                          <a:spcPct val="104000"/>
                        </a:lnSpc>
                        <a:buNone/>
                      </a:pPr>
                      <a:r>
                        <a:rPr sz="1650" b="0">
                          <a:solidFill>
                            <a:srgbClr val="17325C"/>
                          </a:solidFill>
                          <a:latin typeface="Arial"/>
                          <a:ea typeface="Arial"/>
                          <a:cs typeface="Arial"/>
                        </a:rPr>
                        <a:t>4 quy trình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Cung cấp nhân lực, công nghệ và tài chính.</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45301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09</a:t>
            </a:r>
          </a:p>
        </p:txBody>
      </p:sp>
      <p:sp>
        <p:nvSpPr>
          <p:cNvPr id="60" name="Rectangle 59">
            <a:extLst>
              <a:ext uri="{FF2B5EF4-FFF2-40B4-BE49-F238E27FC236}">
                <a16:creationId xmlns:a16="http://schemas.microsoft.com/office/drawing/2014/main" id="{BB88B0F7-4D5E-41D3-913B-2183B1F92198}"/>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CÁC QUY TRÌNH ĐƯỢC LỰA CHỌN</a:t>
            </a: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1524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5810250">
                  <a:extLst>
                    <a:ext uri="{9D8B030D-6E8A-4147-A177-3AD203B41FA5}">
                      <a16:colId xmlns:a16="http://schemas.microsoft.com/office/drawing/2014/main" val="20002"/>
                    </a:ext>
                  </a:extLst>
                </a:gridCol>
              </a:tblGrid>
              <a:tr h="457200">
                <a:tc>
                  <a:txBody>
                    <a:bodyPr/>
                    <a:lstStyle/>
                    <a:p>
                      <a:pPr algn="l">
                        <a:lnSpc>
                          <a:spcPct val="104000"/>
                        </a:lnSpc>
                        <a:buNone/>
                      </a:pPr>
                      <a:r>
                        <a:rPr sz="1650" b="1">
                          <a:solidFill>
                            <a:srgbClr val="FFFFFF"/>
                          </a:solidFill>
                          <a:latin typeface="Arial"/>
                          <a:ea typeface="Arial"/>
                          <a:cs typeface="Arial"/>
                        </a:rPr>
                        <a:t>Nhóm</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Quy trình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Phạm vi trình bày</a:t>
                      </a:r>
                    </a:p>
                  </a:txBody>
                  <a:tcPr anchor="ctr">
                    <a:solidFill>
                      <a:srgbClr val="0B5ED7"/>
                    </a:solidFill>
                  </a:tcPr>
                </a:tc>
                <a:extLst>
                  <a:ext uri="{0D108BD9-81ED-4DB2-BD59-A6C34878D82A}">
                    <a16:rowId xmlns:a16="http://schemas.microsoft.com/office/drawing/2014/main" val="10000"/>
                  </a:ext>
                </a:extLst>
              </a:tr>
              <a:tr h="895350">
                <a:tc>
                  <a:txBody>
                    <a:bodyPr/>
                    <a:lstStyle/>
                    <a:p>
                      <a:pPr algn="l">
                        <a:lnSpc>
                          <a:spcPct val="104000"/>
                        </a:lnSpc>
                        <a:buNone/>
                      </a:pPr>
                      <a:r>
                        <a:rPr sz="1650" b="0">
                          <a:solidFill>
                            <a:srgbClr val="17325C"/>
                          </a:solidFill>
                          <a:latin typeface="Arial"/>
                          <a:ea typeface="Arial"/>
                          <a:cs typeface="Arial"/>
                        </a:rPr>
                        <a:t>Quản lý</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Quản lý nhà cung cấp</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Mô tả, tác nhân, khách hàng, kết quả và BPMN.</a:t>
                      </a:r>
                    </a:p>
                  </a:txBody>
                  <a:tcPr anchor="ctr">
                    <a:solidFill>
                      <a:srgbClr val="FFFFFF"/>
                    </a:solidFill>
                  </a:tcPr>
                </a:tc>
                <a:extLst>
                  <a:ext uri="{0D108BD9-81ED-4DB2-BD59-A6C34878D82A}">
                    <a16:rowId xmlns:a16="http://schemas.microsoft.com/office/drawing/2014/main" val="10001"/>
                  </a:ext>
                </a:extLst>
              </a:tr>
              <a:tr h="895350">
                <a:tc>
                  <a:txBody>
                    <a:bodyPr/>
                    <a:lstStyle/>
                    <a:p>
                      <a:pPr algn="l">
                        <a:lnSpc>
                          <a:spcPct val="104000"/>
                        </a:lnSpc>
                        <a:buNone/>
                      </a:pPr>
                      <a:r>
                        <a:rPr sz="1650" b="0">
                          <a:solidFill>
                            <a:srgbClr val="17325C"/>
                          </a:solidFill>
                          <a:latin typeface="Arial"/>
                          <a:ea typeface="Arial"/>
                          <a:cs typeface="Arial"/>
                        </a:rPr>
                        <a:t>Quản lý</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Quản lý tồn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Mô tả, tác nhân, khách hàng, kết quả và BPMN.</a:t>
                      </a:r>
                    </a:p>
                  </a:txBody>
                  <a:tcPr anchor="ctr">
                    <a:solidFill>
                      <a:srgbClr val="F1F6FC"/>
                    </a:solidFill>
                  </a:tcPr>
                </a:tc>
                <a:extLst>
                  <a:ext uri="{0D108BD9-81ED-4DB2-BD59-A6C34878D82A}">
                    <a16:rowId xmlns:a16="http://schemas.microsoft.com/office/drawing/2014/main" val="10002"/>
                  </a:ext>
                </a:extLst>
              </a:tr>
              <a:tr h="1066800">
                <a:tc>
                  <a:txBody>
                    <a:bodyPr/>
                    <a:lstStyle/>
                    <a:p>
                      <a:pPr algn="l">
                        <a:lnSpc>
                          <a:spcPct val="104000"/>
                        </a:lnSpc>
                        <a:buNone/>
                      </a:pPr>
                      <a:r>
                        <a:rPr sz="1650" b="0">
                          <a:solidFill>
                            <a:srgbClr val="17325C"/>
                          </a:solidFill>
                          <a:latin typeface="Arial"/>
                          <a:ea typeface="Arial"/>
                          <a:cs typeface="Arial"/>
                        </a:rPr>
                        <a:t>Cốt lõi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Bán hàng trực tuyến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BPMN, phỏng vấn, định tính, định lượng và các bên liên quan.</a:t>
                      </a:r>
                    </a:p>
                  </a:txBody>
                  <a:tcPr anchor="ctr">
                    <a:solidFill>
                      <a:srgbClr val="FFFFFF"/>
                    </a:solidFill>
                  </a:tcPr>
                </a:tc>
                <a:extLst>
                  <a:ext uri="{0D108BD9-81ED-4DB2-BD59-A6C34878D82A}">
                    <a16:rowId xmlns:a16="http://schemas.microsoft.com/office/drawing/2014/main" val="10003"/>
                  </a:ext>
                </a:extLst>
              </a:tr>
              <a:tr h="895350">
                <a:tc>
                  <a:txBody>
                    <a:bodyPr/>
                    <a:lstStyle/>
                    <a:p>
                      <a:pPr algn="l">
                        <a:lnSpc>
                          <a:spcPct val="104000"/>
                        </a:lnSpc>
                        <a:buNone/>
                      </a:pPr>
                      <a:r>
                        <a:rPr sz="1650" b="0">
                          <a:solidFill>
                            <a:srgbClr val="17325C"/>
                          </a:solidFill>
                          <a:latin typeface="Arial"/>
                          <a:ea typeface="Arial"/>
                          <a:cs typeface="Arial"/>
                        </a:rPr>
                        <a:t>Hỗ trợ</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Tuyển dụng nhân sự</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Mô tả, tác nhân, khách hàng, kết quả và BPMN.</a:t>
                      </a:r>
                    </a:p>
                  </a:txBody>
                  <a:tcPr anchor="ctr">
                    <a:solidFill>
                      <a:srgbClr val="F1F6FC"/>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C85EEAF-7351-4352-B80D-C91F9A877DB8}"/>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D4B525CC-4847-47C8-88E8-D4ED528D678E}"/>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F5C809DA-0526-4AC1-B92F-34C1B8E78CAB}"/>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2697010F-FEF1-44C5-B567-B25875877CE9}"/>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F81270E4-5432-400C-B591-07AFAEE6C5EC}"/>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3BBBB558-AB47-4D03-B3F7-D77FD7DEEB88}"/>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1E8D3BE3-B093-4767-9B27-E35CA89A2654}"/>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A6FB7468-EC02-46F6-80A3-E8A6869B1F53}"/>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F04C47D8-499D-4B01-8B2E-232EEC1038A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CF47B291-37BC-49BB-B21F-727A0A729F83}"/>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9F9610B8-5790-45F4-BE85-5E4A939149B2}"/>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B50A3EC9-94D5-4861-AB34-E972C6B05813}"/>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046E971-EBAF-4AE8-B68A-78F3ECE813AF}"/>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BAB12842-0915-4028-8D10-FEFBAA6DE6BD}"/>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28DAFA64-0929-4D18-9E24-68D6204EEFBA}"/>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8D19FB03-EB0B-4D75-A59D-A8C69C121CB0}"/>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0B6598CA-1FF1-4501-8A0F-8001D5AFDE9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A1A9F3C5-2E09-4EC6-B819-B2F296E85EBA}"/>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8FDF8BA3-6852-46BC-AC9F-2EF1779B3E67}"/>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276F77B9-8021-4690-953D-BA74CF1706AD}"/>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F8DB9F24-E4F2-49E0-9AF8-1F73963AFD4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B59C8A4E-4CA5-4268-83FA-9DA631F6A28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8C82C16-67EB-4EA5-9DB5-D071E63B35F5}"/>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7EB5CB8F-272D-43CE-9907-96DCC9C34A5E}"/>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21286BC-5C1C-4959-8061-A7F07BB303EA}"/>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11B664A8-3F70-4087-B382-4EB97003E9DE}"/>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7F9D790B-E427-49E4-8C8D-9D914847067D}"/>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3A527E39-ECCF-4565-B0AD-AAE744FFCBA3}"/>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3834DC39-6F21-4373-A13F-DC37AEF15771}"/>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2FAC8FD4-E695-46CD-9690-8BFF0D2F889F}"/>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D5A8C35-39A2-42E6-9F07-27D7991F3C5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3449AA0B-DA92-45E9-B2D1-AB9B357F9F9D}"/>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BA8345E4-7723-42F6-9D35-0B19B5CEFDDE}"/>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C1E583A5-D1DE-464E-B2F9-F64DC377BE63}"/>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3F213B2D-D603-4B0C-896B-6822EF13FA02}"/>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7584232D-9FDB-4538-B9A8-C92A31B78619}"/>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65DABA60-DC6C-420A-8169-5C77F4B3F28C}"/>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3E0A062-53D8-4743-B245-0ECD8F0479CA}"/>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EAE28A1-FF63-49B1-B9BE-A53A08B505B2}"/>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BBF49BFA-3A83-4E87-A1B0-3A1A67211898}"/>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0ECCB623-25D4-47E7-A2D3-AB74E251BADE}"/>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CCE0CB0-3BB7-4B26-B21F-F19D061522D6}"/>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F1060F3E-F199-4BDD-BB38-85D5DF40782D}"/>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1EB3C01E-DD83-4CEE-B30F-187C46230A50}"/>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1A5AE25-3D47-4FAA-94D0-3AA59D87EEF6}"/>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E6068577-62E7-4C40-9877-EF527DE74656}"/>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6ED61750-E680-4BE4-A107-E41851D763AA}"/>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D708ADC8-893A-42B7-B307-7615B700A11C}"/>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F197116D-6B23-4C36-BC7C-0D33DB1F355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10</a:t>
            </a:r>
          </a:p>
        </p:txBody>
      </p:sp>
      <p:sp>
        <p:nvSpPr>
          <p:cNvPr id="60" name="Rectangle 59">
            <a:extLst>
              <a:ext uri="{FF2B5EF4-FFF2-40B4-BE49-F238E27FC236}">
                <a16:creationId xmlns:a16="http://schemas.microsoft.com/office/drawing/2014/main" id="{92CFA504-26F2-48BB-AC88-8C56449BE768}"/>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II. PHƯƠNG PHÁP THỰC HIỆN</a:t>
            </a:r>
          </a:p>
        </p:txBody>
      </p:sp>
      <p:graphicFrame>
        <p:nvGraphicFramePr>
          <p:cNvPr id="112" name="Table 111"/>
          <p:cNvGraphicFramePr/>
          <p:nvPr/>
        </p:nvGraphicFramePr>
        <p:xfrm>
          <a:off x="742950" y="1714500"/>
          <a:ext cx="10763250" cy="4124325"/>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7905750">
                  <a:extLst>
                    <a:ext uri="{9D8B030D-6E8A-4147-A177-3AD203B41FA5}">
                      <a16:colId xmlns:a16="http://schemas.microsoft.com/office/drawing/2014/main" val="20001"/>
                    </a:ext>
                  </a:extLst>
                </a:gridCol>
              </a:tblGrid>
              <a:tr h="457200">
                <a:tc>
                  <a:txBody>
                    <a:bodyPr/>
                    <a:lstStyle/>
                    <a:p>
                      <a:pPr algn="l">
                        <a:lnSpc>
                          <a:spcPct val="104000"/>
                        </a:lnSpc>
                        <a:buNone/>
                      </a:pPr>
                      <a:r>
                        <a:rPr sz="1650" b="1">
                          <a:solidFill>
                            <a:srgbClr val="FFFFFF"/>
                          </a:solidFill>
                          <a:latin typeface="Arial"/>
                          <a:ea typeface="Arial"/>
                          <a:cs typeface="Arial"/>
                        </a:rPr>
                        <a:t>Nguồn/Phương pháp</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Cách sử dụng</a:t>
                      </a:r>
                    </a:p>
                  </a:txBody>
                  <a:tcPr anchor="ctr">
                    <a:solidFill>
                      <a:srgbClr val="0B5ED7"/>
                    </a:solidFill>
                  </a:tcPr>
                </a:tc>
                <a:extLst>
                  <a:ext uri="{0D108BD9-81ED-4DB2-BD59-A6C34878D82A}">
                    <a16:rowId xmlns:a16="http://schemas.microsoft.com/office/drawing/2014/main" val="10000"/>
                  </a:ext>
                </a:extLst>
              </a:tr>
              <a:tr h="733425">
                <a:tc>
                  <a:txBody>
                    <a:bodyPr/>
                    <a:lstStyle/>
                    <a:p>
                      <a:pPr algn="l">
                        <a:lnSpc>
                          <a:spcPct val="104000"/>
                        </a:lnSpc>
                        <a:buNone/>
                      </a:pPr>
                      <a:r>
                        <a:rPr sz="1650" b="0">
                          <a:solidFill>
                            <a:srgbClr val="17325C"/>
                          </a:solidFill>
                          <a:latin typeface="Arial"/>
                          <a:ea typeface="Arial"/>
                          <a:cs typeface="Arial"/>
                        </a:rPr>
                        <a:t>Tài liệu và bằng chứng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Mô tả quy trình hiện có, cơ cấu tổ chức, chính sách và thông tin doanh nghiệp.</a:t>
                      </a:r>
                    </a:p>
                  </a:txBody>
                  <a:tcPr anchor="ctr">
                    <a:solidFill>
                      <a:srgbClr val="FFFFFF"/>
                    </a:solidFill>
                  </a:tcPr>
                </a:tc>
                <a:extLst>
                  <a:ext uri="{0D108BD9-81ED-4DB2-BD59-A6C34878D82A}">
                    <a16:rowId xmlns:a16="http://schemas.microsoft.com/office/drawing/2014/main" val="10001"/>
                  </a:ext>
                </a:extLst>
              </a:tr>
              <a:tr h="733425">
                <a:tc>
                  <a:txBody>
                    <a:bodyPr/>
                    <a:lstStyle/>
                    <a:p>
                      <a:pPr algn="l">
                        <a:lnSpc>
                          <a:spcPct val="104000"/>
                        </a:lnSpc>
                        <a:buNone/>
                      </a:pPr>
                      <a:r>
                        <a:rPr sz="1650" b="0">
                          <a:solidFill>
                            <a:srgbClr val="17325C"/>
                          </a:solidFill>
                          <a:latin typeface="Arial"/>
                          <a:ea typeface="Arial"/>
                          <a:cs typeface="Arial"/>
                        </a:rPr>
                        <a:t>Kế hoạch và thuật ngữ</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định công việc, người thực hiện; thống nhất khái niệm trong mô hình.</a:t>
                      </a:r>
                    </a:p>
                  </a:txBody>
                  <a:tcPr anchor="ctr">
                    <a:solidFill>
                      <a:srgbClr val="F1F6FC"/>
                    </a:solidFill>
                  </a:tcPr>
                </a:tc>
                <a:extLst>
                  <a:ext uri="{0D108BD9-81ED-4DB2-BD59-A6C34878D82A}">
                    <a16:rowId xmlns:a16="http://schemas.microsoft.com/office/drawing/2014/main" val="10002"/>
                  </a:ext>
                </a:extLst>
              </a:tr>
              <a:tr h="733425">
                <a:tc>
                  <a:txBody>
                    <a:bodyPr/>
                    <a:lstStyle/>
                    <a:p>
                      <a:pPr algn="l">
                        <a:lnSpc>
                          <a:spcPct val="104000"/>
                        </a:lnSpc>
                        <a:buNone/>
                      </a:pPr>
                      <a:r>
                        <a:rPr sz="1650" b="0">
                          <a:solidFill>
                            <a:srgbClr val="17325C"/>
                          </a:solidFill>
                          <a:latin typeface="Arial"/>
                          <a:ea typeface="Arial"/>
                          <a:cs typeface="Arial"/>
                        </a:rPr>
                        <a:t>Biểu mẫu nghiệp vụ</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Đơn hàng; xác nhận đơn; phiếu soạn hàng; bàn giao; COD; báo cáo vận hành.</a:t>
                      </a:r>
                    </a:p>
                  </a:txBody>
                  <a:tcPr anchor="ctr">
                    <a:solidFill>
                      <a:srgbClr val="FFFFFF"/>
                    </a:solidFill>
                  </a:tcPr>
                </a:tc>
                <a:extLst>
                  <a:ext uri="{0D108BD9-81ED-4DB2-BD59-A6C34878D82A}">
                    <a16:rowId xmlns:a16="http://schemas.microsoft.com/office/drawing/2014/main" val="10003"/>
                  </a:ext>
                </a:extLst>
              </a:tr>
              <a:tr h="733425">
                <a:tc>
                  <a:txBody>
                    <a:bodyPr/>
                    <a:lstStyle/>
                    <a:p>
                      <a:pPr algn="l">
                        <a:lnSpc>
                          <a:spcPct val="104000"/>
                        </a:lnSpc>
                        <a:buNone/>
                      </a:pPr>
                      <a:r>
                        <a:rPr sz="1650" b="0">
                          <a:solidFill>
                            <a:srgbClr val="17325C"/>
                          </a:solidFill>
                          <a:latin typeface="Arial"/>
                          <a:ea typeface="Arial"/>
                          <a:cs typeface="Arial"/>
                        </a:rPr>
                        <a:t>Phỏng vấn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Câu hỏi định tính và định lượng; có cấu trúc và không có cấu trúc.</a:t>
                      </a:r>
                    </a:p>
                  </a:txBody>
                  <a:tcPr anchor="ctr">
                    <a:solidFill>
                      <a:srgbClr val="F1F6FC"/>
                    </a:solidFill>
                  </a:tcPr>
                </a:tc>
                <a:extLst>
                  <a:ext uri="{0D108BD9-81ED-4DB2-BD59-A6C34878D82A}">
                    <a16:rowId xmlns:a16="http://schemas.microsoft.com/office/drawing/2014/main" val="10004"/>
                  </a:ext>
                </a:extLst>
              </a:tr>
              <a:tr h="733425">
                <a:tc>
                  <a:txBody>
                    <a:bodyPr/>
                    <a:lstStyle/>
                    <a:p>
                      <a:pPr algn="l">
                        <a:lnSpc>
                          <a:spcPct val="104000"/>
                        </a:lnSpc>
                        <a:buNone/>
                      </a:pPr>
                      <a:r>
                        <a:rPr sz="1650" b="0">
                          <a:solidFill>
                            <a:srgbClr val="17325C"/>
                          </a:solidFill>
                          <a:latin typeface="Arial"/>
                          <a:ea typeface="Arial"/>
                          <a:cs typeface="Arial"/>
                        </a:rPr>
                        <a:t>Mô hình hóa và phân tích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BPMN; phân loại VA/BVA/NVA; lãng phí; thời gian, chất lượng, chi phí.</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95436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11</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III. QUẢN LÝ NHÀ CUNG CẤP</a:t>
            </a:r>
          </a:p>
        </p:txBody>
      </p:sp>
      <p:graphicFrame>
        <p:nvGraphicFramePr>
          <p:cNvPr id="112" name="Table 111"/>
          <p:cNvGraphicFramePr/>
          <p:nvPr/>
        </p:nvGraphicFramePr>
        <p:xfrm>
          <a:off x="742950" y="1714500"/>
          <a:ext cx="10763250" cy="422910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866775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Mô tả quy trình</a:t>
                      </a:r>
                    </a:p>
                  </a:txBody>
                  <a:tcPr anchor="ctr">
                    <a:solidFill>
                      <a:srgbClr val="0B5ED7"/>
                    </a:solidFill>
                  </a:tcPr>
                </a:tc>
                <a:extLst>
                  <a:ext uri="{0D108BD9-81ED-4DB2-BD59-A6C34878D82A}">
                    <a16:rowId xmlns:a16="http://schemas.microsoft.com/office/drawing/2014/main" val="10000"/>
                  </a:ext>
                </a:extLst>
              </a:tr>
              <a:tr h="723900">
                <a:tc>
                  <a:txBody>
                    <a:bodyPr/>
                    <a:lstStyle/>
                    <a:p>
                      <a:pPr algn="l">
                        <a:lnSpc>
                          <a:spcPct val="104000"/>
                        </a:lnSpc>
                        <a:buNone/>
                      </a:pPr>
                      <a:r>
                        <a:rPr sz="1650" b="0">
                          <a:solidFill>
                            <a:srgbClr val="17325C"/>
                          </a:solidFill>
                          <a:latin typeface="Arial"/>
                          <a:ea typeface="Arial"/>
                          <a:cs typeface="Arial"/>
                        </a:rPr>
                        <a:t>Tác nhân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Đơn vị đề nghị/Ngành hàng; Nhân viên mua hàng/PM ngành hàng; Cấp có thẩm quyền; Nhà cung cấp.</a:t>
                      </a:r>
                    </a:p>
                  </a:txBody>
                  <a:tcPr anchor="ctr">
                    <a:solidFill>
                      <a:srgbClr val="FFFFFF"/>
                    </a:solidFill>
                  </a:tcPr>
                </a:tc>
                <a:extLst>
                  <a:ext uri="{0D108BD9-81ED-4DB2-BD59-A6C34878D82A}">
                    <a16:rowId xmlns:a16="http://schemas.microsoft.com/office/drawing/2014/main" val="10001"/>
                  </a:ext>
                </a:extLst>
              </a:tr>
              <a:tr h="49530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Đơn vị đề nghị/Ngành hàng có nhu cầu mua sắm.</a:t>
                      </a:r>
                    </a:p>
                  </a:txBody>
                  <a:tcPr anchor="ctr">
                    <a:solidFill>
                      <a:srgbClr val="F1F6FC"/>
                    </a:solidFill>
                  </a:tcPr>
                </a:tc>
                <a:extLst>
                  <a:ext uri="{0D108BD9-81ED-4DB2-BD59-A6C34878D82A}">
                    <a16:rowId xmlns:a16="http://schemas.microsoft.com/office/drawing/2014/main" val="10002"/>
                  </a:ext>
                </a:extLst>
              </a:tr>
              <a:tr h="1009650">
                <a:tc>
                  <a:txBody>
                    <a:bodyPr/>
                    <a:lstStyle/>
                    <a:p>
                      <a:pPr algn="l">
                        <a:lnSpc>
                          <a:spcPct val="104000"/>
                        </a:lnSpc>
                        <a:buNone/>
                      </a:pPr>
                      <a:r>
                        <a:rPr sz="1650" b="0">
                          <a:solidFill>
                            <a:srgbClr val="17325C"/>
                          </a:solidFill>
                          <a:latin typeface="Arial"/>
                          <a:ea typeface="Arial"/>
                          <a:cs typeface="Arial"/>
                        </a:rPr>
                        <a:t>Các bước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định nhu cầu → rà soát, tìm và đánh giá nhà cung cấp → đàm phán → trình xin thống nhất ký kết → ký và theo dõi hợp đồng → thanh quyết toán → đánh giá lại.</a:t>
                      </a:r>
                    </a:p>
                  </a:txBody>
                  <a:tcPr anchor="ctr">
                    <a:solidFill>
                      <a:srgbClr val="FFFFFF"/>
                    </a:solidFill>
                  </a:tcPr>
                </a:tc>
                <a:extLst>
                  <a:ext uri="{0D108BD9-81ED-4DB2-BD59-A6C34878D82A}">
                    <a16:rowId xmlns:a16="http://schemas.microsoft.com/office/drawing/2014/main" val="10003"/>
                  </a:ext>
                </a:extLst>
              </a:tr>
              <a:tr h="647700">
                <a:tc>
                  <a:txBody>
                    <a:bodyPr/>
                    <a:lstStyle/>
                    <a:p>
                      <a:pPr algn="l">
                        <a:lnSpc>
                          <a:spcPct val="104000"/>
                        </a:lnSpc>
                        <a:buNone/>
                      </a:pPr>
                      <a:r>
                        <a:rPr sz="1650" b="0">
                          <a:solidFill>
                            <a:srgbClr val="17325C"/>
                          </a:solidFill>
                          <a:latin typeface="Arial"/>
                          <a:ea typeface="Arial"/>
                          <a:cs typeface="Arial"/>
                        </a:rPr>
                        <a:t>Giá trị mang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Đáp ứng nhu cầu mua sắm; kiểm soát lựa chọn, hợp đồng và chất lượng nhà cung cấp.</a:t>
                      </a:r>
                    </a:p>
                  </a:txBody>
                  <a:tcPr anchor="ctr">
                    <a:solidFill>
                      <a:srgbClr val="F1F6FC"/>
                    </a:solidFill>
                  </a:tcPr>
                </a:tc>
                <a:extLst>
                  <a:ext uri="{0D108BD9-81ED-4DB2-BD59-A6C34878D82A}">
                    <a16:rowId xmlns:a16="http://schemas.microsoft.com/office/drawing/2014/main" val="10004"/>
                  </a:ext>
                </a:extLst>
              </a:tr>
              <a:tr h="933450">
                <a:tc>
                  <a:txBody>
                    <a:bodyPr/>
                    <a:lstStyle/>
                    <a:p>
                      <a:pPr algn="l">
                        <a:lnSpc>
                          <a:spcPct val="104000"/>
                        </a:lnSpc>
                        <a:buNone/>
                      </a:pPr>
                      <a:r>
                        <a:rPr sz="1650" b="0">
                          <a:solidFill>
                            <a:srgbClr val="17325C"/>
                          </a:solidFill>
                          <a:latin typeface="Arial"/>
                          <a:ea typeface="Arial"/>
                          <a:cs typeface="Arial"/>
                        </a:rPr>
                        <a:t>Kết quả</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Không thống nhất ký kết; nhà cung cấp được duy trì; nhà cung cấp không được duy trì.</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12</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TRÌNH QUẢN LÝ NHÀ CUNG CẤP</a:t>
            </a:r>
          </a:p>
        </p:txBody>
      </p:sp>
      <p:pic>
        <p:nvPicPr>
          <p:cNvPr id="112" name="Picture 111"/>
          <p:cNvPicPr>
            <a:picLocks noChangeAspect="1"/>
          </p:cNvPicPr>
          <p:nvPr/>
        </p:nvPicPr>
        <p:blipFill>
          <a:blip r:embed="rId3"/>
          <a:stretch/>
        </p:blipFill>
        <p:spPr>
          <a:xfrm>
            <a:off x="2689520" y="1639012"/>
            <a:ext cx="6870110" cy="4494376"/>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13</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LỰA CHỌN VÀ THỐNG NHẤT NHÀ CUNG CẤP</a:t>
            </a:r>
          </a:p>
        </p:txBody>
      </p:sp>
      <p:pic>
        <p:nvPicPr>
          <p:cNvPr id="113" name="Picture 112"/>
          <p:cNvPicPr>
            <a:picLocks noChangeAspect="1"/>
          </p:cNvPicPr>
          <p:nvPr/>
        </p:nvPicPr>
        <p:blipFill>
          <a:blip r:embed="rId3"/>
          <a:stretch/>
        </p:blipFill>
        <p:spPr>
          <a:xfrm>
            <a:off x="744964" y="2072206"/>
            <a:ext cx="10759222" cy="2770738"/>
          </a:xfrm>
          <a:prstGeom prst="rect">
            <a:avLst/>
          </a:prstGeom>
        </p:spPr>
      </p:pic>
      <p:graphicFrame>
        <p:nvGraphicFramePr>
          <p:cNvPr id="114" name="Table 113"/>
          <p:cNvGraphicFramePr/>
          <p:nvPr/>
        </p:nvGraphicFramePr>
        <p:xfrm>
          <a:off x="742950" y="5124450"/>
          <a:ext cx="10763250" cy="1047750"/>
        </p:xfrm>
        <a:graphic>
          <a:graphicData uri="http://schemas.openxmlformats.org/drawingml/2006/table">
            <a:tbl>
              <a:tblPr firstRow="1"/>
              <a:tblGrid>
                <a:gridCol w="7048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tblGrid>
              <a:tr h="400050">
                <a:tc>
                  <a:txBody>
                    <a:bodyPr/>
                    <a:lstStyle/>
                    <a:p>
                      <a:pPr algn="l">
                        <a:lnSpc>
                          <a:spcPct val="104000"/>
                        </a:lnSpc>
                        <a:buNone/>
                      </a:pPr>
                      <a:r>
                        <a:rPr sz="1650" b="1">
                          <a:solidFill>
                            <a:srgbClr val="FFFFFF"/>
                          </a:solidFill>
                          <a:latin typeface="Arial"/>
                          <a:ea typeface="Arial"/>
                          <a:cs typeface="Arial"/>
                        </a:rPr>
                        <a:t>Điều kiện</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Hướng xử lý</a:t>
                      </a:r>
                    </a:p>
                  </a:txBody>
                  <a:tcPr anchor="ctr">
                    <a:solidFill>
                      <a:srgbClr val="0B5ED7"/>
                    </a:solidFill>
                  </a:tcPr>
                </a:tc>
                <a:extLst>
                  <a:ext uri="{0D108BD9-81ED-4DB2-BD59-A6C34878D82A}">
                    <a16:rowId xmlns:a16="http://schemas.microsoft.com/office/drawing/2014/main" val="10000"/>
                  </a:ext>
                </a:extLst>
              </a:tr>
              <a:tr h="647700">
                <a:tc>
                  <a:txBody>
                    <a:bodyPr/>
                    <a:lstStyle/>
                    <a:p>
                      <a:pPr algn="l">
                        <a:lnSpc>
                          <a:spcPct val="104000"/>
                        </a:lnSpc>
                        <a:buNone/>
                      </a:pPr>
                      <a:r>
                        <a:rPr sz="1650" b="0">
                          <a:solidFill>
                            <a:srgbClr val="17325C"/>
                          </a:solidFill>
                          <a:latin typeface="Arial"/>
                          <a:ea typeface="Arial"/>
                          <a:cs typeface="Arial"/>
                        </a:rPr>
                        <a:t>Không có NCC phù hợp/không đạt/không thống nhất điều khoản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Tìm kiếm hoặc cập nhật kết quả rà soát, sau đó đánh giá lại.</a:t>
                      </a:r>
                    </a:p>
                  </a:txBody>
                  <a:tcPr anchor="c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14</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PHÊ DUYỆT VÀ ĐÁNH GIÁ LẠI NHÀ CUNG CẤP</a:t>
            </a:r>
          </a:p>
        </p:txBody>
      </p:sp>
      <p:pic>
        <p:nvPicPr>
          <p:cNvPr id="117" name="Picture 116"/>
          <p:cNvPicPr>
            <a:picLocks noChangeAspect="1"/>
          </p:cNvPicPr>
          <p:nvPr/>
        </p:nvPicPr>
        <p:blipFill>
          <a:blip r:embed="rId3"/>
          <a:stretch/>
        </p:blipFill>
        <p:spPr>
          <a:xfrm>
            <a:off x="742950" y="2476500"/>
            <a:ext cx="5429250" cy="2190750"/>
          </a:xfrm>
          <a:prstGeom prst="rect">
            <a:avLst/>
          </a:prstGeom>
        </p:spPr>
      </p:pic>
      <p:pic>
        <p:nvPicPr>
          <p:cNvPr id="118" name="Picture 117"/>
          <p:cNvPicPr>
            <a:picLocks noChangeAspect="1"/>
          </p:cNvPicPr>
          <p:nvPr/>
        </p:nvPicPr>
        <p:blipFill>
          <a:blip r:embed="rId4"/>
          <a:stretch/>
        </p:blipFill>
        <p:spPr>
          <a:xfrm>
            <a:off x="6478842" y="2489200"/>
            <a:ext cx="5025516" cy="2165350"/>
          </a:xfrm>
          <a:prstGeom prst="rect">
            <a:avLst/>
          </a:prstGeom>
        </p:spPr>
      </p:pic>
      <p:sp>
        <p:nvSpPr>
          <p:cNvPr id="63" name="Content Khuyến nghị dùng / Không khuyến ngh">
            <a:extLst>
              <a:ext uri="{FF2B5EF4-FFF2-40B4-BE49-F238E27FC236}">
                <a16:creationId xmlns:a16="http://schemas.microsoft.com/office/drawing/2014/main" id="{A47904CB-F224-4A24-B669-1534A2DBAD5C}"/>
              </a:ext>
            </a:extLst>
          </p:cNvPr>
          <p:cNvSpPr>
            <a:spLocks noGrp="1"/>
          </p:cNvSpPr>
          <p:nvPr/>
        </p:nvSpPr>
        <p:spPr>
          <a:xfrm>
            <a:off x="742950" y="5505450"/>
            <a:ext cx="5429250" cy="55245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Khuyến nghị dùng / Không khuyến nghị dùng</a:t>
            </a:r>
          </a:p>
        </p:txBody>
      </p:sp>
      <p:sp>
        <p:nvSpPr>
          <p:cNvPr id="64" name="Content Thống nhất / Không thống nhất ký kế">
            <a:extLst>
              <a:ext uri="{FF2B5EF4-FFF2-40B4-BE49-F238E27FC236}">
                <a16:creationId xmlns:a16="http://schemas.microsoft.com/office/drawing/2014/main" id="{620DB5D3-1923-4DCC-942B-7B8876B5C269}"/>
              </a:ext>
            </a:extLst>
          </p:cNvPr>
          <p:cNvSpPr>
            <a:spLocks noGrp="1"/>
          </p:cNvSpPr>
          <p:nvPr/>
        </p:nvSpPr>
        <p:spPr>
          <a:xfrm>
            <a:off x="6477000" y="5505450"/>
            <a:ext cx="5029200" cy="55245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Thống nhất / Không thống nhất ký kết</a:t>
            </a:r>
          </a:p>
        </p:txBody>
      </p:sp>
    </p:spTree>
    <p:extLst>
      <p:ext uri="{BB962C8B-B14F-4D97-AF65-F5344CB8AC3E}">
        <p14:creationId xmlns:p14="http://schemas.microsoft.com/office/powerpoint/2010/main" val="985234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15</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QUẢN LÝ TỒN KHO</a:t>
            </a:r>
          </a:p>
        </p:txBody>
      </p:sp>
      <p:graphicFrame>
        <p:nvGraphicFramePr>
          <p:cNvPr id="112" name="Table 111"/>
          <p:cNvGraphicFramePr/>
          <p:nvPr/>
        </p:nvGraphicFramePr>
        <p:xfrm>
          <a:off x="742950" y="1714500"/>
          <a:ext cx="10763250" cy="400050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866775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Mô tả quy trình</a:t>
                      </a:r>
                    </a:p>
                  </a:txBody>
                  <a:tcPr anchor="ctr">
                    <a:solidFill>
                      <a:srgbClr val="0B5ED7"/>
                    </a:solidFill>
                  </a:tcPr>
                </a:tc>
                <a:extLst>
                  <a:ext uri="{0D108BD9-81ED-4DB2-BD59-A6C34878D82A}">
                    <a16:rowId xmlns:a16="http://schemas.microsoft.com/office/drawing/2014/main" val="10000"/>
                  </a:ext>
                </a:extLst>
              </a:tr>
              <a:tr h="723900">
                <a:tc>
                  <a:txBody>
                    <a:bodyPr/>
                    <a:lstStyle/>
                    <a:p>
                      <a:pPr algn="l">
                        <a:lnSpc>
                          <a:spcPct val="104000"/>
                        </a:lnSpc>
                        <a:buNone/>
                      </a:pPr>
                      <a:r>
                        <a:rPr sz="1650" b="0">
                          <a:solidFill>
                            <a:srgbClr val="17325C"/>
                          </a:solidFill>
                          <a:latin typeface="Arial"/>
                          <a:ea typeface="Arial"/>
                          <a:cs typeface="Arial"/>
                        </a:rPr>
                        <a:t>Tác nhân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Hệ thống quản lý tồn kho; Nhân viên cửa hàng; Quản lý cửa hàng; Kho/Trung tâm phân phối.</a:t>
                      </a:r>
                    </a:p>
                  </a:txBody>
                  <a:tcPr anchor="ctr">
                    <a:solidFill>
                      <a:srgbClr val="FFFFFF"/>
                    </a:solidFill>
                  </a:tcPr>
                </a:tc>
                <a:extLst>
                  <a:ext uri="{0D108BD9-81ED-4DB2-BD59-A6C34878D82A}">
                    <a16:rowId xmlns:a16="http://schemas.microsoft.com/office/drawing/2014/main" val="10001"/>
                  </a:ext>
                </a:extLst>
              </a:tr>
              <a:tr h="49530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 có nhu cầu bổ sung hàng hóa.</a:t>
                      </a:r>
                    </a:p>
                  </a:txBody>
                  <a:tcPr anchor="ctr">
                    <a:solidFill>
                      <a:srgbClr val="F1F6FC"/>
                    </a:solidFill>
                  </a:tcPr>
                </a:tc>
                <a:extLst>
                  <a:ext uri="{0D108BD9-81ED-4DB2-BD59-A6C34878D82A}">
                    <a16:rowId xmlns:a16="http://schemas.microsoft.com/office/drawing/2014/main" val="10002"/>
                  </a:ext>
                </a:extLst>
              </a:tr>
              <a:tr h="781050">
                <a:tc>
                  <a:txBody>
                    <a:bodyPr/>
                    <a:lstStyle/>
                    <a:p>
                      <a:pPr algn="l">
                        <a:lnSpc>
                          <a:spcPct val="104000"/>
                        </a:lnSpc>
                        <a:buNone/>
                      </a:pPr>
                      <a:r>
                        <a:rPr sz="1650" b="0">
                          <a:solidFill>
                            <a:srgbClr val="17325C"/>
                          </a:solidFill>
                          <a:latin typeface="Arial"/>
                          <a:ea typeface="Arial"/>
                          <a:cs typeface="Arial"/>
                        </a:rPr>
                        <a:t>Các bước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Kiểm tồn, phân tích nhu cầu → lập và duyệt yêu cầu → kiểm tra nguồn hàng → điều chuyển/đặt hàng → xuất, vận chuyển → nhận và kiểm tra → cập nhật tồn kho.</a:t>
                      </a:r>
                    </a:p>
                  </a:txBody>
                  <a:tcPr anchor="ctr">
                    <a:solidFill>
                      <a:srgbClr val="FFFFFF"/>
                    </a:solidFill>
                  </a:tcPr>
                </a:tc>
                <a:extLst>
                  <a:ext uri="{0D108BD9-81ED-4DB2-BD59-A6C34878D82A}">
                    <a16:rowId xmlns:a16="http://schemas.microsoft.com/office/drawing/2014/main" val="10003"/>
                  </a:ext>
                </a:extLst>
              </a:tr>
              <a:tr h="647700">
                <a:tc>
                  <a:txBody>
                    <a:bodyPr/>
                    <a:lstStyle/>
                    <a:p>
                      <a:pPr algn="l">
                        <a:lnSpc>
                          <a:spcPct val="104000"/>
                        </a:lnSpc>
                        <a:buNone/>
                      </a:pPr>
                      <a:r>
                        <a:rPr sz="1650" b="0">
                          <a:solidFill>
                            <a:srgbClr val="17325C"/>
                          </a:solidFill>
                          <a:latin typeface="Arial"/>
                          <a:ea typeface="Arial"/>
                          <a:cs typeface="Arial"/>
                        </a:rPr>
                        <a:t>Giá trị mang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Duy trì khả năng cung ứng; kiểm soát số lượng, mã hàng và chất lượng hàng nhập.</a:t>
                      </a:r>
                    </a:p>
                  </a:txBody>
                  <a:tcPr anchor="ctr">
                    <a:solidFill>
                      <a:srgbClr val="F1F6FC"/>
                    </a:solidFill>
                  </a:tcPr>
                </a:tc>
                <a:extLst>
                  <a:ext uri="{0D108BD9-81ED-4DB2-BD59-A6C34878D82A}">
                    <a16:rowId xmlns:a16="http://schemas.microsoft.com/office/drawing/2014/main" val="10004"/>
                  </a:ext>
                </a:extLst>
              </a:tr>
              <a:tr h="933450">
                <a:tc>
                  <a:txBody>
                    <a:bodyPr/>
                    <a:lstStyle/>
                    <a:p>
                      <a:pPr algn="l">
                        <a:lnSpc>
                          <a:spcPct val="104000"/>
                        </a:lnSpc>
                        <a:buNone/>
                      </a:pPr>
                      <a:r>
                        <a:rPr sz="1650" b="0">
                          <a:solidFill>
                            <a:srgbClr val="17325C"/>
                          </a:solidFill>
                          <a:latin typeface="Arial"/>
                          <a:ea typeface="Arial"/>
                          <a:cs typeface="Arial"/>
                        </a:rPr>
                        <a:t>Kết quả</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Tiếp tục theo dõi; yêu cầu bị từ chối; tồn kho được cập nhật. Sai lệch được lập biên bản và chuyển xử lý.</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16</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TRÌNH QUẢN LÝ TỒN KHO</a:t>
            </a:r>
          </a:p>
        </p:txBody>
      </p:sp>
      <p:pic>
        <p:nvPicPr>
          <p:cNvPr id="112" name="Picture 111"/>
          <p:cNvPicPr>
            <a:picLocks noChangeAspect="1"/>
          </p:cNvPicPr>
          <p:nvPr/>
        </p:nvPicPr>
        <p:blipFill>
          <a:blip r:embed="rId3"/>
          <a:stretch/>
        </p:blipFill>
        <p:spPr>
          <a:xfrm>
            <a:off x="864925" y="1638527"/>
            <a:ext cx="10519299" cy="4495346"/>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17</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KIỂM SOÁT NGUỒN HÀNG VÀ HÀNG NHẬN</a:t>
            </a:r>
          </a:p>
        </p:txBody>
      </p:sp>
      <p:pic>
        <p:nvPicPr>
          <p:cNvPr id="117" name="Picture 116"/>
          <p:cNvPicPr>
            <a:picLocks noChangeAspect="1"/>
          </p:cNvPicPr>
          <p:nvPr/>
        </p:nvPicPr>
        <p:blipFill>
          <a:blip r:embed="rId3"/>
          <a:stretch/>
        </p:blipFill>
        <p:spPr>
          <a:xfrm>
            <a:off x="742950" y="2781300"/>
            <a:ext cx="5238750" cy="1676400"/>
          </a:xfrm>
          <a:prstGeom prst="rect">
            <a:avLst/>
          </a:prstGeom>
        </p:spPr>
      </p:pic>
      <p:pic>
        <p:nvPicPr>
          <p:cNvPr id="118" name="Picture 117"/>
          <p:cNvPicPr>
            <a:picLocks noChangeAspect="1"/>
          </p:cNvPicPr>
          <p:nvPr/>
        </p:nvPicPr>
        <p:blipFill>
          <a:blip r:embed="rId4"/>
          <a:stretch/>
        </p:blipFill>
        <p:spPr>
          <a:xfrm>
            <a:off x="6267450" y="2776538"/>
            <a:ext cx="5238750" cy="1685925"/>
          </a:xfrm>
          <a:prstGeom prst="rect">
            <a:avLst/>
          </a:prstGeom>
        </p:spPr>
      </p:pic>
      <p:sp>
        <p:nvSpPr>
          <p:cNvPr id="63" name="Content Đủ nguồn → chuẩn bị hàng.&#10;Thiếu ngu">
            <a:extLst>
              <a:ext uri="{FF2B5EF4-FFF2-40B4-BE49-F238E27FC236}">
                <a16:creationId xmlns:a16="http://schemas.microsoft.com/office/drawing/2014/main" id="{D7001FD9-B97E-4CCA-9490-9C095C26F8D0}"/>
              </a:ext>
            </a:extLst>
          </p:cNvPr>
          <p:cNvSpPr>
            <a:spLocks noGrp="1"/>
          </p:cNvSpPr>
          <p:nvPr/>
        </p:nvSpPr>
        <p:spPr>
          <a:xfrm>
            <a:off x="742950" y="5305425"/>
            <a:ext cx="5238750" cy="76200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Đủ nguồn → chuẩn bị hàng.
Thiếu nguồn → điều chuyển hoặc đặt hàng.</a:t>
            </a:r>
          </a:p>
        </p:txBody>
      </p:sp>
      <p:sp>
        <p:nvSpPr>
          <p:cNvPr id="64" name="Content Tách/gộp ba kiểm tra song song.&#10;Sai">
            <a:extLst>
              <a:ext uri="{FF2B5EF4-FFF2-40B4-BE49-F238E27FC236}">
                <a16:creationId xmlns:a16="http://schemas.microsoft.com/office/drawing/2014/main" id="{AFC018F6-6105-44AD-8B5D-6641B9ADD1B6}"/>
              </a:ext>
            </a:extLst>
          </p:cNvPr>
          <p:cNvSpPr>
            <a:spLocks noGrp="1"/>
          </p:cNvSpPr>
          <p:nvPr/>
        </p:nvSpPr>
        <p:spPr>
          <a:xfrm>
            <a:off x="6267450" y="5305425"/>
            <a:ext cx="5238750" cy="76200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Tách/gộp ba kiểm tra song song.
Sai lệch → lập biên bản xử lý.</a:t>
            </a:r>
          </a:p>
        </p:txBody>
      </p:sp>
    </p:spTree>
    <p:extLst>
      <p:ext uri="{BB962C8B-B14F-4D97-AF65-F5344CB8AC3E}">
        <p14:creationId xmlns:p14="http://schemas.microsoft.com/office/powerpoint/2010/main" val="985234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18</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IV. BÁN HÀNG TRỰC TUYẾN</a:t>
            </a:r>
          </a:p>
        </p:txBody>
      </p:sp>
      <p:graphicFrame>
        <p:nvGraphicFramePr>
          <p:cNvPr id="112" name="Table 111"/>
          <p:cNvGraphicFramePr/>
          <p:nvPr/>
        </p:nvGraphicFramePr>
        <p:xfrm>
          <a:off x="742950" y="1714500"/>
          <a:ext cx="10763250" cy="422910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866775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Mô tả quy trình</a:t>
                      </a:r>
                    </a:p>
                  </a:txBody>
                  <a:tcPr anchor="ctr">
                    <a:solidFill>
                      <a:srgbClr val="0B5ED7"/>
                    </a:solidFill>
                  </a:tcPr>
                </a:tc>
                <a:extLst>
                  <a:ext uri="{0D108BD9-81ED-4DB2-BD59-A6C34878D82A}">
                    <a16:rowId xmlns:a16="http://schemas.microsoft.com/office/drawing/2014/main" val="10000"/>
                  </a:ext>
                </a:extLst>
              </a:tr>
              <a:tr h="952500">
                <a:tc>
                  <a:txBody>
                    <a:bodyPr/>
                    <a:lstStyle/>
                    <a:p>
                      <a:pPr algn="l">
                        <a:lnSpc>
                          <a:spcPct val="104000"/>
                        </a:lnSpc>
                        <a:buNone/>
                      </a:pPr>
                      <a:r>
                        <a:rPr sz="1650" b="0">
                          <a:solidFill>
                            <a:srgbClr val="17325C"/>
                          </a:solidFill>
                          <a:latin typeface="Arial"/>
                          <a:ea typeface="Arial"/>
                          <a:cs typeface="Arial"/>
                        </a:rPr>
                        <a:t>Tác nhân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Khách hàng; Hệ thống TMĐT; OMS; Telesales/CSKH; Cửa hàng–Kho; Giao vận–Kế toán/Đối soát; Cổng thanh toán; Công ty tài chính trả góp; Đơn vị vận chuyển đối tác.</a:t>
                      </a:r>
                    </a:p>
                  </a:txBody>
                  <a:tcPr anchor="ctr">
                    <a:solidFill>
                      <a:srgbClr val="FFFFFF"/>
                    </a:solidFill>
                  </a:tcPr>
                </a:tc>
                <a:extLst>
                  <a:ext uri="{0D108BD9-81ED-4DB2-BD59-A6C34878D82A}">
                    <a16:rowId xmlns:a16="http://schemas.microsoft.com/office/drawing/2014/main" val="10001"/>
                  </a:ext>
                </a:extLst>
              </a:tr>
              <a:tr h="49530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Khách hàng đặt mua sản phẩm qua kênh trực tuyến.</a:t>
                      </a:r>
                    </a:p>
                  </a:txBody>
                  <a:tcPr anchor="ctr">
                    <a:solidFill>
                      <a:srgbClr val="F1F6FC"/>
                    </a:solidFill>
                  </a:tcPr>
                </a:tc>
                <a:extLst>
                  <a:ext uri="{0D108BD9-81ED-4DB2-BD59-A6C34878D82A}">
                    <a16:rowId xmlns:a16="http://schemas.microsoft.com/office/drawing/2014/main" val="10002"/>
                  </a:ext>
                </a:extLst>
              </a:tr>
              <a:tr h="781050">
                <a:tc>
                  <a:txBody>
                    <a:bodyPr/>
                    <a:lstStyle/>
                    <a:p>
                      <a:pPr algn="l">
                        <a:lnSpc>
                          <a:spcPct val="104000"/>
                        </a:lnSpc>
                        <a:buNone/>
                      </a:pPr>
                      <a:r>
                        <a:rPr sz="1650" b="0">
                          <a:solidFill>
                            <a:srgbClr val="17325C"/>
                          </a:solidFill>
                          <a:latin typeface="Arial"/>
                          <a:ea typeface="Arial"/>
                          <a:cs typeface="Arial"/>
                        </a:rPr>
                        <a:t>Các bước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Tiếp nhận và tạo đơn → kiểm tồn, điều phối, xác nhận và thanh toán → soạn và xuất kho → giao hàng, đối soát → hậu mãi.</a:t>
                      </a:r>
                    </a:p>
                  </a:txBody>
                  <a:tcPr anchor="ctr">
                    <a:solidFill>
                      <a:srgbClr val="FFFFFF"/>
                    </a:solidFill>
                  </a:tcPr>
                </a:tc>
                <a:extLst>
                  <a:ext uri="{0D108BD9-81ED-4DB2-BD59-A6C34878D82A}">
                    <a16:rowId xmlns:a16="http://schemas.microsoft.com/office/drawing/2014/main" val="10003"/>
                  </a:ext>
                </a:extLst>
              </a:tr>
              <a:tr h="647700">
                <a:tc>
                  <a:txBody>
                    <a:bodyPr/>
                    <a:lstStyle/>
                    <a:p>
                      <a:pPr algn="l">
                        <a:lnSpc>
                          <a:spcPct val="104000"/>
                        </a:lnSpc>
                        <a:buNone/>
                      </a:pPr>
                      <a:r>
                        <a:rPr sz="1650" b="0">
                          <a:solidFill>
                            <a:srgbClr val="17325C"/>
                          </a:solidFill>
                          <a:latin typeface="Arial"/>
                          <a:ea typeface="Arial"/>
                          <a:cs typeface="Arial"/>
                        </a:rPr>
                        <a:t>Giá trị mang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Cung cấp đúng sản phẩm; thuận tiện khi đặt, thanh toán và nhận hàng; bảo đảm quyền lợi hậu mãi.</a:t>
                      </a:r>
                    </a:p>
                  </a:txBody>
                  <a:tcPr anchor="ctr">
                    <a:solidFill>
                      <a:srgbClr val="F1F6FC"/>
                    </a:solidFill>
                  </a:tcPr>
                </a:tc>
                <a:extLst>
                  <a:ext uri="{0D108BD9-81ED-4DB2-BD59-A6C34878D82A}">
                    <a16:rowId xmlns:a16="http://schemas.microsoft.com/office/drawing/2014/main" val="10004"/>
                  </a:ext>
                </a:extLst>
              </a:tr>
              <a:tr h="933450">
                <a:tc>
                  <a:txBody>
                    <a:bodyPr/>
                    <a:lstStyle/>
                    <a:p>
                      <a:pPr algn="l">
                        <a:lnSpc>
                          <a:spcPct val="104000"/>
                        </a:lnSpc>
                        <a:buNone/>
                      </a:pPr>
                      <a:r>
                        <a:rPr sz="1650" b="0">
                          <a:solidFill>
                            <a:srgbClr val="17325C"/>
                          </a:solidFill>
                          <a:latin typeface="Arial"/>
                          <a:ea typeface="Arial"/>
                          <a:cs typeface="Arial"/>
                        </a:rPr>
                        <a:t>Kết quả</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Đơn hoàn tất; đơn bị hủy khi không đủ điều kiện xác nhận/thanh toán; giao thất bại và hoàn hàng.</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19</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TRÌNH BÁN HÀNG TRỰC TUYẾN</a:t>
            </a:r>
          </a:p>
        </p:txBody>
      </p:sp>
      <p:pic>
        <p:nvPicPr>
          <p:cNvPr id="112" name="Picture 111"/>
          <p:cNvPicPr>
            <a:picLocks noChangeAspect="1"/>
          </p:cNvPicPr>
          <p:nvPr/>
        </p:nvPicPr>
        <p:blipFill>
          <a:blip r:embed="rId3"/>
          <a:stretch/>
        </p:blipFill>
        <p:spPr>
          <a:xfrm>
            <a:off x="742950" y="1897856"/>
            <a:ext cx="10763250" cy="3976688"/>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20</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XÁC NHẬN ĐƠN VÀ THANH TOÁN</a:t>
            </a:r>
          </a:p>
        </p:txBody>
      </p:sp>
      <p:pic>
        <p:nvPicPr>
          <p:cNvPr id="112" name="Picture 111"/>
          <p:cNvPicPr>
            <a:picLocks noChangeAspect="1"/>
          </p:cNvPicPr>
          <p:nvPr/>
        </p:nvPicPr>
        <p:blipFill>
          <a:blip r:embed="rId3"/>
          <a:stretch/>
        </p:blipFill>
        <p:spPr>
          <a:xfrm>
            <a:off x="744378" y="2005494"/>
            <a:ext cx="10760393" cy="3628062"/>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21</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GIAO HÀNG, GIAO LẠI VÀ HOÀN HÀNG</a:t>
            </a:r>
          </a:p>
        </p:txBody>
      </p:sp>
      <p:pic>
        <p:nvPicPr>
          <p:cNvPr id="112" name="Picture 111"/>
          <p:cNvPicPr>
            <a:picLocks noChangeAspect="1"/>
          </p:cNvPicPr>
          <p:nvPr/>
        </p:nvPicPr>
        <p:blipFill>
          <a:blip r:embed="rId3"/>
          <a:stretch/>
        </p:blipFill>
        <p:spPr>
          <a:xfrm>
            <a:off x="867221" y="1676582"/>
            <a:ext cx="10514707" cy="4285886"/>
          </a:xfrm>
          <a:prstGeom prst="rect">
            <a:avLst/>
          </a:prstGeom>
        </p:spPr>
      </p:pic>
      <p:sp>
        <p:nvSpPr>
          <p:cNvPr id="6" name="Rectangle 5">
            <a:extLst>
              <a:ext uri="{FF2B5EF4-FFF2-40B4-BE49-F238E27FC236}">
                <a16:creationId xmlns:a16="http://schemas.microsoft.com/office/drawing/2014/main" id="{4B553A73-8498-8037-EC12-49943F5536C1}"/>
              </a:ext>
            </a:extLst>
          </p:cNvPr>
          <p:cNvSpPr/>
          <p:nvPr/>
        </p:nvSpPr>
        <p:spPr>
          <a:xfrm>
            <a:off x="853440" y="1828800"/>
            <a:ext cx="306766" cy="1032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5234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22</a:t>
            </a:r>
          </a:p>
        </p:txBody>
      </p:sp>
      <p:sp>
        <p:nvSpPr>
          <p:cNvPr id="60" name="Rectangle 59">
            <a:extLst>
              <a:ext uri="{FF2B5EF4-FFF2-40B4-BE49-F238E27FC236}">
                <a16:creationId xmlns:a16="http://schemas.microsoft.com/office/drawing/2014/main" id="{D199AF04-C36F-42A3-8005-6684F75C61A7}"/>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CÂU HỎI ĐỊNH TÍNH — BÁN HÀNG TRỰC TUYẾN</a:t>
            </a:r>
          </a:p>
        </p:txBody>
      </p:sp>
      <p:graphicFrame>
        <p:nvGraphicFramePr>
          <p:cNvPr id="112" name="Table 111"/>
          <p:cNvGraphicFramePr/>
          <p:nvPr/>
        </p:nvGraphicFramePr>
        <p:xfrm>
          <a:off x="742950" y="1685925"/>
          <a:ext cx="10763250" cy="4438650"/>
        </p:xfrm>
        <a:graphic>
          <a:graphicData uri="http://schemas.openxmlformats.org/drawingml/2006/table">
            <a:tbl>
              <a:tblPr firstRow="1"/>
              <a:tblGrid>
                <a:gridCol w="5381625">
                  <a:extLst>
                    <a:ext uri="{9D8B030D-6E8A-4147-A177-3AD203B41FA5}">
                      <a16:colId xmlns:a16="http://schemas.microsoft.com/office/drawing/2014/main" val="20000"/>
                    </a:ext>
                  </a:extLst>
                </a:gridCol>
                <a:gridCol w="5381625">
                  <a:extLst>
                    <a:ext uri="{9D8B030D-6E8A-4147-A177-3AD203B41FA5}">
                      <a16:colId xmlns:a16="http://schemas.microsoft.com/office/drawing/2014/main" val="20001"/>
                    </a:ext>
                  </a:extLst>
                </a:gridCol>
              </a:tblGrid>
              <a:tr h="438150">
                <a:tc>
                  <a:txBody>
                    <a:bodyPr/>
                    <a:lstStyle/>
                    <a:p>
                      <a:pPr algn="l">
                        <a:lnSpc>
                          <a:spcPct val="100000"/>
                        </a:lnSpc>
                        <a:buNone/>
                      </a:pPr>
                      <a:r>
                        <a:rPr sz="1650" b="1">
                          <a:solidFill>
                            <a:srgbClr val="FFFFFF"/>
                          </a:solidFill>
                          <a:latin typeface="Arial"/>
                          <a:ea typeface="Arial"/>
                          <a:cs typeface="Arial"/>
                        </a:rPr>
                        <a:t>Có cấu trúc</a:t>
                      </a:r>
                    </a:p>
                  </a:txBody>
                  <a:tcPr>
                    <a:solidFill>
                      <a:srgbClr val="009D9E"/>
                    </a:solidFill>
                  </a:tcPr>
                </a:tc>
                <a:tc>
                  <a:txBody>
                    <a:bodyPr/>
                    <a:lstStyle/>
                    <a:p>
                      <a:pPr algn="l">
                        <a:lnSpc>
                          <a:spcPct val="100000"/>
                        </a:lnSpc>
                        <a:buNone/>
                      </a:pPr>
                      <a:r>
                        <a:rPr sz="1650" b="1">
                          <a:solidFill>
                            <a:srgbClr val="FFFFFF"/>
                          </a:solidFill>
                          <a:latin typeface="Arial"/>
                          <a:ea typeface="Arial"/>
                          <a:cs typeface="Arial"/>
                        </a:rPr>
                        <a:t>Không có cấu trúc</a:t>
                      </a:r>
                    </a:p>
                  </a:txBody>
                  <a:tcPr>
                    <a:solidFill>
                      <a:srgbClr val="009D9E"/>
                    </a:solidFill>
                  </a:tcPr>
                </a:tc>
                <a:extLst>
                  <a:ext uri="{0D108BD9-81ED-4DB2-BD59-A6C34878D82A}">
                    <a16:rowId xmlns:a16="http://schemas.microsoft.com/office/drawing/2014/main" val="10000"/>
                  </a:ext>
                </a:extLst>
              </a:tr>
              <a:tr h="4000500">
                <a:tc>
                  <a:txBody>
                    <a:bodyPr/>
                    <a:lstStyle/>
                    <a:p>
                      <a:pPr algn="l">
                        <a:lnSpc>
                          <a:spcPct val="100000"/>
                        </a:lnSpc>
                        <a:buNone/>
                      </a:pPr>
                      <a:r>
                        <a:rPr sz="1650" b="0">
                          <a:solidFill>
                            <a:srgbClr val="17325C"/>
                          </a:solidFill>
                          <a:latin typeface="Arial"/>
                          <a:ea typeface="Arial"/>
                          <a:cs typeface="Arial"/>
                        </a:rPr>
                        <a:t>1. Có cần gọi xác nhận tất cả đơn hàng, kể cả đơn đã thanh toán online?</a:t>
                      </a:r>
                    </a:p>
                    <a:p>
                      <a:pPr algn="l">
                        <a:lnSpc>
                          <a:spcPct val="100000"/>
                        </a:lnSpc>
                        <a:buNone/>
                      </a:pPr>
                      <a:r>
                        <a:rPr sz="1650" b="0">
                          <a:solidFill>
                            <a:srgbClr val="17325C"/>
                          </a:solidFill>
                          <a:latin typeface="Arial"/>
                          <a:ea typeface="Arial"/>
                          <a:cs typeface="Arial"/>
                        </a:rPr>
                        <a:t>A. Rất cần thiết  B. Cần thiết</a:t>
                      </a:r>
                    </a:p>
                    <a:p>
                      <a:pPr algn="l">
                        <a:lnSpc>
                          <a:spcPct val="100000"/>
                        </a:lnSpc>
                        <a:buNone/>
                      </a:pPr>
                      <a:r>
                        <a:rPr sz="1650" b="0">
                          <a:solidFill>
                            <a:srgbClr val="17325C"/>
                          </a:solidFill>
                          <a:latin typeface="Arial"/>
                          <a:ea typeface="Arial"/>
                          <a:cs typeface="Arial"/>
                        </a:rPr>
                        <a:t>C. Có thể lược bớt với một số đơn</a:t>
                      </a:r>
                    </a:p>
                    <a:p>
                      <a:pPr algn="l">
                        <a:lnSpc>
                          <a:spcPct val="100000"/>
                        </a:lnSpc>
                        <a:buNone/>
                      </a:pPr>
                      <a:r>
                        <a:rPr sz="1650" b="0">
                          <a:solidFill>
                            <a:srgbClr val="17325C"/>
                          </a:solidFill>
                          <a:latin typeface="Arial"/>
                          <a:ea typeface="Arial"/>
                          <a:cs typeface="Arial"/>
                        </a:rPr>
                        <a:t>D. Không cần thiết</a:t>
                      </a:r>
                    </a:p>
                    <a:p>
                      <a:pPr algn="l">
                        <a:lnSpc>
                          <a:spcPct val="100000"/>
                        </a:lnSpc>
                        <a:buNone/>
                      </a:pPr>
                      <a:r>
                        <a:rPr sz="1650" b="0">
                          <a:solidFill>
                            <a:srgbClr val="17325C"/>
                          </a:solidFill>
                          <a:latin typeface="Arial"/>
                          <a:ea typeface="Arial"/>
                          <a:cs typeface="Arial"/>
                        </a:rPr>
                        <a:t>Đối tượng: Ban lãnh đạo/Telesales.</a:t>
                      </a:r>
                    </a:p>
                    <a:p>
                      <a:endParaRPr sz="1650" b="0">
                        <a:solidFill>
                          <a:srgbClr val="17325C"/>
                        </a:solidFill>
                        <a:latin typeface="Arial"/>
                        <a:ea typeface="Arial"/>
                        <a:cs typeface="Arial"/>
                      </a:endParaRPr>
                    </a:p>
                    <a:p>
                      <a:pPr algn="l">
                        <a:lnSpc>
                          <a:spcPct val="100000"/>
                        </a:lnSpc>
                        <a:buNone/>
                      </a:pPr>
                      <a:r>
                        <a:rPr sz="1650" b="0">
                          <a:solidFill>
                            <a:srgbClr val="17325C"/>
                          </a:solidFill>
                          <a:latin typeface="Arial"/>
                          <a:ea typeface="Arial"/>
                          <a:cs typeface="Arial"/>
                        </a:rPr>
                        <a:t>2. Khó khăn khi xử lý đơn online tại cửa hàng? (Chọn tối đa 3)</a:t>
                      </a:r>
                    </a:p>
                    <a:p>
                      <a:pPr algn="l">
                        <a:lnSpc>
                          <a:spcPct val="100000"/>
                        </a:lnSpc>
                        <a:buNone/>
                      </a:pPr>
                      <a:r>
                        <a:rPr sz="1650" b="0">
                          <a:solidFill>
                            <a:srgbClr val="17325C"/>
                          </a:solidFill>
                          <a:latin typeface="Arial"/>
                          <a:ea typeface="Arial"/>
                          <a:cs typeface="Arial"/>
                        </a:rPr>
                        <a:t>A. Đơn đến khi đang phục vụ tại quầy</a:t>
                      </a:r>
                    </a:p>
                    <a:p>
                      <a:pPr algn="l">
                        <a:lnSpc>
                          <a:spcPct val="100000"/>
                        </a:lnSpc>
                        <a:buNone/>
                      </a:pPr>
                      <a:r>
                        <a:rPr sz="1650" b="0">
                          <a:solidFill>
                            <a:srgbClr val="17325C"/>
                          </a:solidFill>
                          <a:latin typeface="Arial"/>
                          <a:ea typeface="Arial"/>
                          <a:cs typeface="Arial"/>
                        </a:rPr>
                        <a:t>B. Tồn kho hệ thống và thực tế sai lệch</a:t>
                      </a:r>
                    </a:p>
                    <a:p>
                      <a:pPr algn="l">
                        <a:lnSpc>
                          <a:spcPct val="100000"/>
                        </a:lnSpc>
                        <a:buNone/>
                      </a:pPr>
                      <a:r>
                        <a:rPr sz="1650" b="0">
                          <a:solidFill>
                            <a:srgbClr val="17325C"/>
                          </a:solidFill>
                          <a:latin typeface="Arial"/>
                          <a:ea typeface="Arial"/>
                          <a:cs typeface="Arial"/>
                        </a:rPr>
                        <a:t>C. Thiếu nhân sự chuyên trách</a:t>
                      </a:r>
                    </a:p>
                    <a:p>
                      <a:pPr algn="l">
                        <a:lnSpc>
                          <a:spcPct val="100000"/>
                        </a:lnSpc>
                        <a:buNone/>
                      </a:pPr>
                      <a:r>
                        <a:rPr sz="1650" b="0">
                          <a:solidFill>
                            <a:srgbClr val="17325C"/>
                          </a:solidFill>
                          <a:latin typeface="Arial"/>
                          <a:ea typeface="Arial"/>
                          <a:cs typeface="Arial"/>
                        </a:rPr>
                        <a:t>D. Sai IMEI/model khi soạn hàng</a:t>
                      </a:r>
                    </a:p>
                    <a:p>
                      <a:pPr algn="l">
                        <a:lnSpc>
                          <a:spcPct val="100000"/>
                        </a:lnSpc>
                        <a:buNone/>
                      </a:pPr>
                      <a:r>
                        <a:rPr sz="1650" b="0">
                          <a:solidFill>
                            <a:srgbClr val="17325C"/>
                          </a:solidFill>
                          <a:latin typeface="Arial"/>
                          <a:ea typeface="Arial"/>
                          <a:cs typeface="Arial"/>
                        </a:rPr>
                        <a:t>E. Thiếu thông tin khách  F. Khác</a:t>
                      </a:r>
                    </a:p>
                    <a:p>
                      <a:pPr algn="l">
                        <a:lnSpc>
                          <a:spcPct val="100000"/>
                        </a:lnSpc>
                        <a:buNone/>
                      </a:pPr>
                      <a:r>
                        <a:rPr sz="1650" b="0">
                          <a:solidFill>
                            <a:srgbClr val="17325C"/>
                          </a:solidFill>
                          <a:latin typeface="Arial"/>
                          <a:ea typeface="Arial"/>
                          <a:cs typeface="Arial"/>
                        </a:rPr>
                        <a:t>Đối tượng: Nhân viên cửa hàng.</a:t>
                      </a:r>
                    </a:p>
                  </a:txBody>
                  <a:tcPr>
                    <a:solidFill>
                      <a:srgbClr val="FFFFFF"/>
                    </a:solidFill>
                  </a:tcPr>
                </a:tc>
                <a:tc>
                  <a:txBody>
                    <a:bodyPr/>
                    <a:lstStyle/>
                    <a:p>
                      <a:pPr algn="l">
                        <a:lnSpc>
                          <a:spcPct val="100000"/>
                        </a:lnSpc>
                        <a:buNone/>
                      </a:pPr>
                      <a:r>
                        <a:rPr sz="1650" b="0">
                          <a:solidFill>
                            <a:srgbClr val="17325C"/>
                          </a:solidFill>
                          <a:latin typeface="Arial"/>
                          <a:ea typeface="Arial"/>
                          <a:cs typeface="Arial"/>
                        </a:rPr>
                        <a:t>6. Năng lực xử lý đơn online có thể mở rộng thế nào khi sản lượng tăng gấp đôi vào đợt khuyến mãi lớn?</a:t>
                      </a:r>
                    </a:p>
                    <a:p>
                      <a:pPr algn="l">
                        <a:lnSpc>
                          <a:spcPct val="100000"/>
                        </a:lnSpc>
                        <a:buNone/>
                      </a:pPr>
                      <a:r>
                        <a:rPr sz="1650" b="0">
                          <a:solidFill>
                            <a:srgbClr val="17325C"/>
                          </a:solidFill>
                          <a:latin typeface="Arial"/>
                          <a:ea typeface="Arial"/>
                          <a:cs typeface="Arial"/>
                        </a:rPr>
                        <a:t>Đối tượng: Ban lãnh đạo.</a:t>
                      </a:r>
                    </a:p>
                    <a:p>
                      <a:endParaRPr sz="1650" b="0">
                        <a:solidFill>
                          <a:srgbClr val="17325C"/>
                        </a:solidFill>
                        <a:latin typeface="Arial"/>
                        <a:ea typeface="Arial"/>
                        <a:cs typeface="Arial"/>
                      </a:endParaRPr>
                    </a:p>
                    <a:p>
                      <a:pPr algn="l">
                        <a:lnSpc>
                          <a:spcPct val="100000"/>
                        </a:lnSpc>
                        <a:buNone/>
                      </a:pPr>
                      <a:r>
                        <a:rPr sz="1650" b="0">
                          <a:solidFill>
                            <a:srgbClr val="17325C"/>
                          </a:solidFill>
                          <a:latin typeface="Arial"/>
                          <a:ea typeface="Arial"/>
                          <a:cs typeface="Arial"/>
                        </a:rPr>
                        <a:t>7. Chia sẻ sự cố đơn hàng nghiêm trọng nhất từng xử lý và cách giải quyết khi đó.</a:t>
                      </a:r>
                    </a:p>
                    <a:p>
                      <a:pPr algn="l">
                        <a:lnSpc>
                          <a:spcPct val="100000"/>
                        </a:lnSpc>
                        <a:buNone/>
                      </a:pPr>
                      <a:r>
                        <a:rPr sz="1650" b="0">
                          <a:solidFill>
                            <a:srgbClr val="17325C"/>
                          </a:solidFill>
                          <a:latin typeface="Arial"/>
                          <a:ea typeface="Arial"/>
                          <a:cs typeface="Arial"/>
                        </a:rPr>
                        <a:t>Đối tượng: Telesales/Giao vận.</a:t>
                      </a:r>
                    </a:p>
                  </a:txBody>
                  <a:tcP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23</a:t>
            </a:r>
          </a:p>
        </p:txBody>
      </p:sp>
      <p:sp>
        <p:nvSpPr>
          <p:cNvPr id="60" name="Rectangle 59">
            <a:extLst>
              <a:ext uri="{FF2B5EF4-FFF2-40B4-BE49-F238E27FC236}">
                <a16:creationId xmlns:a16="http://schemas.microsoft.com/office/drawing/2014/main" id="{D199AF04-C36F-42A3-8005-6684F75C61A7}"/>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CÂU HỎI ĐỊNH TÍNH — BÁN HÀNG TRỰC TUYẾN</a:t>
            </a:r>
          </a:p>
        </p:txBody>
      </p:sp>
      <p:graphicFrame>
        <p:nvGraphicFramePr>
          <p:cNvPr id="112" name="Table 111"/>
          <p:cNvGraphicFramePr/>
          <p:nvPr>
            <p:extLst>
              <p:ext uri="{D42A27DB-BD31-4B8C-83A1-F6EECF244321}">
                <p14:modId xmlns:p14="http://schemas.microsoft.com/office/powerpoint/2010/main" val="1698054606"/>
              </p:ext>
            </p:extLst>
          </p:nvPr>
        </p:nvGraphicFramePr>
        <p:xfrm>
          <a:off x="742950" y="1685925"/>
          <a:ext cx="10763250" cy="4438650"/>
        </p:xfrm>
        <a:graphic>
          <a:graphicData uri="http://schemas.openxmlformats.org/drawingml/2006/table">
            <a:tbl>
              <a:tblPr firstRow="1"/>
              <a:tblGrid>
                <a:gridCol w="5381625">
                  <a:extLst>
                    <a:ext uri="{9D8B030D-6E8A-4147-A177-3AD203B41FA5}">
                      <a16:colId xmlns:a16="http://schemas.microsoft.com/office/drawing/2014/main" val="20000"/>
                    </a:ext>
                  </a:extLst>
                </a:gridCol>
                <a:gridCol w="5381625">
                  <a:extLst>
                    <a:ext uri="{9D8B030D-6E8A-4147-A177-3AD203B41FA5}">
                      <a16:colId xmlns:a16="http://schemas.microsoft.com/office/drawing/2014/main" val="20001"/>
                    </a:ext>
                  </a:extLst>
                </a:gridCol>
              </a:tblGrid>
              <a:tr h="438150">
                <a:tc>
                  <a:txBody>
                    <a:bodyPr/>
                    <a:lstStyle/>
                    <a:p>
                      <a:pPr algn="l">
                        <a:lnSpc>
                          <a:spcPct val="100000"/>
                        </a:lnSpc>
                        <a:buNone/>
                      </a:pPr>
                      <a:r>
                        <a:rPr sz="1650" b="1">
                          <a:solidFill>
                            <a:srgbClr val="FFFFFF"/>
                          </a:solidFill>
                          <a:latin typeface="Arial"/>
                          <a:ea typeface="Arial"/>
                          <a:cs typeface="Arial"/>
                        </a:rPr>
                        <a:t>Có cấu trúc</a:t>
                      </a:r>
                    </a:p>
                  </a:txBody>
                  <a:tcPr>
                    <a:solidFill>
                      <a:srgbClr val="009D9E"/>
                    </a:solidFill>
                  </a:tcPr>
                </a:tc>
                <a:tc>
                  <a:txBody>
                    <a:bodyPr/>
                    <a:lstStyle/>
                    <a:p>
                      <a:pPr algn="l">
                        <a:lnSpc>
                          <a:spcPct val="100000"/>
                        </a:lnSpc>
                        <a:buNone/>
                      </a:pPr>
                      <a:r>
                        <a:rPr sz="1650" b="1">
                          <a:solidFill>
                            <a:srgbClr val="FFFFFF"/>
                          </a:solidFill>
                          <a:latin typeface="Arial"/>
                          <a:ea typeface="Arial"/>
                          <a:cs typeface="Arial"/>
                        </a:rPr>
                        <a:t>Không có cấu trúc</a:t>
                      </a:r>
                    </a:p>
                  </a:txBody>
                  <a:tcPr>
                    <a:solidFill>
                      <a:srgbClr val="009D9E"/>
                    </a:solidFill>
                  </a:tcPr>
                </a:tc>
                <a:extLst>
                  <a:ext uri="{0D108BD9-81ED-4DB2-BD59-A6C34878D82A}">
                    <a16:rowId xmlns:a16="http://schemas.microsoft.com/office/drawing/2014/main" val="10000"/>
                  </a:ext>
                </a:extLst>
              </a:tr>
              <a:tr h="4000500">
                <a:tc>
                  <a:txBody>
                    <a:bodyPr/>
                    <a:lstStyle/>
                    <a:p>
                      <a:pPr algn="l">
                        <a:lnSpc>
                          <a:spcPct val="100000"/>
                        </a:lnSpc>
                        <a:buNone/>
                      </a:pPr>
                      <a:r>
                        <a:rPr sz="1650" b="0" dirty="0">
                          <a:solidFill>
                            <a:srgbClr val="17325C"/>
                          </a:solidFill>
                          <a:latin typeface="Arial"/>
                          <a:ea typeface="Arial"/>
                          <a:cs typeface="Arial"/>
                        </a:rPr>
                        <a:t>3. </a:t>
                      </a:r>
                      <a:r>
                        <a:rPr lang="vi-VN" sz="1650" b="0" dirty="0">
                          <a:solidFill>
                            <a:srgbClr val="17325C"/>
                          </a:solidFill>
                          <a:latin typeface="Arial"/>
                          <a:ea typeface="Arial"/>
                          <a:cs typeface="Arial"/>
                        </a:rPr>
                        <a:t>Theo Anh/Chị, thời gian trung bình để một đơn hàng online nhận được cuộc gọi xác nhận kể từ lúc đặt hàng thuộc khoảng nào?</a:t>
                      </a:r>
                      <a:endParaRPr sz="1650" b="0" dirty="0">
                        <a:solidFill>
                          <a:srgbClr val="17325C"/>
                        </a:solidFill>
                        <a:latin typeface="Arial"/>
                        <a:ea typeface="Arial"/>
                        <a:cs typeface="Arial"/>
                      </a:endParaRPr>
                    </a:p>
                    <a:p>
                      <a:pPr algn="l">
                        <a:lnSpc>
                          <a:spcPct val="100000"/>
                        </a:lnSpc>
                        <a:buNone/>
                      </a:pPr>
                      <a:r>
                        <a:rPr lang="vi-VN" sz="1650" b="0" dirty="0">
                          <a:solidFill>
                            <a:srgbClr val="17325C"/>
                          </a:solidFill>
                          <a:latin typeface="Arial"/>
                          <a:ea typeface="Arial"/>
                          <a:cs typeface="Arial"/>
                        </a:rPr>
                        <a:t>A. Dưới 30 phút  B. 30 phút – dưới 2 giờ  </a:t>
                      </a:r>
                    </a:p>
                    <a:p>
                      <a:pPr algn="l">
                        <a:lnSpc>
                          <a:spcPct val="100000"/>
                        </a:lnSpc>
                        <a:buNone/>
                      </a:pPr>
                      <a:r>
                        <a:rPr lang="vi-VN" sz="1650" b="0" dirty="0">
                          <a:solidFill>
                            <a:srgbClr val="17325C"/>
                          </a:solidFill>
                          <a:latin typeface="Arial"/>
                          <a:ea typeface="Arial"/>
                          <a:cs typeface="Arial"/>
                        </a:rPr>
                        <a:t>C. 2 – dưới 6 giờ  D. Trên 6 giờ</a:t>
                      </a:r>
                    </a:p>
                    <a:p>
                      <a:pPr algn="l">
                        <a:lnSpc>
                          <a:spcPct val="100000"/>
                        </a:lnSpc>
                        <a:buNone/>
                      </a:pPr>
                      <a:r>
                        <a:rPr sz="1650" b="0" dirty="0" err="1">
                          <a:solidFill>
                            <a:srgbClr val="17325C"/>
                          </a:solidFill>
                          <a:latin typeface="Arial"/>
                          <a:ea typeface="Arial"/>
                          <a:cs typeface="Arial"/>
                        </a:rPr>
                        <a:t>Đối</a:t>
                      </a:r>
                      <a:r>
                        <a:rPr sz="1650" b="0" dirty="0">
                          <a:solidFill>
                            <a:srgbClr val="17325C"/>
                          </a:solidFill>
                          <a:latin typeface="Arial"/>
                          <a:ea typeface="Arial"/>
                          <a:cs typeface="Arial"/>
                        </a:rPr>
                        <a:t> </a:t>
                      </a:r>
                      <a:r>
                        <a:rPr sz="1650" b="0" dirty="0" err="1">
                          <a:solidFill>
                            <a:srgbClr val="17325C"/>
                          </a:solidFill>
                          <a:latin typeface="Arial"/>
                          <a:ea typeface="Arial"/>
                          <a:cs typeface="Arial"/>
                        </a:rPr>
                        <a:t>tượng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Telesales</a:t>
                      </a:r>
                      <a:r>
                        <a:rPr sz="1650" b="0" dirty="0">
                          <a:solidFill>
                            <a:srgbClr val="17325C"/>
                          </a:solidFill>
                          <a:latin typeface="Arial"/>
                          <a:ea typeface="Arial"/>
                          <a:cs typeface="Arial"/>
                        </a:rPr>
                        <a:t>.</a:t>
                      </a:r>
                    </a:p>
                    <a:p>
                      <a:endParaRPr sz="1650" b="0" dirty="0">
                        <a:solidFill>
                          <a:srgbClr val="17325C"/>
                        </a:solidFill>
                        <a:latin typeface="Arial"/>
                        <a:ea typeface="Arial"/>
                        <a:cs typeface="Arial"/>
                      </a:endParaRPr>
                    </a:p>
                    <a:p>
                      <a:pPr algn="l">
                        <a:lnSpc>
                          <a:spcPct val="100000"/>
                        </a:lnSpc>
                        <a:buNone/>
                      </a:pPr>
                      <a:r>
                        <a:rPr sz="1650" b="0" dirty="0">
                          <a:solidFill>
                            <a:srgbClr val="17325C"/>
                          </a:solidFill>
                          <a:latin typeface="Arial"/>
                          <a:ea typeface="Arial"/>
                          <a:cs typeface="Arial"/>
                        </a:rPr>
                        <a:t>4. </a:t>
                      </a:r>
                      <a:r>
                        <a:rPr sz="1650" b="0" dirty="0" err="1">
                          <a:solidFill>
                            <a:srgbClr val="17325C"/>
                          </a:solidFill>
                          <a:latin typeface="Arial"/>
                          <a:ea typeface="Arial"/>
                          <a:cs typeface="Arial"/>
                        </a:rPr>
                        <a:t>Có</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đồng</a:t>
                      </a:r>
                      <a:r>
                        <a:rPr sz="1650" b="0" dirty="0">
                          <a:solidFill>
                            <a:srgbClr val="17325C"/>
                          </a:solidFill>
                          <a:latin typeface="Arial"/>
                          <a:ea typeface="Arial"/>
                          <a:cs typeface="Arial"/>
                        </a:rPr>
                        <a:t> ý </a:t>
                      </a:r>
                      <a:r>
                        <a:rPr sz="1650" b="0" dirty="0" err="1">
                          <a:solidFill>
                            <a:srgbClr val="17325C"/>
                          </a:solidFill>
                          <a:latin typeface="Arial"/>
                          <a:ea typeface="Arial"/>
                          <a:cs typeface="Arial"/>
                        </a:rPr>
                        <a:t>phân</a:t>
                      </a:r>
                      <a:r>
                        <a:rPr sz="1650" b="0" dirty="0">
                          <a:solidFill>
                            <a:srgbClr val="17325C"/>
                          </a:solidFill>
                          <a:latin typeface="Arial"/>
                          <a:ea typeface="Arial"/>
                          <a:cs typeface="Arial"/>
                        </a:rPr>
                        <a:t> </a:t>
                      </a:r>
                      <a:r>
                        <a:rPr sz="1650" b="0" dirty="0" err="1">
                          <a:solidFill>
                            <a:srgbClr val="17325C"/>
                          </a:solidFill>
                          <a:latin typeface="Arial"/>
                          <a:ea typeface="Arial"/>
                          <a:cs typeface="Arial"/>
                        </a:rPr>
                        <a:t>tầng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xác</a:t>
                      </a:r>
                      <a:r>
                        <a:rPr sz="1650" b="0" dirty="0">
                          <a:solidFill>
                            <a:srgbClr val="17325C"/>
                          </a:solidFill>
                          <a:latin typeface="Arial"/>
                          <a:ea typeface="Arial"/>
                          <a:cs typeface="Arial"/>
                        </a:rPr>
                        <a:t> </a:t>
                      </a:r>
                      <a:r>
                        <a:rPr sz="1650" b="0" dirty="0" err="1">
                          <a:solidFill>
                            <a:srgbClr val="17325C"/>
                          </a:solidFill>
                          <a:latin typeface="Arial"/>
                          <a:ea typeface="Arial"/>
                          <a:cs typeface="Arial"/>
                        </a:rPr>
                        <a:t>nhận</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đơn</a:t>
                      </a:r>
                      <a:r>
                        <a:rPr sz="1650" b="0" dirty="0">
                          <a:solidFill>
                            <a:srgbClr val="17325C"/>
                          </a:solidFill>
                          <a:latin typeface="Arial"/>
                          <a:ea typeface="Arial"/>
                          <a:cs typeface="Arial"/>
                        </a:rPr>
                        <a:t> </a:t>
                      </a:r>
                      <a:r>
                        <a:rPr sz="1650" b="0" dirty="0" err="1">
                          <a:solidFill>
                            <a:srgbClr val="17325C"/>
                          </a:solidFill>
                          <a:latin typeface="Arial"/>
                          <a:ea typeface="Arial"/>
                          <a:cs typeface="Arial"/>
                        </a:rPr>
                        <a:t>theo</a:t>
                      </a:r>
                      <a:r>
                        <a:rPr sz="1650" b="0" dirty="0">
                          <a:solidFill>
                            <a:srgbClr val="17325C"/>
                          </a:solidFill>
                          <a:latin typeface="Arial"/>
                          <a:ea typeface="Arial"/>
                          <a:cs typeface="Arial"/>
                        </a:rPr>
                        <a:t> </a:t>
                      </a:r>
                      <a:r>
                        <a:rPr sz="1650" b="0" dirty="0" err="1">
                          <a:solidFill>
                            <a:srgbClr val="17325C"/>
                          </a:solidFill>
                          <a:latin typeface="Arial"/>
                          <a:ea typeface="Arial"/>
                          <a:cs typeface="Arial"/>
                        </a:rPr>
                        <a:t>mức</a:t>
                      </a:r>
                      <a:r>
                        <a:rPr sz="1650" b="0" dirty="0">
                          <a:solidFill>
                            <a:srgbClr val="17325C"/>
                          </a:solidFill>
                          <a:latin typeface="Arial"/>
                          <a:ea typeface="Arial"/>
                          <a:cs typeface="Arial"/>
                        </a:rPr>
                        <a:t> </a:t>
                      </a:r>
                      <a:r>
                        <a:rPr sz="1650" b="0" dirty="0" err="1">
                          <a:solidFill>
                            <a:srgbClr val="17325C"/>
                          </a:solidFill>
                          <a:latin typeface="Arial"/>
                          <a:ea typeface="Arial"/>
                          <a:cs typeface="Arial"/>
                        </a:rPr>
                        <a:t>rủi</a:t>
                      </a:r>
                      <a:r>
                        <a:rPr sz="1650" b="0" dirty="0">
                          <a:solidFill>
                            <a:srgbClr val="17325C"/>
                          </a:solidFill>
                          <a:latin typeface="Arial"/>
                          <a:ea typeface="Arial"/>
                          <a:cs typeface="Arial"/>
                        </a:rPr>
                        <a:t> </a:t>
                      </a:r>
                      <a:r>
                        <a:rPr sz="1650" b="0" dirty="0" err="1">
                          <a:solidFill>
                            <a:srgbClr val="17325C"/>
                          </a:solidFill>
                          <a:latin typeface="Arial"/>
                          <a:ea typeface="Arial"/>
                          <a:cs typeface="Arial"/>
                        </a:rPr>
                        <a:t>ro</a:t>
                      </a:r>
                      <a:r>
                        <a:rPr sz="1650" b="0" dirty="0">
                          <a:solidFill>
                            <a:srgbClr val="17325C"/>
                          </a:solidFill>
                          <a:latin typeface="Arial"/>
                          <a:ea typeface="Arial"/>
                          <a:cs typeface="Arial"/>
                        </a:rPr>
                        <a:t> (</a:t>
                      </a:r>
                      <a:r>
                        <a:rPr sz="1650" b="0" dirty="0" err="1">
                          <a:solidFill>
                            <a:srgbClr val="17325C"/>
                          </a:solidFill>
                          <a:latin typeface="Arial"/>
                          <a:ea typeface="Arial"/>
                          <a:cs typeface="Arial"/>
                        </a:rPr>
                        <a:t>giá</a:t>
                      </a:r>
                      <a:r>
                        <a:rPr sz="1650" b="0" dirty="0">
                          <a:solidFill>
                            <a:srgbClr val="17325C"/>
                          </a:solidFill>
                          <a:latin typeface="Arial"/>
                          <a:ea typeface="Arial"/>
                          <a:cs typeface="Arial"/>
                        </a:rPr>
                        <a:t> </a:t>
                      </a:r>
                      <a:r>
                        <a:rPr sz="1650" b="0" dirty="0" err="1">
                          <a:solidFill>
                            <a:srgbClr val="17325C"/>
                          </a:solidFill>
                          <a:latin typeface="Arial"/>
                          <a:ea typeface="Arial"/>
                          <a:cs typeface="Arial"/>
                        </a:rPr>
                        <a:t>trị</a:t>
                      </a:r>
                      <a:r>
                        <a:rPr sz="1650" b="0" dirty="0">
                          <a:solidFill>
                            <a:srgbClr val="17325C"/>
                          </a:solidFill>
                          <a:latin typeface="Arial"/>
                          <a:ea typeface="Arial"/>
                          <a:cs typeface="Arial"/>
                        </a:rPr>
                        <a:t> </a:t>
                      </a:r>
                      <a:r>
                        <a:rPr sz="1650" b="0" dirty="0" err="1">
                          <a:solidFill>
                            <a:srgbClr val="17325C"/>
                          </a:solidFill>
                          <a:latin typeface="Arial"/>
                          <a:ea typeface="Arial"/>
                          <a:cs typeface="Arial"/>
                        </a:rPr>
                        <a:t>nhỏ</a:t>
                      </a:r>
                      <a:r>
                        <a:rPr sz="1650" b="0" dirty="0">
                          <a:solidFill>
                            <a:srgbClr val="17325C"/>
                          </a:solidFill>
                          <a:latin typeface="Arial"/>
                          <a:ea typeface="Arial"/>
                          <a:cs typeface="Arial"/>
                        </a:rPr>
                        <a:t>, </a:t>
                      </a:r>
                      <a:r>
                        <a:rPr sz="1650" b="0" dirty="0" err="1">
                          <a:solidFill>
                            <a:srgbClr val="17325C"/>
                          </a:solidFill>
                          <a:latin typeface="Arial"/>
                          <a:ea typeface="Arial"/>
                          <a:cs typeface="Arial"/>
                        </a:rPr>
                        <a:t>khách</a:t>
                      </a:r>
                      <a:r>
                        <a:rPr sz="1650" b="0" dirty="0">
                          <a:solidFill>
                            <a:srgbClr val="17325C"/>
                          </a:solidFill>
                          <a:latin typeface="Arial"/>
                          <a:ea typeface="Arial"/>
                          <a:cs typeface="Arial"/>
                        </a:rPr>
                        <a:t> </a:t>
                      </a:r>
                      <a:r>
                        <a:rPr sz="1650" b="0" dirty="0" err="1">
                          <a:solidFill>
                            <a:srgbClr val="17325C"/>
                          </a:solidFill>
                          <a:latin typeface="Arial"/>
                          <a:ea typeface="Arial"/>
                          <a:cs typeface="Arial"/>
                        </a:rPr>
                        <a:t>thân</a:t>
                      </a:r>
                      <a:r>
                        <a:rPr sz="1650" b="0" dirty="0">
                          <a:solidFill>
                            <a:srgbClr val="17325C"/>
                          </a:solidFill>
                          <a:latin typeface="Arial"/>
                          <a:ea typeface="Arial"/>
                          <a:cs typeface="Arial"/>
                        </a:rPr>
                        <a:t> </a:t>
                      </a:r>
                      <a:r>
                        <a:rPr sz="1650" b="0" dirty="0" err="1">
                          <a:solidFill>
                            <a:srgbClr val="17325C"/>
                          </a:solidFill>
                          <a:latin typeface="Arial"/>
                          <a:ea typeface="Arial"/>
                          <a:cs typeface="Arial"/>
                        </a:rPr>
                        <a:t>thiết</a:t>
                      </a:r>
                      <a:r>
                        <a:rPr sz="1650" b="0" dirty="0">
                          <a:solidFill>
                            <a:srgbClr val="17325C"/>
                          </a:solidFill>
                          <a:latin typeface="Arial"/>
                          <a:ea typeface="Arial"/>
                          <a:cs typeface="Arial"/>
                        </a:rPr>
                        <a:t>)?</a:t>
                      </a:r>
                    </a:p>
                    <a:p>
                      <a:pPr algn="l">
                        <a:lnSpc>
                          <a:spcPct val="100000"/>
                        </a:lnSpc>
                        <a:buNone/>
                      </a:pPr>
                      <a:r>
                        <a:rPr sz="1650" b="0" dirty="0">
                          <a:solidFill>
                            <a:srgbClr val="17325C"/>
                          </a:solidFill>
                          <a:latin typeface="Arial"/>
                          <a:ea typeface="Arial"/>
                          <a:cs typeface="Arial"/>
                        </a:rPr>
                        <a:t>A. Hoàn </a:t>
                      </a:r>
                      <a:r>
                        <a:rPr sz="1650" b="0" dirty="0" err="1">
                          <a:solidFill>
                            <a:srgbClr val="17325C"/>
                          </a:solidFill>
                          <a:latin typeface="Arial"/>
                          <a:ea typeface="Arial"/>
                          <a:cs typeface="Arial"/>
                        </a:rPr>
                        <a:t>toàn</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đồng</a:t>
                      </a:r>
                      <a:r>
                        <a:rPr sz="1650" b="0" dirty="0">
                          <a:solidFill>
                            <a:srgbClr val="17325C"/>
                          </a:solidFill>
                          <a:latin typeface="Arial"/>
                          <a:ea typeface="Arial"/>
                          <a:cs typeface="Arial"/>
                        </a:rPr>
                        <a:t> ý  B. </a:t>
                      </a:r>
                      <a:r>
                        <a:rPr sz="1650" b="0" dirty="0" err="1">
                          <a:solidFill>
                            <a:srgbClr val="17325C"/>
                          </a:solidFill>
                          <a:latin typeface="Arial"/>
                          <a:ea typeface="Arial"/>
                          <a:cs typeface="Arial"/>
                        </a:rPr>
                        <a:t>Đồng</a:t>
                      </a:r>
                      <a:r>
                        <a:rPr sz="1650" b="0" dirty="0">
                          <a:solidFill>
                            <a:srgbClr val="17325C"/>
                          </a:solidFill>
                          <a:latin typeface="Arial"/>
                          <a:ea typeface="Arial"/>
                          <a:cs typeface="Arial"/>
                        </a:rPr>
                        <a:t> ý</a:t>
                      </a:r>
                    </a:p>
                    <a:p>
                      <a:pPr algn="l">
                        <a:lnSpc>
                          <a:spcPct val="100000"/>
                        </a:lnSpc>
                        <a:buNone/>
                      </a:pPr>
                      <a:r>
                        <a:rPr sz="1650" b="0" dirty="0">
                          <a:solidFill>
                            <a:srgbClr val="17325C"/>
                          </a:solidFill>
                          <a:latin typeface="Arial"/>
                          <a:ea typeface="Arial"/>
                          <a:cs typeface="Arial"/>
                        </a:rPr>
                        <a:t>C. </a:t>
                      </a:r>
                      <a:r>
                        <a:rPr sz="1650" b="0" dirty="0" err="1">
                          <a:solidFill>
                            <a:srgbClr val="17325C"/>
                          </a:solidFill>
                          <a:latin typeface="Arial"/>
                          <a:ea typeface="Arial"/>
                          <a:cs typeface="Arial"/>
                        </a:rPr>
                        <a:t>Phân</a:t>
                      </a:r>
                      <a:r>
                        <a:rPr sz="1650" b="0" dirty="0">
                          <a:solidFill>
                            <a:srgbClr val="17325C"/>
                          </a:solidFill>
                          <a:latin typeface="Arial"/>
                          <a:ea typeface="Arial"/>
                          <a:cs typeface="Arial"/>
                        </a:rPr>
                        <a:t> </a:t>
                      </a:r>
                      <a:r>
                        <a:rPr sz="1650" b="0" dirty="0" err="1">
                          <a:solidFill>
                            <a:srgbClr val="17325C"/>
                          </a:solidFill>
                          <a:latin typeface="Arial"/>
                          <a:ea typeface="Arial"/>
                          <a:cs typeface="Arial"/>
                        </a:rPr>
                        <a:t>vân</a:t>
                      </a:r>
                      <a:r>
                        <a:rPr sz="1650" b="0" dirty="0">
                          <a:solidFill>
                            <a:srgbClr val="17325C"/>
                          </a:solidFill>
                          <a:latin typeface="Arial"/>
                          <a:ea typeface="Arial"/>
                          <a:cs typeface="Arial"/>
                        </a:rPr>
                        <a:t>  D. </a:t>
                      </a:r>
                      <a:r>
                        <a:rPr sz="1650" b="0" dirty="0" err="1">
                          <a:solidFill>
                            <a:srgbClr val="17325C"/>
                          </a:solidFill>
                          <a:latin typeface="Arial"/>
                          <a:ea typeface="Arial"/>
                          <a:cs typeface="Arial"/>
                        </a:rPr>
                        <a:t>Không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đồng</a:t>
                      </a:r>
                      <a:r>
                        <a:rPr sz="1650" b="0" dirty="0">
                          <a:solidFill>
                            <a:srgbClr val="17325C"/>
                          </a:solidFill>
                          <a:latin typeface="Arial"/>
                          <a:ea typeface="Arial"/>
                          <a:cs typeface="Arial"/>
                        </a:rPr>
                        <a:t> ý</a:t>
                      </a:r>
                    </a:p>
                    <a:p>
                      <a:pPr algn="l">
                        <a:lnSpc>
                          <a:spcPct val="100000"/>
                        </a:lnSpc>
                        <a:buNone/>
                      </a:pPr>
                      <a:r>
                        <a:rPr sz="1650" b="0" dirty="0" err="1">
                          <a:solidFill>
                            <a:srgbClr val="17325C"/>
                          </a:solidFill>
                          <a:latin typeface="Arial"/>
                          <a:ea typeface="Arial"/>
                          <a:cs typeface="Arial"/>
                        </a:rPr>
                        <a:t>Đối</a:t>
                      </a:r>
                      <a:r>
                        <a:rPr sz="1650" b="0" dirty="0">
                          <a:solidFill>
                            <a:srgbClr val="17325C"/>
                          </a:solidFill>
                          <a:latin typeface="Arial"/>
                          <a:ea typeface="Arial"/>
                          <a:cs typeface="Arial"/>
                        </a:rPr>
                        <a:t> </a:t>
                      </a:r>
                      <a:r>
                        <a:rPr sz="1650" b="0" dirty="0" err="1">
                          <a:solidFill>
                            <a:srgbClr val="17325C"/>
                          </a:solidFill>
                          <a:latin typeface="Arial"/>
                          <a:ea typeface="Arial"/>
                          <a:cs typeface="Arial"/>
                        </a:rPr>
                        <a:t>tượng</a:t>
                      </a:r>
                      <a:r>
                        <a:rPr sz="1650" b="0" dirty="0">
                          <a:solidFill>
                            <a:srgbClr val="17325C"/>
                          </a:solidFill>
                          <a:latin typeface="Arial"/>
                          <a:ea typeface="Arial"/>
                          <a:cs typeface="Arial"/>
                        </a:rPr>
                        <a:t>: Ban </a:t>
                      </a:r>
                      <a:r>
                        <a:rPr sz="1650" b="0" dirty="0" err="1">
                          <a:solidFill>
                            <a:srgbClr val="17325C"/>
                          </a:solidFill>
                          <a:latin typeface="Arial"/>
                          <a:ea typeface="Arial"/>
                          <a:cs typeface="Arial"/>
                        </a:rPr>
                        <a:t>lãnh</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đạo</a:t>
                      </a:r>
                      <a:r>
                        <a:rPr sz="1650" b="0" dirty="0">
                          <a:solidFill>
                            <a:srgbClr val="17325C"/>
                          </a:solidFill>
                          <a:latin typeface="Arial"/>
                          <a:ea typeface="Arial"/>
                          <a:cs typeface="Arial"/>
                        </a:rPr>
                        <a:t>/CNTT.</a:t>
                      </a:r>
                    </a:p>
                  </a:txBody>
                  <a:tcPr>
                    <a:solidFill>
                      <a:srgbClr val="FFFFFF"/>
                    </a:solidFill>
                  </a:tcPr>
                </a:tc>
                <a:tc>
                  <a:txBody>
                    <a:bodyPr/>
                    <a:lstStyle/>
                    <a:p>
                      <a:pPr algn="l">
                        <a:lnSpc>
                          <a:spcPct val="100000"/>
                        </a:lnSpc>
                        <a:buNone/>
                      </a:pPr>
                      <a:r>
                        <a:rPr sz="1650" b="0" dirty="0">
                          <a:solidFill>
                            <a:srgbClr val="17325C"/>
                          </a:solidFill>
                          <a:latin typeface="Arial"/>
                          <a:ea typeface="Arial"/>
                          <a:cs typeface="Arial"/>
                        </a:rPr>
                        <a:t>8. </a:t>
                      </a:r>
                      <a:r>
                        <a:rPr sz="1650" b="0" dirty="0" err="1">
                          <a:solidFill>
                            <a:srgbClr val="17325C"/>
                          </a:solidFill>
                          <a:latin typeface="Arial"/>
                          <a:ea typeface="Arial"/>
                          <a:cs typeface="Arial"/>
                        </a:rPr>
                        <a:t>Khâu</a:t>
                      </a:r>
                      <a:r>
                        <a:rPr sz="1650" b="0" dirty="0">
                          <a:solidFill>
                            <a:srgbClr val="17325C"/>
                          </a:solidFill>
                          <a:latin typeface="Arial"/>
                          <a:ea typeface="Arial"/>
                          <a:cs typeface="Arial"/>
                        </a:rPr>
                        <a:t> </a:t>
                      </a:r>
                      <a:r>
                        <a:rPr sz="1650" b="0" dirty="0" err="1">
                          <a:solidFill>
                            <a:srgbClr val="17325C"/>
                          </a:solidFill>
                          <a:latin typeface="Arial"/>
                          <a:ea typeface="Arial"/>
                          <a:cs typeface="Arial"/>
                        </a:rPr>
                        <a:t>nào</a:t>
                      </a:r>
                      <a:r>
                        <a:rPr sz="1650" b="0" dirty="0">
                          <a:solidFill>
                            <a:srgbClr val="17325C"/>
                          </a:solidFill>
                          <a:latin typeface="Arial"/>
                          <a:ea typeface="Arial"/>
                          <a:cs typeface="Arial"/>
                        </a:rPr>
                        <a:t> </a:t>
                      </a:r>
                      <a:r>
                        <a:rPr sz="1650" b="0" dirty="0" err="1">
                          <a:solidFill>
                            <a:srgbClr val="17325C"/>
                          </a:solidFill>
                          <a:latin typeface="Arial"/>
                          <a:ea typeface="Arial"/>
                          <a:cs typeface="Arial"/>
                        </a:rPr>
                        <a:t>trong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xử</a:t>
                      </a:r>
                      <a:r>
                        <a:rPr sz="1650" b="0" dirty="0">
                          <a:solidFill>
                            <a:srgbClr val="17325C"/>
                          </a:solidFill>
                          <a:latin typeface="Arial"/>
                          <a:ea typeface="Arial"/>
                          <a:cs typeface="Arial"/>
                        </a:rPr>
                        <a:t> </a:t>
                      </a:r>
                      <a:r>
                        <a:rPr sz="1650" b="0" dirty="0" err="1">
                          <a:solidFill>
                            <a:srgbClr val="17325C"/>
                          </a:solidFill>
                          <a:latin typeface="Arial"/>
                          <a:ea typeface="Arial"/>
                          <a:cs typeface="Arial"/>
                        </a:rPr>
                        <a:t>lý</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đơn</a:t>
                      </a:r>
                      <a:r>
                        <a:rPr sz="1650" b="0" dirty="0">
                          <a:solidFill>
                            <a:srgbClr val="17325C"/>
                          </a:solidFill>
                          <a:latin typeface="Arial"/>
                          <a:ea typeface="Arial"/>
                          <a:cs typeface="Arial"/>
                        </a:rPr>
                        <a:t> online </a:t>
                      </a:r>
                      <a:r>
                        <a:rPr sz="1650" b="0" dirty="0" err="1">
                          <a:solidFill>
                            <a:srgbClr val="17325C"/>
                          </a:solidFill>
                          <a:latin typeface="Arial"/>
                          <a:ea typeface="Arial"/>
                          <a:cs typeface="Arial"/>
                        </a:rPr>
                        <a:t>tại</a:t>
                      </a:r>
                      <a:r>
                        <a:rPr sz="1650" b="0" dirty="0">
                          <a:solidFill>
                            <a:srgbClr val="17325C"/>
                          </a:solidFill>
                          <a:latin typeface="Arial"/>
                          <a:ea typeface="Arial"/>
                          <a:cs typeface="Arial"/>
                        </a:rPr>
                        <a:t> </a:t>
                      </a:r>
                      <a:r>
                        <a:rPr sz="1650" b="0" dirty="0" err="1">
                          <a:solidFill>
                            <a:srgbClr val="17325C"/>
                          </a:solidFill>
                          <a:latin typeface="Arial"/>
                          <a:ea typeface="Arial"/>
                          <a:cs typeface="Arial"/>
                        </a:rPr>
                        <a:t>cửa</a:t>
                      </a:r>
                      <a:r>
                        <a:rPr sz="1650" b="0" dirty="0">
                          <a:solidFill>
                            <a:srgbClr val="17325C"/>
                          </a:solidFill>
                          <a:latin typeface="Arial"/>
                          <a:ea typeface="Arial"/>
                          <a:cs typeface="Arial"/>
                        </a:rPr>
                        <a:t> </a:t>
                      </a:r>
                      <a:r>
                        <a:rPr sz="1650" b="0" dirty="0" err="1">
                          <a:solidFill>
                            <a:srgbClr val="17325C"/>
                          </a:solidFill>
                          <a:latin typeface="Arial"/>
                          <a:ea typeface="Arial"/>
                          <a:cs typeface="Arial"/>
                        </a:rPr>
                        <a:t>hàng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cần</a:t>
                      </a:r>
                      <a:r>
                        <a:rPr sz="1650" b="0" dirty="0">
                          <a:solidFill>
                            <a:srgbClr val="17325C"/>
                          </a:solidFill>
                          <a:latin typeface="Arial"/>
                          <a:ea typeface="Arial"/>
                          <a:cs typeface="Arial"/>
                        </a:rPr>
                        <a:t> </a:t>
                      </a:r>
                      <a:r>
                        <a:rPr sz="1650" b="0" dirty="0" err="1">
                          <a:solidFill>
                            <a:srgbClr val="17325C"/>
                          </a:solidFill>
                          <a:latin typeface="Arial"/>
                          <a:ea typeface="Arial"/>
                          <a:cs typeface="Arial"/>
                        </a:rPr>
                        <a:t>cải</a:t>
                      </a:r>
                      <a:r>
                        <a:rPr sz="1650" b="0" dirty="0">
                          <a:solidFill>
                            <a:srgbClr val="17325C"/>
                          </a:solidFill>
                          <a:latin typeface="Arial"/>
                          <a:ea typeface="Arial"/>
                          <a:cs typeface="Arial"/>
                        </a:rPr>
                        <a:t> </a:t>
                      </a:r>
                      <a:r>
                        <a:rPr sz="1650" b="0" dirty="0" err="1">
                          <a:solidFill>
                            <a:srgbClr val="17325C"/>
                          </a:solidFill>
                          <a:latin typeface="Arial"/>
                          <a:ea typeface="Arial"/>
                          <a:cs typeface="Arial"/>
                        </a:rPr>
                        <a:t>tiến</a:t>
                      </a:r>
                      <a:r>
                        <a:rPr sz="1650" b="0" dirty="0">
                          <a:solidFill>
                            <a:srgbClr val="17325C"/>
                          </a:solidFill>
                          <a:latin typeface="Arial"/>
                          <a:ea typeface="Arial"/>
                          <a:cs typeface="Arial"/>
                        </a:rPr>
                        <a:t> </a:t>
                      </a:r>
                      <a:r>
                        <a:rPr sz="1650" b="0" dirty="0" err="1">
                          <a:solidFill>
                            <a:srgbClr val="17325C"/>
                          </a:solidFill>
                          <a:latin typeface="Arial"/>
                          <a:ea typeface="Arial"/>
                          <a:cs typeface="Arial"/>
                        </a:rPr>
                        <a:t>nhất</a:t>
                      </a:r>
                      <a:r>
                        <a:rPr sz="1650" b="0" dirty="0">
                          <a:solidFill>
                            <a:srgbClr val="17325C"/>
                          </a:solidFill>
                          <a:latin typeface="Arial"/>
                          <a:ea typeface="Arial"/>
                          <a:cs typeface="Arial"/>
                        </a:rPr>
                        <a:t>? </a:t>
                      </a:r>
                      <a:r>
                        <a:rPr sz="1650" b="0" dirty="0" err="1">
                          <a:solidFill>
                            <a:srgbClr val="17325C"/>
                          </a:solidFill>
                          <a:latin typeface="Arial"/>
                          <a:ea typeface="Arial"/>
                          <a:cs typeface="Arial"/>
                        </a:rPr>
                        <a:t>Vì</a:t>
                      </a:r>
                      <a:r>
                        <a:rPr sz="1650" b="0" dirty="0">
                          <a:solidFill>
                            <a:srgbClr val="17325C"/>
                          </a:solidFill>
                          <a:latin typeface="Arial"/>
                          <a:ea typeface="Arial"/>
                          <a:cs typeface="Arial"/>
                        </a:rPr>
                        <a:t> </a:t>
                      </a:r>
                      <a:r>
                        <a:rPr sz="1650" b="0" dirty="0" err="1">
                          <a:solidFill>
                            <a:srgbClr val="17325C"/>
                          </a:solidFill>
                          <a:latin typeface="Arial"/>
                          <a:ea typeface="Arial"/>
                          <a:cs typeface="Arial"/>
                        </a:rPr>
                        <a:t>sao</a:t>
                      </a:r>
                      <a:r>
                        <a:rPr sz="1650" b="0" dirty="0">
                          <a:solidFill>
                            <a:srgbClr val="17325C"/>
                          </a:solidFill>
                          <a:latin typeface="Arial"/>
                          <a:ea typeface="Arial"/>
                          <a:cs typeface="Arial"/>
                        </a:rPr>
                        <a:t>?</a:t>
                      </a:r>
                    </a:p>
                    <a:p>
                      <a:pPr algn="l">
                        <a:lnSpc>
                          <a:spcPct val="100000"/>
                        </a:lnSpc>
                        <a:buNone/>
                      </a:pPr>
                      <a:r>
                        <a:rPr sz="1650" b="0" dirty="0" err="1">
                          <a:solidFill>
                            <a:srgbClr val="17325C"/>
                          </a:solidFill>
                          <a:latin typeface="Arial"/>
                          <a:ea typeface="Arial"/>
                          <a:cs typeface="Arial"/>
                        </a:rPr>
                        <a:t>Đối</a:t>
                      </a:r>
                      <a:r>
                        <a:rPr sz="1650" b="0" dirty="0">
                          <a:solidFill>
                            <a:srgbClr val="17325C"/>
                          </a:solidFill>
                          <a:latin typeface="Arial"/>
                          <a:ea typeface="Arial"/>
                          <a:cs typeface="Arial"/>
                        </a:rPr>
                        <a:t> </a:t>
                      </a:r>
                      <a:r>
                        <a:rPr sz="1650" b="0" dirty="0" err="1">
                          <a:solidFill>
                            <a:srgbClr val="17325C"/>
                          </a:solidFill>
                          <a:latin typeface="Arial"/>
                          <a:ea typeface="Arial"/>
                          <a:cs typeface="Arial"/>
                        </a:rPr>
                        <a:t>tượng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Nhân</a:t>
                      </a:r>
                      <a:r>
                        <a:rPr sz="1650" b="0" dirty="0">
                          <a:solidFill>
                            <a:srgbClr val="17325C"/>
                          </a:solidFill>
                          <a:latin typeface="Arial"/>
                          <a:ea typeface="Arial"/>
                          <a:cs typeface="Arial"/>
                        </a:rPr>
                        <a:t> </a:t>
                      </a:r>
                      <a:r>
                        <a:rPr sz="1650" b="0" dirty="0" err="1">
                          <a:solidFill>
                            <a:srgbClr val="17325C"/>
                          </a:solidFill>
                          <a:latin typeface="Arial"/>
                          <a:ea typeface="Arial"/>
                          <a:cs typeface="Arial"/>
                        </a:rPr>
                        <a:t>viên</a:t>
                      </a:r>
                      <a:r>
                        <a:rPr sz="1650" b="0" dirty="0">
                          <a:solidFill>
                            <a:srgbClr val="17325C"/>
                          </a:solidFill>
                          <a:latin typeface="Arial"/>
                          <a:ea typeface="Arial"/>
                          <a:cs typeface="Arial"/>
                        </a:rPr>
                        <a:t> </a:t>
                      </a:r>
                      <a:r>
                        <a:rPr sz="1650" b="0" dirty="0" err="1">
                          <a:solidFill>
                            <a:srgbClr val="17325C"/>
                          </a:solidFill>
                          <a:latin typeface="Arial"/>
                          <a:ea typeface="Arial"/>
                          <a:cs typeface="Arial"/>
                        </a:rPr>
                        <a:t>cửa</a:t>
                      </a:r>
                      <a:r>
                        <a:rPr sz="1650" b="0" dirty="0">
                          <a:solidFill>
                            <a:srgbClr val="17325C"/>
                          </a:solidFill>
                          <a:latin typeface="Arial"/>
                          <a:ea typeface="Arial"/>
                          <a:cs typeface="Arial"/>
                        </a:rPr>
                        <a:t> </a:t>
                      </a:r>
                      <a:r>
                        <a:rPr sz="1650" b="0" dirty="0" err="1">
                          <a:solidFill>
                            <a:srgbClr val="17325C"/>
                          </a:solidFill>
                          <a:latin typeface="Arial"/>
                          <a:ea typeface="Arial"/>
                          <a:cs typeface="Arial"/>
                        </a:rPr>
                        <a:t>hàng</a:t>
                      </a:r>
                      <a:r>
                        <a:rPr sz="1650" b="0" dirty="0">
                          <a:solidFill>
                            <a:srgbClr val="17325C"/>
                          </a:solidFill>
                          <a:latin typeface="Arial"/>
                          <a:ea typeface="Arial"/>
                          <a:cs typeface="Arial"/>
                        </a:rPr>
                        <a:t>.</a:t>
                      </a:r>
                    </a:p>
                    <a:p>
                      <a:endParaRPr sz="1650" b="0" dirty="0">
                        <a:solidFill>
                          <a:srgbClr val="17325C"/>
                        </a:solidFill>
                        <a:latin typeface="Arial"/>
                        <a:ea typeface="Arial"/>
                        <a:cs typeface="Arial"/>
                      </a:endParaRPr>
                    </a:p>
                    <a:p>
                      <a:pPr algn="l">
                        <a:lnSpc>
                          <a:spcPct val="100000"/>
                        </a:lnSpc>
                        <a:buNone/>
                      </a:pPr>
                      <a:r>
                        <a:rPr sz="1650" b="0" dirty="0">
                          <a:solidFill>
                            <a:srgbClr val="17325C"/>
                          </a:solidFill>
                          <a:latin typeface="Arial"/>
                          <a:ea typeface="Arial"/>
                          <a:cs typeface="Arial"/>
                        </a:rPr>
                        <a:t>9. </a:t>
                      </a:r>
                      <a:r>
                        <a:rPr sz="1650" b="0" dirty="0" err="1">
                          <a:solidFill>
                            <a:srgbClr val="17325C"/>
                          </a:solidFill>
                          <a:latin typeface="Arial"/>
                          <a:ea typeface="Arial"/>
                          <a:cs typeface="Arial"/>
                        </a:rPr>
                        <a:t>Khách</a:t>
                      </a:r>
                      <a:r>
                        <a:rPr sz="1650" b="0" dirty="0">
                          <a:solidFill>
                            <a:srgbClr val="17325C"/>
                          </a:solidFill>
                          <a:latin typeface="Arial"/>
                          <a:ea typeface="Arial"/>
                          <a:cs typeface="Arial"/>
                        </a:rPr>
                        <a:t> </a:t>
                      </a:r>
                      <a:r>
                        <a:rPr sz="1650" b="0" dirty="0" err="1">
                          <a:solidFill>
                            <a:srgbClr val="17325C"/>
                          </a:solidFill>
                          <a:latin typeface="Arial"/>
                          <a:ea typeface="Arial"/>
                          <a:cs typeface="Arial"/>
                        </a:rPr>
                        <a:t>hàng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phản</a:t>
                      </a:r>
                      <a:r>
                        <a:rPr sz="1650" b="0" dirty="0">
                          <a:solidFill>
                            <a:srgbClr val="17325C"/>
                          </a:solidFill>
                          <a:latin typeface="Arial"/>
                          <a:ea typeface="Arial"/>
                          <a:cs typeface="Arial"/>
                        </a:rPr>
                        <a:t> </a:t>
                      </a:r>
                      <a:r>
                        <a:rPr sz="1650" b="0" dirty="0" err="1">
                          <a:solidFill>
                            <a:srgbClr val="17325C"/>
                          </a:solidFill>
                          <a:latin typeface="Arial"/>
                          <a:ea typeface="Arial"/>
                          <a:cs typeface="Arial"/>
                        </a:rPr>
                        <a:t>hồi</a:t>
                      </a:r>
                      <a:r>
                        <a:rPr sz="1650" b="0" dirty="0">
                          <a:solidFill>
                            <a:srgbClr val="17325C"/>
                          </a:solidFill>
                          <a:latin typeface="Arial"/>
                          <a:ea typeface="Arial"/>
                          <a:cs typeface="Arial"/>
                        </a:rPr>
                        <a:t> </a:t>
                      </a:r>
                      <a:r>
                        <a:rPr sz="1650" b="0" dirty="0" err="1">
                          <a:solidFill>
                            <a:srgbClr val="17325C"/>
                          </a:solidFill>
                          <a:latin typeface="Arial"/>
                          <a:ea typeface="Arial"/>
                          <a:cs typeface="Arial"/>
                        </a:rPr>
                        <a:t>gì</a:t>
                      </a:r>
                      <a:r>
                        <a:rPr sz="1650" b="0" dirty="0">
                          <a:solidFill>
                            <a:srgbClr val="17325C"/>
                          </a:solidFill>
                          <a:latin typeface="Arial"/>
                          <a:ea typeface="Arial"/>
                          <a:cs typeface="Arial"/>
                        </a:rPr>
                        <a:t> </a:t>
                      </a:r>
                      <a:r>
                        <a:rPr sz="1650" b="0" dirty="0" err="1">
                          <a:solidFill>
                            <a:srgbClr val="17325C"/>
                          </a:solidFill>
                          <a:latin typeface="Arial"/>
                          <a:ea typeface="Arial"/>
                          <a:cs typeface="Arial"/>
                        </a:rPr>
                        <a:t>về</a:t>
                      </a:r>
                      <a:r>
                        <a:rPr sz="1650" b="0" dirty="0">
                          <a:solidFill>
                            <a:srgbClr val="17325C"/>
                          </a:solidFill>
                          <a:latin typeface="Arial"/>
                          <a:ea typeface="Arial"/>
                          <a:cs typeface="Arial"/>
                        </a:rPr>
                        <a:t> </a:t>
                      </a:r>
                      <a:r>
                        <a:rPr sz="1650" b="0" dirty="0" err="1">
                          <a:solidFill>
                            <a:srgbClr val="17325C"/>
                          </a:solidFill>
                          <a:latin typeface="Arial"/>
                          <a:ea typeface="Arial"/>
                          <a:cs typeface="Arial"/>
                        </a:rPr>
                        <a:t>trải</a:t>
                      </a:r>
                      <a:r>
                        <a:rPr sz="1650" b="0" dirty="0">
                          <a:solidFill>
                            <a:srgbClr val="17325C"/>
                          </a:solidFill>
                          <a:latin typeface="Arial"/>
                          <a:ea typeface="Arial"/>
                          <a:cs typeface="Arial"/>
                        </a:rPr>
                        <a:t> </a:t>
                      </a:r>
                      <a:r>
                        <a:rPr sz="1650" b="0" dirty="0" err="1">
                          <a:solidFill>
                            <a:srgbClr val="17325C"/>
                          </a:solidFill>
                          <a:latin typeface="Arial"/>
                          <a:ea typeface="Arial"/>
                          <a:cs typeface="Arial"/>
                        </a:rPr>
                        <a:t>nghiệm</a:t>
                      </a:r>
                      <a:r>
                        <a:rPr sz="1650" b="0" dirty="0">
                          <a:solidFill>
                            <a:srgbClr val="17325C"/>
                          </a:solidFill>
                          <a:latin typeface="Arial"/>
                          <a:ea typeface="Arial"/>
                          <a:cs typeface="Arial"/>
                        </a:rPr>
                        <a:t> </a:t>
                      </a:r>
                      <a:r>
                        <a:rPr sz="1650" b="0" dirty="0" err="1">
                          <a:solidFill>
                            <a:srgbClr val="17325C"/>
                          </a:solidFill>
                          <a:latin typeface="Arial"/>
                          <a:ea typeface="Arial"/>
                          <a:cs typeface="Arial"/>
                        </a:rPr>
                        <a:t>chờ</a:t>
                      </a:r>
                      <a:r>
                        <a:rPr sz="1650" b="0" dirty="0">
                          <a:solidFill>
                            <a:srgbClr val="17325C"/>
                          </a:solidFill>
                          <a:latin typeface="Arial"/>
                          <a:ea typeface="Arial"/>
                          <a:cs typeface="Arial"/>
                        </a:rPr>
                        <a:t> </a:t>
                      </a:r>
                      <a:r>
                        <a:rPr sz="1650" b="0" dirty="0" err="1">
                          <a:solidFill>
                            <a:srgbClr val="17325C"/>
                          </a:solidFill>
                          <a:latin typeface="Arial"/>
                          <a:ea typeface="Arial"/>
                          <a:cs typeface="Arial"/>
                        </a:rPr>
                        <a:t>xác</a:t>
                      </a:r>
                      <a:r>
                        <a:rPr sz="1650" b="0" dirty="0">
                          <a:solidFill>
                            <a:srgbClr val="17325C"/>
                          </a:solidFill>
                          <a:latin typeface="Arial"/>
                          <a:ea typeface="Arial"/>
                          <a:cs typeface="Arial"/>
                        </a:rPr>
                        <a:t> </a:t>
                      </a:r>
                      <a:r>
                        <a:rPr sz="1650" b="0" dirty="0" err="1">
                          <a:solidFill>
                            <a:srgbClr val="17325C"/>
                          </a:solidFill>
                          <a:latin typeface="Arial"/>
                          <a:ea typeface="Arial"/>
                          <a:cs typeface="Arial"/>
                        </a:rPr>
                        <a:t>nhận</a:t>
                      </a:r>
                      <a:r>
                        <a:rPr sz="1650" b="0" dirty="0">
                          <a:solidFill>
                            <a:srgbClr val="17325C"/>
                          </a:solidFill>
                          <a:latin typeface="Arial"/>
                          <a:ea typeface="Arial"/>
                          <a:cs typeface="Arial"/>
                        </a:rPr>
                        <a:t> </a:t>
                      </a:r>
                      <a:r>
                        <a:rPr sz="1650" b="0" dirty="0" err="1">
                          <a:solidFill>
                            <a:srgbClr val="17325C"/>
                          </a:solidFill>
                          <a:latin typeface="Arial"/>
                          <a:ea typeface="Arial"/>
                          <a:cs typeface="Arial"/>
                        </a:rPr>
                        <a:t>và</a:t>
                      </a:r>
                      <a:r>
                        <a:rPr sz="1650" b="0" dirty="0">
                          <a:solidFill>
                            <a:srgbClr val="17325C"/>
                          </a:solidFill>
                          <a:latin typeface="Arial"/>
                          <a:ea typeface="Arial"/>
                          <a:cs typeface="Arial"/>
                        </a:rPr>
                        <a:t> </a:t>
                      </a:r>
                      <a:r>
                        <a:rPr sz="1650" b="0" dirty="0" err="1">
                          <a:solidFill>
                            <a:srgbClr val="17325C"/>
                          </a:solidFill>
                          <a:latin typeface="Arial"/>
                          <a:ea typeface="Arial"/>
                          <a:cs typeface="Arial"/>
                        </a:rPr>
                        <a:t>nhận</a:t>
                      </a:r>
                      <a:r>
                        <a:rPr sz="1650" b="0" dirty="0">
                          <a:solidFill>
                            <a:srgbClr val="17325C"/>
                          </a:solidFill>
                          <a:latin typeface="Arial"/>
                          <a:ea typeface="Arial"/>
                          <a:cs typeface="Arial"/>
                        </a:rPr>
                        <a:t> </a:t>
                      </a:r>
                      <a:r>
                        <a:rPr sz="1650" b="0" dirty="0" err="1">
                          <a:solidFill>
                            <a:srgbClr val="17325C"/>
                          </a:solidFill>
                          <a:latin typeface="Arial"/>
                          <a:ea typeface="Arial"/>
                          <a:cs typeface="Arial"/>
                        </a:rPr>
                        <a:t>hàng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trực</a:t>
                      </a:r>
                      <a:r>
                        <a:rPr sz="1650" b="0" dirty="0">
                          <a:solidFill>
                            <a:srgbClr val="17325C"/>
                          </a:solidFill>
                          <a:latin typeface="Arial"/>
                          <a:ea typeface="Arial"/>
                          <a:cs typeface="Arial"/>
                        </a:rPr>
                        <a:t> </a:t>
                      </a:r>
                      <a:r>
                        <a:rPr sz="1650" b="0" dirty="0" err="1">
                          <a:solidFill>
                            <a:srgbClr val="17325C"/>
                          </a:solidFill>
                          <a:latin typeface="Arial"/>
                          <a:ea typeface="Arial"/>
                          <a:cs typeface="Arial"/>
                        </a:rPr>
                        <a:t>tuyến</a:t>
                      </a:r>
                      <a:r>
                        <a:rPr sz="1650" b="0" dirty="0">
                          <a:solidFill>
                            <a:srgbClr val="17325C"/>
                          </a:solidFill>
                          <a:latin typeface="Arial"/>
                          <a:ea typeface="Arial"/>
                          <a:cs typeface="Arial"/>
                        </a:rPr>
                        <a:t>?</a:t>
                      </a:r>
                    </a:p>
                    <a:p>
                      <a:pPr algn="l">
                        <a:lnSpc>
                          <a:spcPct val="100000"/>
                        </a:lnSpc>
                        <a:buNone/>
                      </a:pPr>
                      <a:r>
                        <a:rPr sz="1650" b="0" dirty="0" err="1">
                          <a:solidFill>
                            <a:srgbClr val="17325C"/>
                          </a:solidFill>
                          <a:latin typeface="Arial"/>
                          <a:ea typeface="Arial"/>
                          <a:cs typeface="Arial"/>
                        </a:rPr>
                        <a:t>Đối</a:t>
                      </a:r>
                      <a:r>
                        <a:rPr sz="1650" b="0" dirty="0">
                          <a:solidFill>
                            <a:srgbClr val="17325C"/>
                          </a:solidFill>
                          <a:latin typeface="Arial"/>
                          <a:ea typeface="Arial"/>
                          <a:cs typeface="Arial"/>
                        </a:rPr>
                        <a:t> </a:t>
                      </a:r>
                      <a:r>
                        <a:rPr sz="1650" b="0" dirty="0" err="1">
                          <a:solidFill>
                            <a:srgbClr val="17325C"/>
                          </a:solidFill>
                          <a:latin typeface="Arial"/>
                          <a:ea typeface="Arial"/>
                          <a:cs typeface="Arial"/>
                        </a:rPr>
                        <a:t>tượng</a:t>
                      </a:r>
                      <a:r>
                        <a:rPr sz="1650" b="0" dirty="0">
                          <a:solidFill>
                            <a:srgbClr val="17325C"/>
                          </a:solidFill>
                          <a:latin typeface="Arial"/>
                          <a:ea typeface="Arial"/>
                          <a:cs typeface="Arial"/>
                        </a:rPr>
                        <a:t>: CSKH/</a:t>
                      </a:r>
                      <a:r>
                        <a:rPr sz="1650" b="0" dirty="0" err="1">
                          <a:solidFill>
                            <a:srgbClr val="17325C"/>
                          </a:solidFill>
                          <a:latin typeface="Arial"/>
                          <a:ea typeface="Arial"/>
                          <a:cs typeface="Arial"/>
                        </a:rPr>
                        <a:t>Telesales</a:t>
                      </a:r>
                      <a:r>
                        <a:rPr sz="1650" b="0" dirty="0">
                          <a:solidFill>
                            <a:srgbClr val="17325C"/>
                          </a:solidFill>
                          <a:latin typeface="Arial"/>
                          <a:ea typeface="Arial"/>
                          <a:cs typeface="Arial"/>
                        </a:rPr>
                        <a:t>.</a:t>
                      </a:r>
                    </a:p>
                  </a:txBody>
                  <a:tcP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24</a:t>
            </a:r>
          </a:p>
        </p:txBody>
      </p:sp>
      <p:sp>
        <p:nvSpPr>
          <p:cNvPr id="60" name="Rectangle 59">
            <a:extLst>
              <a:ext uri="{FF2B5EF4-FFF2-40B4-BE49-F238E27FC236}">
                <a16:creationId xmlns:a16="http://schemas.microsoft.com/office/drawing/2014/main" id="{D199AF04-C36F-42A3-8005-6684F75C61A7}"/>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CÂU HỎI ĐỊNH TÍNH — BÁN HÀNG TRỰC TUYẾN</a:t>
            </a:r>
          </a:p>
        </p:txBody>
      </p:sp>
      <p:graphicFrame>
        <p:nvGraphicFramePr>
          <p:cNvPr id="112" name="Table 111"/>
          <p:cNvGraphicFramePr/>
          <p:nvPr/>
        </p:nvGraphicFramePr>
        <p:xfrm>
          <a:off x="742950" y="1685925"/>
          <a:ext cx="10763250" cy="4438650"/>
        </p:xfrm>
        <a:graphic>
          <a:graphicData uri="http://schemas.openxmlformats.org/drawingml/2006/table">
            <a:tbl>
              <a:tblPr firstRow="1"/>
              <a:tblGrid>
                <a:gridCol w="5381625">
                  <a:extLst>
                    <a:ext uri="{9D8B030D-6E8A-4147-A177-3AD203B41FA5}">
                      <a16:colId xmlns:a16="http://schemas.microsoft.com/office/drawing/2014/main" val="20000"/>
                    </a:ext>
                  </a:extLst>
                </a:gridCol>
                <a:gridCol w="5381625">
                  <a:extLst>
                    <a:ext uri="{9D8B030D-6E8A-4147-A177-3AD203B41FA5}">
                      <a16:colId xmlns:a16="http://schemas.microsoft.com/office/drawing/2014/main" val="20001"/>
                    </a:ext>
                  </a:extLst>
                </a:gridCol>
              </a:tblGrid>
              <a:tr h="438150">
                <a:tc>
                  <a:txBody>
                    <a:bodyPr/>
                    <a:lstStyle/>
                    <a:p>
                      <a:pPr algn="l">
                        <a:lnSpc>
                          <a:spcPct val="100000"/>
                        </a:lnSpc>
                        <a:buNone/>
                      </a:pPr>
                      <a:r>
                        <a:rPr sz="1650" b="1">
                          <a:solidFill>
                            <a:srgbClr val="FFFFFF"/>
                          </a:solidFill>
                          <a:latin typeface="Arial"/>
                          <a:ea typeface="Arial"/>
                          <a:cs typeface="Arial"/>
                        </a:rPr>
                        <a:t>Có cấu trúc</a:t>
                      </a:r>
                    </a:p>
                  </a:txBody>
                  <a:tcPr>
                    <a:solidFill>
                      <a:srgbClr val="009D9E"/>
                    </a:solidFill>
                  </a:tcPr>
                </a:tc>
                <a:tc>
                  <a:txBody>
                    <a:bodyPr/>
                    <a:lstStyle/>
                    <a:p>
                      <a:pPr algn="l">
                        <a:lnSpc>
                          <a:spcPct val="100000"/>
                        </a:lnSpc>
                        <a:buNone/>
                      </a:pPr>
                      <a:r>
                        <a:rPr sz="1650" b="1">
                          <a:solidFill>
                            <a:srgbClr val="FFFFFF"/>
                          </a:solidFill>
                          <a:latin typeface="Arial"/>
                          <a:ea typeface="Arial"/>
                          <a:cs typeface="Arial"/>
                        </a:rPr>
                        <a:t>Không có cấu trúc</a:t>
                      </a:r>
                    </a:p>
                  </a:txBody>
                  <a:tcPr>
                    <a:solidFill>
                      <a:srgbClr val="009D9E"/>
                    </a:solidFill>
                  </a:tcPr>
                </a:tc>
                <a:extLst>
                  <a:ext uri="{0D108BD9-81ED-4DB2-BD59-A6C34878D82A}">
                    <a16:rowId xmlns:a16="http://schemas.microsoft.com/office/drawing/2014/main" val="10000"/>
                  </a:ext>
                </a:extLst>
              </a:tr>
              <a:tr h="4000500">
                <a:tc>
                  <a:txBody>
                    <a:bodyPr/>
                    <a:lstStyle/>
                    <a:p>
                      <a:pPr algn="l">
                        <a:lnSpc>
                          <a:spcPct val="100000"/>
                        </a:lnSpc>
                        <a:buNone/>
                      </a:pPr>
                      <a:r>
                        <a:rPr sz="1650" b="0">
                          <a:solidFill>
                            <a:srgbClr val="17325C"/>
                          </a:solidFill>
                          <a:latin typeface="Arial"/>
                          <a:ea typeface="Arial"/>
                          <a:cs typeface="Arial"/>
                        </a:rPr>
                        <a:t>5. Trải nghiệm đặt và theo dõi đơn trên website/ứng dụng FPT Shop ở mức nào?</a:t>
                      </a:r>
                    </a:p>
                    <a:p>
                      <a:pPr algn="l">
                        <a:lnSpc>
                          <a:spcPct val="100000"/>
                        </a:lnSpc>
                        <a:buNone/>
                      </a:pPr>
                      <a:r>
                        <a:rPr sz="1650" b="0">
                          <a:solidFill>
                            <a:srgbClr val="17325C"/>
                          </a:solidFill>
                          <a:latin typeface="Arial"/>
                          <a:ea typeface="Arial"/>
                          <a:cs typeface="Arial"/>
                        </a:rPr>
                        <a:t>A. Rất tốt  B. Tốt</a:t>
                      </a:r>
                    </a:p>
                    <a:p>
                      <a:pPr algn="l">
                        <a:lnSpc>
                          <a:spcPct val="100000"/>
                        </a:lnSpc>
                        <a:buNone/>
                      </a:pPr>
                      <a:r>
                        <a:rPr sz="1650" b="0">
                          <a:solidFill>
                            <a:srgbClr val="17325C"/>
                          </a:solidFill>
                          <a:latin typeface="Arial"/>
                          <a:ea typeface="Arial"/>
                          <a:cs typeface="Arial"/>
                        </a:rPr>
                        <a:t>C. Trung bình  D. Kém</a:t>
                      </a:r>
                    </a:p>
                    <a:p>
                      <a:pPr algn="l">
                        <a:lnSpc>
                          <a:spcPct val="100000"/>
                        </a:lnSpc>
                        <a:buNone/>
                      </a:pPr>
                      <a:r>
                        <a:rPr sz="1650" b="0">
                          <a:solidFill>
                            <a:srgbClr val="17325C"/>
                          </a:solidFill>
                          <a:latin typeface="Arial"/>
                          <a:ea typeface="Arial"/>
                          <a:cs typeface="Arial"/>
                        </a:rPr>
                        <a:t>Đối tượng: Khách hàng.</a:t>
                      </a:r>
                    </a:p>
                  </a:txBody>
                  <a:tcPr>
                    <a:solidFill>
                      <a:srgbClr val="FFFFFF"/>
                    </a:solidFill>
                  </a:tcPr>
                </a:tc>
                <a:tc>
                  <a:txBody>
                    <a:bodyPr/>
                    <a:lstStyle/>
                    <a:p>
                      <a:pPr algn="l">
                        <a:lnSpc>
                          <a:spcPct val="100000"/>
                        </a:lnSpc>
                        <a:buNone/>
                      </a:pPr>
                      <a:r>
                        <a:rPr sz="1650" b="0">
                          <a:solidFill>
                            <a:srgbClr val="17325C"/>
                          </a:solidFill>
                          <a:latin typeface="Arial"/>
                          <a:ea typeface="Arial"/>
                          <a:cs typeface="Arial"/>
                        </a:rPr>
                        <a:t>10. Cần cải thiện phối hợp giữa OMS và đối tác vận chuyển, tài chính như thế nào?</a:t>
                      </a:r>
                    </a:p>
                    <a:p>
                      <a:pPr algn="l">
                        <a:lnSpc>
                          <a:spcPct val="100000"/>
                        </a:lnSpc>
                        <a:buNone/>
                      </a:pPr>
                      <a:r>
                        <a:rPr sz="1650" b="0">
                          <a:solidFill>
                            <a:srgbClr val="17325C"/>
                          </a:solidFill>
                          <a:latin typeface="Arial"/>
                          <a:ea typeface="Arial"/>
                          <a:cs typeface="Arial"/>
                        </a:rPr>
                        <a:t>Đối tượng: CNTT/Giao vận.</a:t>
                      </a:r>
                    </a:p>
                  </a:txBody>
                  <a:tcP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25</a:t>
            </a:r>
          </a:p>
        </p:txBody>
      </p:sp>
      <p:sp>
        <p:nvSpPr>
          <p:cNvPr id="60" name="Rectangle 59">
            <a:extLst>
              <a:ext uri="{FF2B5EF4-FFF2-40B4-BE49-F238E27FC236}">
                <a16:creationId xmlns:a16="http://schemas.microsoft.com/office/drawing/2014/main" id="{D199AF04-C36F-42A3-8005-6684F75C61A7}"/>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CÂU HỎI ĐỊNH LƯỢNG — BÁN HÀNG TRỰC TUYẾN</a:t>
            </a:r>
          </a:p>
        </p:txBody>
      </p:sp>
      <p:graphicFrame>
        <p:nvGraphicFramePr>
          <p:cNvPr id="112" name="Table 111"/>
          <p:cNvGraphicFramePr/>
          <p:nvPr/>
        </p:nvGraphicFramePr>
        <p:xfrm>
          <a:off x="742950" y="1685925"/>
          <a:ext cx="10763250" cy="4438650"/>
        </p:xfrm>
        <a:graphic>
          <a:graphicData uri="http://schemas.openxmlformats.org/drawingml/2006/table">
            <a:tbl>
              <a:tblPr firstRow="1"/>
              <a:tblGrid>
                <a:gridCol w="5381625">
                  <a:extLst>
                    <a:ext uri="{9D8B030D-6E8A-4147-A177-3AD203B41FA5}">
                      <a16:colId xmlns:a16="http://schemas.microsoft.com/office/drawing/2014/main" val="20000"/>
                    </a:ext>
                  </a:extLst>
                </a:gridCol>
                <a:gridCol w="5381625">
                  <a:extLst>
                    <a:ext uri="{9D8B030D-6E8A-4147-A177-3AD203B41FA5}">
                      <a16:colId xmlns:a16="http://schemas.microsoft.com/office/drawing/2014/main" val="20001"/>
                    </a:ext>
                  </a:extLst>
                </a:gridCol>
              </a:tblGrid>
              <a:tr h="438150">
                <a:tc>
                  <a:txBody>
                    <a:bodyPr/>
                    <a:lstStyle/>
                    <a:p>
                      <a:pPr algn="l">
                        <a:lnSpc>
                          <a:spcPct val="100000"/>
                        </a:lnSpc>
                        <a:buNone/>
                      </a:pPr>
                      <a:r>
                        <a:rPr sz="1650" b="1">
                          <a:solidFill>
                            <a:srgbClr val="FFFFFF"/>
                          </a:solidFill>
                          <a:latin typeface="Arial"/>
                          <a:ea typeface="Arial"/>
                          <a:cs typeface="Arial"/>
                        </a:rPr>
                        <a:t>Có cấu trúc</a:t>
                      </a:r>
                    </a:p>
                  </a:txBody>
                  <a:tcPr>
                    <a:solidFill>
                      <a:srgbClr val="009D9E"/>
                    </a:solidFill>
                  </a:tcPr>
                </a:tc>
                <a:tc>
                  <a:txBody>
                    <a:bodyPr/>
                    <a:lstStyle/>
                    <a:p>
                      <a:pPr algn="l">
                        <a:lnSpc>
                          <a:spcPct val="100000"/>
                        </a:lnSpc>
                        <a:buNone/>
                      </a:pPr>
                      <a:r>
                        <a:rPr sz="1650" b="1">
                          <a:solidFill>
                            <a:srgbClr val="FFFFFF"/>
                          </a:solidFill>
                          <a:latin typeface="Arial"/>
                          <a:ea typeface="Arial"/>
                          <a:cs typeface="Arial"/>
                        </a:rPr>
                        <a:t>Không có cấu trúc</a:t>
                      </a:r>
                    </a:p>
                  </a:txBody>
                  <a:tcPr>
                    <a:solidFill>
                      <a:srgbClr val="009D9E"/>
                    </a:solidFill>
                  </a:tcPr>
                </a:tc>
                <a:extLst>
                  <a:ext uri="{0D108BD9-81ED-4DB2-BD59-A6C34878D82A}">
                    <a16:rowId xmlns:a16="http://schemas.microsoft.com/office/drawing/2014/main" val="10000"/>
                  </a:ext>
                </a:extLst>
              </a:tr>
              <a:tr h="4000500">
                <a:tc>
                  <a:txBody>
                    <a:bodyPr/>
                    <a:lstStyle/>
                    <a:p>
                      <a:pPr algn="l">
                        <a:lnSpc>
                          <a:spcPct val="100000"/>
                        </a:lnSpc>
                        <a:buNone/>
                      </a:pPr>
                      <a:r>
                        <a:rPr sz="1650" b="0">
                          <a:solidFill>
                            <a:srgbClr val="17325C"/>
                          </a:solidFill>
                          <a:latin typeface="Arial"/>
                          <a:ea typeface="Arial"/>
                          <a:cs typeface="Arial"/>
                        </a:rPr>
                        <a:t>1. Tổng đơn trực tuyến trong tháng gần nhất thuộc khoảng nào?</a:t>
                      </a:r>
                    </a:p>
                    <a:p>
                      <a:pPr algn="l">
                        <a:lnSpc>
                          <a:spcPct val="100000"/>
                        </a:lnSpc>
                        <a:buNone/>
                      </a:pPr>
                      <a:r>
                        <a:rPr sz="1650" b="0">
                          <a:solidFill>
                            <a:srgbClr val="17325C"/>
                          </a:solidFill>
                          <a:latin typeface="Arial"/>
                          <a:ea typeface="Arial"/>
                          <a:cs typeface="Arial"/>
                        </a:rPr>
                        <a:t>A. &lt; 500  B. 500–&lt; 1.000</a:t>
                      </a:r>
                    </a:p>
                    <a:p>
                      <a:pPr algn="l">
                        <a:lnSpc>
                          <a:spcPct val="100000"/>
                        </a:lnSpc>
                        <a:buNone/>
                      </a:pPr>
                      <a:r>
                        <a:rPr sz="1650" b="0">
                          <a:solidFill>
                            <a:srgbClr val="17325C"/>
                          </a:solidFill>
                          <a:latin typeface="Arial"/>
                          <a:ea typeface="Arial"/>
                          <a:cs typeface="Arial"/>
                        </a:rPr>
                        <a:t>C. 1.000–&lt; 2.000  D. ≥ 2.000 đơn</a:t>
                      </a:r>
                    </a:p>
                    <a:p>
                      <a:pPr algn="l">
                        <a:lnSpc>
                          <a:spcPct val="100000"/>
                        </a:lnSpc>
                        <a:buNone/>
                      </a:pPr>
                      <a:r>
                        <a:rPr sz="1650" b="0">
                          <a:solidFill>
                            <a:srgbClr val="17325C"/>
                          </a:solidFill>
                          <a:latin typeface="Arial"/>
                          <a:ea typeface="Arial"/>
                          <a:cs typeface="Arial"/>
                        </a:rPr>
                        <a:t>Đối tượng: Quản lý khu vực/Ban lãnh đạo.</a:t>
                      </a:r>
                    </a:p>
                    <a:p>
                      <a:endParaRPr sz="1650" b="0">
                        <a:solidFill>
                          <a:srgbClr val="17325C"/>
                        </a:solidFill>
                        <a:latin typeface="Arial"/>
                        <a:ea typeface="Arial"/>
                        <a:cs typeface="Arial"/>
                      </a:endParaRPr>
                    </a:p>
                    <a:p>
                      <a:pPr algn="l">
                        <a:lnSpc>
                          <a:spcPct val="100000"/>
                        </a:lnSpc>
                        <a:buNone/>
                      </a:pPr>
                      <a:r>
                        <a:rPr sz="1650" b="0">
                          <a:solidFill>
                            <a:srgbClr val="17325C"/>
                          </a:solidFill>
                          <a:latin typeface="Arial"/>
                          <a:ea typeface="Arial"/>
                          <a:cs typeface="Arial"/>
                        </a:rPr>
                        <a:t>2. Tỷ lệ đơn thanh toán COD thuộc mức nào?</a:t>
                      </a:r>
                    </a:p>
                    <a:p>
                      <a:pPr algn="l">
                        <a:lnSpc>
                          <a:spcPct val="100000"/>
                        </a:lnSpc>
                        <a:buNone/>
                      </a:pPr>
                      <a:r>
                        <a:rPr sz="1650" b="0">
                          <a:solidFill>
                            <a:srgbClr val="17325C"/>
                          </a:solidFill>
                          <a:latin typeface="Arial"/>
                          <a:ea typeface="Arial"/>
                          <a:cs typeface="Arial"/>
                        </a:rPr>
                        <a:t>A. &lt; 50%  B. 50–&lt; 65%</a:t>
                      </a:r>
                    </a:p>
                    <a:p>
                      <a:pPr algn="l">
                        <a:lnSpc>
                          <a:spcPct val="100000"/>
                        </a:lnSpc>
                        <a:buNone/>
                      </a:pPr>
                      <a:r>
                        <a:rPr sz="1650" b="0">
                          <a:solidFill>
                            <a:srgbClr val="17325C"/>
                          </a:solidFill>
                          <a:latin typeface="Arial"/>
                          <a:ea typeface="Arial"/>
                          <a:cs typeface="Arial"/>
                        </a:rPr>
                        <a:t>C. 65–&lt; 80%  D. ≥ 80%</a:t>
                      </a:r>
                    </a:p>
                    <a:p>
                      <a:pPr algn="l">
                        <a:lnSpc>
                          <a:spcPct val="100000"/>
                        </a:lnSpc>
                        <a:buNone/>
                      </a:pPr>
                      <a:r>
                        <a:rPr sz="1650" b="0">
                          <a:solidFill>
                            <a:srgbClr val="17325C"/>
                          </a:solidFill>
                          <a:latin typeface="Arial"/>
                          <a:ea typeface="Arial"/>
                          <a:cs typeface="Arial"/>
                        </a:rPr>
                        <a:t>Đối tượng: Kế toán/Telesales.</a:t>
                      </a:r>
                    </a:p>
                  </a:txBody>
                  <a:tcPr>
                    <a:solidFill>
                      <a:srgbClr val="FFFFFF"/>
                    </a:solidFill>
                  </a:tcPr>
                </a:tc>
                <a:tc>
                  <a:txBody>
                    <a:bodyPr/>
                    <a:lstStyle/>
                    <a:p>
                      <a:pPr algn="l">
                        <a:lnSpc>
                          <a:spcPct val="100000"/>
                        </a:lnSpc>
                        <a:buNone/>
                      </a:pPr>
                      <a:r>
                        <a:rPr sz="1650" b="0">
                          <a:solidFill>
                            <a:srgbClr val="17325C"/>
                          </a:solidFill>
                          <a:latin typeface="Arial"/>
                          <a:ea typeface="Arial"/>
                          <a:cs typeface="Arial"/>
                        </a:rPr>
                        <a:t>6. Thời gian chờ trung bình từ đặt hàng đến nhận cuộc gọi xác nhận là bao lâu?</a:t>
                      </a:r>
                    </a:p>
                    <a:p>
                      <a:pPr algn="l">
                        <a:lnSpc>
                          <a:spcPct val="100000"/>
                        </a:lnSpc>
                        <a:buNone/>
                      </a:pPr>
                      <a:r>
                        <a:rPr sz="1650" b="0">
                          <a:solidFill>
                            <a:srgbClr val="17325C"/>
                          </a:solidFill>
                          <a:latin typeface="Arial"/>
                          <a:ea typeface="Arial"/>
                          <a:cs typeface="Arial"/>
                        </a:rPr>
                        <a:t>Đối tượng: Khách hàng. Đơn vị: phút/giờ.</a:t>
                      </a:r>
                    </a:p>
                    <a:p>
                      <a:endParaRPr sz="1650" b="0">
                        <a:solidFill>
                          <a:srgbClr val="17325C"/>
                        </a:solidFill>
                        <a:latin typeface="Arial"/>
                        <a:ea typeface="Arial"/>
                        <a:cs typeface="Arial"/>
                      </a:endParaRPr>
                    </a:p>
                    <a:p>
                      <a:pPr algn="l">
                        <a:lnSpc>
                          <a:spcPct val="100000"/>
                        </a:lnSpc>
                        <a:buNone/>
                      </a:pPr>
                      <a:r>
                        <a:rPr sz="1650" b="0">
                          <a:solidFill>
                            <a:srgbClr val="17325C"/>
                          </a:solidFill>
                          <a:latin typeface="Arial"/>
                          <a:ea typeface="Arial"/>
                          <a:cs typeface="Arial"/>
                        </a:rPr>
                        <a:t>7. Một tuần có bao nhiêu lần sai lệch tồn kho hiển thị và thực tế?</a:t>
                      </a:r>
                    </a:p>
                    <a:p>
                      <a:pPr algn="l">
                        <a:lnSpc>
                          <a:spcPct val="100000"/>
                        </a:lnSpc>
                        <a:buNone/>
                      </a:pPr>
                      <a:r>
                        <a:rPr sz="1650" b="0">
                          <a:solidFill>
                            <a:srgbClr val="17325C"/>
                          </a:solidFill>
                          <a:latin typeface="Arial"/>
                          <a:ea typeface="Arial"/>
                          <a:cs typeface="Arial"/>
                        </a:rPr>
                        <a:t>Đối tượng: Cửa hàng/CNTT. Đơn vị: số lần.</a:t>
                      </a:r>
                    </a:p>
                  </a:txBody>
                  <a:tcP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26</a:t>
            </a:r>
          </a:p>
        </p:txBody>
      </p:sp>
      <p:sp>
        <p:nvSpPr>
          <p:cNvPr id="60" name="Rectangle 59">
            <a:extLst>
              <a:ext uri="{FF2B5EF4-FFF2-40B4-BE49-F238E27FC236}">
                <a16:creationId xmlns:a16="http://schemas.microsoft.com/office/drawing/2014/main" id="{D199AF04-C36F-42A3-8005-6684F75C61A7}"/>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CÂU HỎI ĐỊNH LƯỢNG — BÁN HÀNG TRỰC TUYẾN</a:t>
            </a:r>
          </a:p>
        </p:txBody>
      </p:sp>
      <p:graphicFrame>
        <p:nvGraphicFramePr>
          <p:cNvPr id="112" name="Table 111"/>
          <p:cNvGraphicFramePr/>
          <p:nvPr/>
        </p:nvGraphicFramePr>
        <p:xfrm>
          <a:off x="742950" y="1685925"/>
          <a:ext cx="10763250" cy="4438650"/>
        </p:xfrm>
        <a:graphic>
          <a:graphicData uri="http://schemas.openxmlformats.org/drawingml/2006/table">
            <a:tbl>
              <a:tblPr firstRow="1"/>
              <a:tblGrid>
                <a:gridCol w="5381625">
                  <a:extLst>
                    <a:ext uri="{9D8B030D-6E8A-4147-A177-3AD203B41FA5}">
                      <a16:colId xmlns:a16="http://schemas.microsoft.com/office/drawing/2014/main" val="20000"/>
                    </a:ext>
                  </a:extLst>
                </a:gridCol>
                <a:gridCol w="5381625">
                  <a:extLst>
                    <a:ext uri="{9D8B030D-6E8A-4147-A177-3AD203B41FA5}">
                      <a16:colId xmlns:a16="http://schemas.microsoft.com/office/drawing/2014/main" val="20001"/>
                    </a:ext>
                  </a:extLst>
                </a:gridCol>
              </a:tblGrid>
              <a:tr h="438150">
                <a:tc>
                  <a:txBody>
                    <a:bodyPr/>
                    <a:lstStyle/>
                    <a:p>
                      <a:pPr algn="l">
                        <a:lnSpc>
                          <a:spcPct val="100000"/>
                        </a:lnSpc>
                        <a:buNone/>
                      </a:pPr>
                      <a:r>
                        <a:rPr sz="1650" b="1">
                          <a:solidFill>
                            <a:srgbClr val="FFFFFF"/>
                          </a:solidFill>
                          <a:latin typeface="Arial"/>
                          <a:ea typeface="Arial"/>
                          <a:cs typeface="Arial"/>
                        </a:rPr>
                        <a:t>Có cấu trúc</a:t>
                      </a:r>
                    </a:p>
                  </a:txBody>
                  <a:tcPr>
                    <a:solidFill>
                      <a:srgbClr val="009D9E"/>
                    </a:solidFill>
                  </a:tcPr>
                </a:tc>
                <a:tc>
                  <a:txBody>
                    <a:bodyPr/>
                    <a:lstStyle/>
                    <a:p>
                      <a:pPr algn="l">
                        <a:lnSpc>
                          <a:spcPct val="100000"/>
                        </a:lnSpc>
                        <a:buNone/>
                      </a:pPr>
                      <a:r>
                        <a:rPr sz="1650" b="1">
                          <a:solidFill>
                            <a:srgbClr val="FFFFFF"/>
                          </a:solidFill>
                          <a:latin typeface="Arial"/>
                          <a:ea typeface="Arial"/>
                          <a:cs typeface="Arial"/>
                        </a:rPr>
                        <a:t>Không có cấu trúc</a:t>
                      </a:r>
                    </a:p>
                  </a:txBody>
                  <a:tcPr>
                    <a:solidFill>
                      <a:srgbClr val="009D9E"/>
                    </a:solidFill>
                  </a:tcPr>
                </a:tc>
                <a:extLst>
                  <a:ext uri="{0D108BD9-81ED-4DB2-BD59-A6C34878D82A}">
                    <a16:rowId xmlns:a16="http://schemas.microsoft.com/office/drawing/2014/main" val="10000"/>
                  </a:ext>
                </a:extLst>
              </a:tr>
              <a:tr h="4000500">
                <a:tc>
                  <a:txBody>
                    <a:bodyPr/>
                    <a:lstStyle/>
                    <a:p>
                      <a:pPr algn="l">
                        <a:lnSpc>
                          <a:spcPct val="100000"/>
                        </a:lnSpc>
                        <a:buNone/>
                      </a:pPr>
                      <a:r>
                        <a:rPr sz="1650" b="0">
                          <a:solidFill>
                            <a:srgbClr val="17325C"/>
                          </a:solidFill>
                          <a:latin typeface="Arial"/>
                          <a:ea typeface="Arial"/>
                          <a:cs typeface="Arial"/>
                        </a:rPr>
                        <a:t>3. Thời gian soạn và đóng gói một đơn?</a:t>
                      </a:r>
                    </a:p>
                    <a:p>
                      <a:pPr algn="l">
                        <a:lnSpc>
                          <a:spcPct val="100000"/>
                        </a:lnSpc>
                        <a:buNone/>
                      </a:pPr>
                      <a:r>
                        <a:rPr sz="1650" b="0">
                          <a:solidFill>
                            <a:srgbClr val="17325C"/>
                          </a:solidFill>
                          <a:latin typeface="Arial"/>
                          <a:ea typeface="Arial"/>
                          <a:cs typeface="Arial"/>
                        </a:rPr>
                        <a:t>A. &lt; 10  B. 10–&lt; 20</a:t>
                      </a:r>
                    </a:p>
                    <a:p>
                      <a:pPr algn="l">
                        <a:lnSpc>
                          <a:spcPct val="100000"/>
                        </a:lnSpc>
                        <a:buNone/>
                      </a:pPr>
                      <a:r>
                        <a:rPr sz="1650" b="0">
                          <a:solidFill>
                            <a:srgbClr val="17325C"/>
                          </a:solidFill>
                          <a:latin typeface="Arial"/>
                          <a:ea typeface="Arial"/>
                          <a:cs typeface="Arial"/>
                        </a:rPr>
                        <a:t>C. 20–&lt; 30  D. ≥ 30 phút</a:t>
                      </a:r>
                    </a:p>
                    <a:p>
                      <a:pPr algn="l">
                        <a:lnSpc>
                          <a:spcPct val="100000"/>
                        </a:lnSpc>
                        <a:buNone/>
                      </a:pPr>
                      <a:r>
                        <a:rPr sz="1650" b="0">
                          <a:solidFill>
                            <a:srgbClr val="17325C"/>
                          </a:solidFill>
                          <a:latin typeface="Arial"/>
                          <a:ea typeface="Arial"/>
                          <a:cs typeface="Arial"/>
                        </a:rPr>
                        <a:t>Đối tượng: Nhân viên cửa hàng.</a:t>
                      </a:r>
                    </a:p>
                    <a:p>
                      <a:endParaRPr sz="1650" b="0">
                        <a:solidFill>
                          <a:srgbClr val="17325C"/>
                        </a:solidFill>
                        <a:latin typeface="Arial"/>
                        <a:ea typeface="Arial"/>
                        <a:cs typeface="Arial"/>
                      </a:endParaRPr>
                    </a:p>
                    <a:p>
                      <a:pPr algn="l">
                        <a:lnSpc>
                          <a:spcPct val="100000"/>
                        </a:lnSpc>
                        <a:buNone/>
                      </a:pPr>
                      <a:r>
                        <a:rPr sz="1650" b="0">
                          <a:solidFill>
                            <a:srgbClr val="17325C"/>
                          </a:solidFill>
                          <a:latin typeface="Arial"/>
                          <a:ea typeface="Arial"/>
                          <a:cs typeface="Arial"/>
                        </a:rPr>
                        <a:t>4. Số đơn hủy do không liên lạc được khách trong tháng gần nhất?</a:t>
                      </a:r>
                    </a:p>
                    <a:p>
                      <a:pPr algn="l">
                        <a:lnSpc>
                          <a:spcPct val="100000"/>
                        </a:lnSpc>
                        <a:buNone/>
                      </a:pPr>
                      <a:r>
                        <a:rPr sz="1650" b="0">
                          <a:solidFill>
                            <a:srgbClr val="17325C"/>
                          </a:solidFill>
                          <a:latin typeface="Arial"/>
                          <a:ea typeface="Arial"/>
                          <a:cs typeface="Arial"/>
                        </a:rPr>
                        <a:t>A. &lt; 50  B. 50–&lt; 100</a:t>
                      </a:r>
                    </a:p>
                    <a:p>
                      <a:pPr algn="l">
                        <a:lnSpc>
                          <a:spcPct val="100000"/>
                        </a:lnSpc>
                        <a:buNone/>
                      </a:pPr>
                      <a:r>
                        <a:rPr sz="1650" b="0">
                          <a:solidFill>
                            <a:srgbClr val="17325C"/>
                          </a:solidFill>
                          <a:latin typeface="Arial"/>
                          <a:ea typeface="Arial"/>
                          <a:cs typeface="Arial"/>
                        </a:rPr>
                        <a:t>C. 100–&lt; 200  D. ≥ 200 đơn</a:t>
                      </a:r>
                    </a:p>
                    <a:p>
                      <a:pPr algn="l">
                        <a:lnSpc>
                          <a:spcPct val="100000"/>
                        </a:lnSpc>
                        <a:buNone/>
                      </a:pPr>
                      <a:r>
                        <a:rPr sz="1650" b="0">
                          <a:solidFill>
                            <a:srgbClr val="17325C"/>
                          </a:solidFill>
                          <a:latin typeface="Arial"/>
                          <a:ea typeface="Arial"/>
                          <a:cs typeface="Arial"/>
                        </a:rPr>
                        <a:t>Đối tượng: Telesales.</a:t>
                      </a:r>
                    </a:p>
                  </a:txBody>
                  <a:tcPr>
                    <a:solidFill>
                      <a:srgbClr val="FFFFFF"/>
                    </a:solidFill>
                  </a:tcPr>
                </a:tc>
                <a:tc>
                  <a:txBody>
                    <a:bodyPr/>
                    <a:lstStyle/>
                    <a:p>
                      <a:pPr algn="l">
                        <a:lnSpc>
                          <a:spcPct val="100000"/>
                        </a:lnSpc>
                        <a:buNone/>
                      </a:pPr>
                      <a:r>
                        <a:rPr sz="1650" b="0">
                          <a:solidFill>
                            <a:srgbClr val="17325C"/>
                          </a:solidFill>
                          <a:latin typeface="Arial"/>
                          <a:ea typeface="Arial"/>
                          <a:cs typeface="Arial"/>
                        </a:rPr>
                        <a:t>8. Tháng qua phải hẹn giao lại bao nhiêu lần trên tổng số đơn được giao?</a:t>
                      </a:r>
                    </a:p>
                    <a:p>
                      <a:pPr algn="l">
                        <a:lnSpc>
                          <a:spcPct val="100000"/>
                        </a:lnSpc>
                        <a:buNone/>
                      </a:pPr>
                      <a:r>
                        <a:rPr sz="1650" b="0">
                          <a:solidFill>
                            <a:srgbClr val="17325C"/>
                          </a:solidFill>
                          <a:latin typeface="Arial"/>
                          <a:ea typeface="Arial"/>
                          <a:cs typeface="Arial"/>
                        </a:rPr>
                        <a:t>Đối tượng: Giao vận. Đơn vị: số lần/% đơn.</a:t>
                      </a:r>
                    </a:p>
                    <a:p>
                      <a:endParaRPr sz="1650" b="0">
                        <a:solidFill>
                          <a:srgbClr val="17325C"/>
                        </a:solidFill>
                        <a:latin typeface="Arial"/>
                        <a:ea typeface="Arial"/>
                        <a:cs typeface="Arial"/>
                      </a:endParaRPr>
                    </a:p>
                    <a:p>
                      <a:pPr algn="l">
                        <a:lnSpc>
                          <a:spcPct val="100000"/>
                        </a:lnSpc>
                        <a:buNone/>
                      </a:pPr>
                      <a:r>
                        <a:rPr sz="1650" b="0">
                          <a:solidFill>
                            <a:srgbClr val="17325C"/>
                          </a:solidFill>
                          <a:latin typeface="Arial"/>
                          <a:ea typeface="Arial"/>
                          <a:cs typeface="Arial"/>
                        </a:rPr>
                        <a:t>9. Thẩm định và phản hồi hồ sơ trả góp trung bình mất bao lâu?</a:t>
                      </a:r>
                    </a:p>
                    <a:p>
                      <a:pPr algn="l">
                        <a:lnSpc>
                          <a:spcPct val="100000"/>
                        </a:lnSpc>
                        <a:buNone/>
                      </a:pPr>
                      <a:r>
                        <a:rPr sz="1650" b="0">
                          <a:solidFill>
                            <a:srgbClr val="17325C"/>
                          </a:solidFill>
                          <a:latin typeface="Arial"/>
                          <a:ea typeface="Arial"/>
                          <a:cs typeface="Arial"/>
                        </a:rPr>
                        <a:t>Đối tượng: Telesales/Công ty tài chính. Đơn vị: giờ.</a:t>
                      </a:r>
                    </a:p>
                  </a:txBody>
                  <a:tcP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27</a:t>
            </a:r>
          </a:p>
        </p:txBody>
      </p:sp>
      <p:sp>
        <p:nvSpPr>
          <p:cNvPr id="60" name="Rectangle 59">
            <a:extLst>
              <a:ext uri="{FF2B5EF4-FFF2-40B4-BE49-F238E27FC236}">
                <a16:creationId xmlns:a16="http://schemas.microsoft.com/office/drawing/2014/main" id="{D199AF04-C36F-42A3-8005-6684F75C61A7}"/>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CÂU HỎI ĐỊNH LƯỢNG — BÁN HÀNG TRỰC TUYẾN</a:t>
            </a:r>
          </a:p>
        </p:txBody>
      </p:sp>
      <p:graphicFrame>
        <p:nvGraphicFramePr>
          <p:cNvPr id="112" name="Table 111"/>
          <p:cNvGraphicFramePr/>
          <p:nvPr/>
        </p:nvGraphicFramePr>
        <p:xfrm>
          <a:off x="742950" y="1685925"/>
          <a:ext cx="10763250" cy="4438650"/>
        </p:xfrm>
        <a:graphic>
          <a:graphicData uri="http://schemas.openxmlformats.org/drawingml/2006/table">
            <a:tbl>
              <a:tblPr firstRow="1"/>
              <a:tblGrid>
                <a:gridCol w="5381625">
                  <a:extLst>
                    <a:ext uri="{9D8B030D-6E8A-4147-A177-3AD203B41FA5}">
                      <a16:colId xmlns:a16="http://schemas.microsoft.com/office/drawing/2014/main" val="20000"/>
                    </a:ext>
                  </a:extLst>
                </a:gridCol>
                <a:gridCol w="5381625">
                  <a:extLst>
                    <a:ext uri="{9D8B030D-6E8A-4147-A177-3AD203B41FA5}">
                      <a16:colId xmlns:a16="http://schemas.microsoft.com/office/drawing/2014/main" val="20001"/>
                    </a:ext>
                  </a:extLst>
                </a:gridCol>
              </a:tblGrid>
              <a:tr h="438150">
                <a:tc>
                  <a:txBody>
                    <a:bodyPr/>
                    <a:lstStyle/>
                    <a:p>
                      <a:pPr algn="l">
                        <a:lnSpc>
                          <a:spcPct val="100000"/>
                        </a:lnSpc>
                        <a:buNone/>
                      </a:pPr>
                      <a:r>
                        <a:rPr sz="1650" b="1">
                          <a:solidFill>
                            <a:srgbClr val="FFFFFF"/>
                          </a:solidFill>
                          <a:latin typeface="Arial"/>
                          <a:ea typeface="Arial"/>
                          <a:cs typeface="Arial"/>
                        </a:rPr>
                        <a:t>Có cấu trúc</a:t>
                      </a:r>
                    </a:p>
                  </a:txBody>
                  <a:tcPr>
                    <a:solidFill>
                      <a:srgbClr val="009D9E"/>
                    </a:solidFill>
                  </a:tcPr>
                </a:tc>
                <a:tc>
                  <a:txBody>
                    <a:bodyPr/>
                    <a:lstStyle/>
                    <a:p>
                      <a:pPr algn="l">
                        <a:lnSpc>
                          <a:spcPct val="100000"/>
                        </a:lnSpc>
                        <a:buNone/>
                      </a:pPr>
                      <a:r>
                        <a:rPr sz="1650" b="1">
                          <a:solidFill>
                            <a:srgbClr val="FFFFFF"/>
                          </a:solidFill>
                          <a:latin typeface="Arial"/>
                          <a:ea typeface="Arial"/>
                          <a:cs typeface="Arial"/>
                        </a:rPr>
                        <a:t>Không có cấu trúc</a:t>
                      </a:r>
                    </a:p>
                  </a:txBody>
                  <a:tcPr>
                    <a:solidFill>
                      <a:srgbClr val="009D9E"/>
                    </a:solidFill>
                  </a:tcPr>
                </a:tc>
                <a:extLst>
                  <a:ext uri="{0D108BD9-81ED-4DB2-BD59-A6C34878D82A}">
                    <a16:rowId xmlns:a16="http://schemas.microsoft.com/office/drawing/2014/main" val="10000"/>
                  </a:ext>
                </a:extLst>
              </a:tr>
              <a:tr h="4000500">
                <a:tc>
                  <a:txBody>
                    <a:bodyPr/>
                    <a:lstStyle/>
                    <a:p>
                      <a:pPr algn="l">
                        <a:lnSpc>
                          <a:spcPct val="100000"/>
                        </a:lnSpc>
                        <a:buNone/>
                      </a:pPr>
                      <a:r>
                        <a:rPr sz="1650" b="0">
                          <a:solidFill>
                            <a:srgbClr val="17325C"/>
                          </a:solidFill>
                          <a:latin typeface="Arial"/>
                          <a:ea typeface="Arial"/>
                          <a:cs typeface="Arial"/>
                        </a:rPr>
                        <a:t>5. Số cuộc gọi xác nhận trung bình mỗi ngày của một nhân viên?</a:t>
                      </a:r>
                    </a:p>
                    <a:p>
                      <a:pPr algn="l">
                        <a:lnSpc>
                          <a:spcPct val="100000"/>
                        </a:lnSpc>
                        <a:buNone/>
                      </a:pPr>
                      <a:r>
                        <a:rPr sz="1650" b="0">
                          <a:solidFill>
                            <a:srgbClr val="17325C"/>
                          </a:solidFill>
                          <a:latin typeface="Arial"/>
                          <a:ea typeface="Arial"/>
                          <a:cs typeface="Arial"/>
                        </a:rPr>
                        <a:t>A. &lt; 30  B. 30–&lt; 60</a:t>
                      </a:r>
                    </a:p>
                    <a:p>
                      <a:pPr algn="l">
                        <a:lnSpc>
                          <a:spcPct val="100000"/>
                        </a:lnSpc>
                        <a:buNone/>
                      </a:pPr>
                      <a:r>
                        <a:rPr sz="1650" b="0">
                          <a:solidFill>
                            <a:srgbClr val="17325C"/>
                          </a:solidFill>
                          <a:latin typeface="Arial"/>
                          <a:ea typeface="Arial"/>
                          <a:cs typeface="Arial"/>
                        </a:rPr>
                        <a:t>C. 60–&lt; 100  D. ≥ 100 cuộc</a:t>
                      </a:r>
                    </a:p>
                    <a:p>
                      <a:pPr algn="l">
                        <a:lnSpc>
                          <a:spcPct val="100000"/>
                        </a:lnSpc>
                        <a:buNone/>
                      </a:pPr>
                      <a:r>
                        <a:rPr sz="1650" b="0">
                          <a:solidFill>
                            <a:srgbClr val="17325C"/>
                          </a:solidFill>
                          <a:latin typeface="Arial"/>
                          <a:ea typeface="Arial"/>
                          <a:cs typeface="Arial"/>
                        </a:rPr>
                        <a:t>Đối tượng: Telesales.</a:t>
                      </a:r>
                    </a:p>
                  </a:txBody>
                  <a:tcPr>
                    <a:solidFill>
                      <a:srgbClr val="FFFFFF"/>
                    </a:solidFill>
                  </a:tcPr>
                </a:tc>
                <a:tc>
                  <a:txBody>
                    <a:bodyPr/>
                    <a:lstStyle/>
                    <a:p>
                      <a:pPr algn="l">
                        <a:lnSpc>
                          <a:spcPct val="100000"/>
                        </a:lnSpc>
                        <a:buNone/>
                      </a:pPr>
                      <a:r>
                        <a:rPr sz="1650" b="0">
                          <a:solidFill>
                            <a:srgbClr val="17325C"/>
                          </a:solidFill>
                          <a:latin typeface="Arial"/>
                          <a:ea typeface="Arial"/>
                          <a:cs typeface="Arial"/>
                        </a:rPr>
                        <a:t>10. Tỷ lệ đơn hoàn tất từ khởi tạo đến giao hàng trong tháng trước?</a:t>
                      </a:r>
                    </a:p>
                    <a:p>
                      <a:pPr algn="l">
                        <a:lnSpc>
                          <a:spcPct val="100000"/>
                        </a:lnSpc>
                        <a:buNone/>
                      </a:pPr>
                      <a:r>
                        <a:rPr sz="1650" b="0">
                          <a:solidFill>
                            <a:srgbClr val="17325C"/>
                          </a:solidFill>
                          <a:latin typeface="Arial"/>
                          <a:ea typeface="Arial"/>
                          <a:cs typeface="Arial"/>
                        </a:rPr>
                        <a:t>Đối tượng: Ban lãnh đạo/Vận hành. Đơn vị: % đơn.</a:t>
                      </a:r>
                    </a:p>
                  </a:txBody>
                  <a:tcP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28</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V. TUYỂN DỤNG NHÂN SỰ</a:t>
            </a:r>
          </a:p>
        </p:txBody>
      </p:sp>
      <p:graphicFrame>
        <p:nvGraphicFramePr>
          <p:cNvPr id="112" name="Table 111"/>
          <p:cNvGraphicFramePr/>
          <p:nvPr/>
        </p:nvGraphicFramePr>
        <p:xfrm>
          <a:off x="742950" y="1714500"/>
          <a:ext cx="10763250" cy="400050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866775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Mô tả quy trình</a:t>
                      </a:r>
                    </a:p>
                  </a:txBody>
                  <a:tcPr anchor="ctr">
                    <a:solidFill>
                      <a:srgbClr val="0B5ED7"/>
                    </a:solidFill>
                  </a:tcPr>
                </a:tc>
                <a:extLst>
                  <a:ext uri="{0D108BD9-81ED-4DB2-BD59-A6C34878D82A}">
                    <a16:rowId xmlns:a16="http://schemas.microsoft.com/office/drawing/2014/main" val="10000"/>
                  </a:ext>
                </a:extLst>
              </a:tr>
              <a:tr h="723900">
                <a:tc>
                  <a:txBody>
                    <a:bodyPr/>
                    <a:lstStyle/>
                    <a:p>
                      <a:pPr algn="l">
                        <a:lnSpc>
                          <a:spcPct val="104000"/>
                        </a:lnSpc>
                        <a:buNone/>
                      </a:pPr>
                      <a:r>
                        <a:rPr sz="1650" b="0">
                          <a:solidFill>
                            <a:srgbClr val="17325C"/>
                          </a:solidFill>
                          <a:latin typeface="Arial"/>
                          <a:ea typeface="Arial"/>
                          <a:cs typeface="Arial"/>
                        </a:rPr>
                        <a:t>Tác nhân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Ứng viên; Quản lý đơn vị/cửa hàng; Phòng Nhân sự; Ban Giám đốc.</a:t>
                      </a:r>
                    </a:p>
                  </a:txBody>
                  <a:tcPr anchor="ctr">
                    <a:solidFill>
                      <a:srgbClr val="FFFFFF"/>
                    </a:solidFill>
                  </a:tcPr>
                </a:tc>
                <a:extLst>
                  <a:ext uri="{0D108BD9-81ED-4DB2-BD59-A6C34878D82A}">
                    <a16:rowId xmlns:a16="http://schemas.microsoft.com/office/drawing/2014/main" val="10001"/>
                  </a:ext>
                </a:extLst>
              </a:tr>
              <a:tr h="49530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Đơn vị/cửa hàng có nhu cầu nhân sự; ứng viên tham gia tuyển dụng.</a:t>
                      </a:r>
                    </a:p>
                  </a:txBody>
                  <a:tcPr anchor="ctr">
                    <a:solidFill>
                      <a:srgbClr val="F1F6FC"/>
                    </a:solidFill>
                  </a:tcPr>
                </a:tc>
                <a:extLst>
                  <a:ext uri="{0D108BD9-81ED-4DB2-BD59-A6C34878D82A}">
                    <a16:rowId xmlns:a16="http://schemas.microsoft.com/office/drawing/2014/main" val="10002"/>
                  </a:ext>
                </a:extLst>
              </a:tr>
              <a:tr h="781050">
                <a:tc>
                  <a:txBody>
                    <a:bodyPr/>
                    <a:lstStyle/>
                    <a:p>
                      <a:pPr algn="l">
                        <a:lnSpc>
                          <a:spcPct val="104000"/>
                        </a:lnSpc>
                        <a:buNone/>
                      </a:pPr>
                      <a:r>
                        <a:rPr sz="1650" b="0">
                          <a:solidFill>
                            <a:srgbClr val="17325C"/>
                          </a:solidFill>
                          <a:latin typeface="Arial"/>
                          <a:ea typeface="Arial"/>
                          <a:cs typeface="Arial"/>
                        </a:rPr>
                        <a:t>Các bước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Đề xuất, duyệt nhu cầu → tìm và sàng lọc ứng viên → phỏng vấn → phê duyệt, gửi đề nghị → tiếp nhận, thử việc → đánh giá và ký hợp đồng.</a:t>
                      </a:r>
                    </a:p>
                  </a:txBody>
                  <a:tcPr anchor="ctr">
                    <a:solidFill>
                      <a:srgbClr val="FFFFFF"/>
                    </a:solidFill>
                  </a:tcPr>
                </a:tc>
                <a:extLst>
                  <a:ext uri="{0D108BD9-81ED-4DB2-BD59-A6C34878D82A}">
                    <a16:rowId xmlns:a16="http://schemas.microsoft.com/office/drawing/2014/main" val="10003"/>
                  </a:ext>
                </a:extLst>
              </a:tr>
              <a:tr h="647700">
                <a:tc>
                  <a:txBody>
                    <a:bodyPr/>
                    <a:lstStyle/>
                    <a:p>
                      <a:pPr algn="l">
                        <a:lnSpc>
                          <a:spcPct val="104000"/>
                        </a:lnSpc>
                        <a:buNone/>
                      </a:pPr>
                      <a:r>
                        <a:rPr sz="1650" b="0">
                          <a:solidFill>
                            <a:srgbClr val="17325C"/>
                          </a:solidFill>
                          <a:latin typeface="Arial"/>
                          <a:ea typeface="Arial"/>
                          <a:cs typeface="Arial"/>
                        </a:rPr>
                        <a:t>Giá trị mang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Bổ sung nhân sự phù hợp với nhu cầu đã được phê duyệt.</a:t>
                      </a:r>
                    </a:p>
                  </a:txBody>
                  <a:tcPr anchor="ctr">
                    <a:solidFill>
                      <a:srgbClr val="F1F6FC"/>
                    </a:solidFill>
                  </a:tcPr>
                </a:tc>
                <a:extLst>
                  <a:ext uri="{0D108BD9-81ED-4DB2-BD59-A6C34878D82A}">
                    <a16:rowId xmlns:a16="http://schemas.microsoft.com/office/drawing/2014/main" val="10004"/>
                  </a:ext>
                </a:extLst>
              </a:tr>
              <a:tr h="933450">
                <a:tc>
                  <a:txBody>
                    <a:bodyPr/>
                    <a:lstStyle/>
                    <a:p>
                      <a:pPr algn="l">
                        <a:lnSpc>
                          <a:spcPct val="104000"/>
                        </a:lnSpc>
                        <a:buNone/>
                      </a:pPr>
                      <a:r>
                        <a:rPr sz="1650" b="0">
                          <a:solidFill>
                            <a:srgbClr val="17325C"/>
                          </a:solidFill>
                          <a:latin typeface="Arial"/>
                          <a:ea typeface="Arial"/>
                          <a:cs typeface="Arial"/>
                        </a:rPr>
                        <a:t>Kết quả</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Nhu cầu không được duyệt; ứng viên không phù hợp/từ chối; thử việc không đạt; ký hợp đồng chính thức.</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29</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TRÌNH TUYỂN DỤNG NHÂN SỰ</a:t>
            </a:r>
          </a:p>
        </p:txBody>
      </p:sp>
      <p:pic>
        <p:nvPicPr>
          <p:cNvPr id="7" name="Graphic 6">
            <a:extLst>
              <a:ext uri="{FF2B5EF4-FFF2-40B4-BE49-F238E27FC236}">
                <a16:creationId xmlns:a16="http://schemas.microsoft.com/office/drawing/2014/main" id="{07395007-61E3-17F3-F11C-C9AB7F34FF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9951" y="1565443"/>
            <a:ext cx="11019597" cy="4608195"/>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28597"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30</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SÀNG LỌC CV VÀ KẾT QUẢ THỬ VIỆC</a:t>
            </a:r>
          </a:p>
        </p:txBody>
      </p:sp>
      <p:sp>
        <p:nvSpPr>
          <p:cNvPr id="6" name="Crop panel Sàng lọc CV">
            <a:extLst>
              <a:ext uri="{FF2B5EF4-FFF2-40B4-BE49-F238E27FC236}">
                <a16:creationId xmlns:a16="http://schemas.microsoft.com/office/drawing/2014/main" id="{98E95DB7-E19C-959A-BB93-D754D1EBF2D0}"/>
              </a:ext>
            </a:extLst>
          </p:cNvPr>
          <p:cNvSpPr>
            <a:spLocks noGrp="1"/>
          </p:cNvSpPr>
          <p:nvPr/>
        </p:nvSpPr>
        <p:spPr>
          <a:xfrm>
            <a:off x="666750" y="1657350"/>
            <a:ext cx="5286375" cy="4343400"/>
          </a:xfrm>
          <a:prstGeom prst="roundRect">
            <a:avLst>
              <a:gd name="adj" fmla="val 1754"/>
            </a:avLst>
          </a:prstGeom>
          <a:solidFill>
            <a:srgbClr val="F7FAFE"/>
          </a:solidFill>
          <a:ln w="11430">
            <a:solidFill>
              <a:srgbClr val="C8D8EB"/>
            </a:solidFill>
          </a:ln>
        </p:spPr>
        <p:txBody>
          <a:bodyPr/>
          <a:lstStyle/>
          <a:p>
            <a:endParaRPr lang="en-US"/>
          </a:p>
        </p:txBody>
      </p:sp>
      <p:sp>
        <p:nvSpPr>
          <p:cNvPr id="7" name="Crop panel Kết quả thử việc">
            <a:extLst>
              <a:ext uri="{FF2B5EF4-FFF2-40B4-BE49-F238E27FC236}">
                <a16:creationId xmlns:a16="http://schemas.microsoft.com/office/drawing/2014/main" id="{A48DA31D-AA08-DC31-CC48-0256E58CFE1E}"/>
              </a:ext>
            </a:extLst>
          </p:cNvPr>
          <p:cNvSpPr>
            <a:spLocks noGrp="1"/>
          </p:cNvSpPr>
          <p:nvPr/>
        </p:nvSpPr>
        <p:spPr>
          <a:xfrm>
            <a:off x="6238875" y="1657350"/>
            <a:ext cx="5286375" cy="4343400"/>
          </a:xfrm>
          <a:prstGeom prst="roundRect">
            <a:avLst>
              <a:gd name="adj" fmla="val 1754"/>
            </a:avLst>
          </a:prstGeom>
          <a:solidFill>
            <a:srgbClr val="F7FAFE"/>
          </a:solidFill>
          <a:ln w="11430">
            <a:solidFill>
              <a:srgbClr val="C8D8EB"/>
            </a:solidFill>
          </a:ln>
        </p:spPr>
        <p:txBody>
          <a:bodyPr/>
          <a:lstStyle/>
          <a:p>
            <a:endParaRPr lang="en-US"/>
          </a:p>
        </p:txBody>
      </p:sp>
      <p:sp>
        <p:nvSpPr>
          <p:cNvPr id="8" name="Crop caption PHÒNG NHÂN SỰ — SÀNG LỌC CV">
            <a:extLst>
              <a:ext uri="{FF2B5EF4-FFF2-40B4-BE49-F238E27FC236}">
                <a16:creationId xmlns:a16="http://schemas.microsoft.com/office/drawing/2014/main" id="{75DFB259-4814-BAC8-4CED-90C428BE82A4}"/>
              </a:ext>
            </a:extLst>
          </p:cNvPr>
          <p:cNvSpPr>
            <a:spLocks noGrp="1"/>
          </p:cNvSpPr>
          <p:nvPr/>
        </p:nvSpPr>
        <p:spPr>
          <a:xfrm>
            <a:off x="838200" y="1752600"/>
            <a:ext cx="4905375" cy="342900"/>
          </a:xfrm>
          <a:prstGeom prst="rect">
            <a:avLst/>
          </a:prstGeom>
          <a:noFill/>
          <a:ln w="0">
            <a:noFill/>
          </a:ln>
        </p:spPr>
        <p:txBody>
          <a:bodyPr wrap="square" lIns="0" tIns="0" rIns="0" bIns="0" anchor="ctr">
            <a:noAutofit/>
          </a:bodyPr>
          <a:lstStyle/>
          <a:p>
            <a:pPr algn="l">
              <a:defRPr sz="1650" b="1">
                <a:solidFill>
                  <a:srgbClr val="EF8B22"/>
                </a:solidFill>
                <a:latin typeface="Arial"/>
                <a:ea typeface="Arial"/>
                <a:cs typeface="Arial"/>
              </a:defRPr>
            </a:pPr>
            <a:r>
              <a:rPr sz="1650" b="1">
                <a:solidFill>
                  <a:srgbClr val="EF8B22"/>
                </a:solidFill>
                <a:latin typeface="Arial"/>
                <a:ea typeface="Arial"/>
                <a:cs typeface="Arial"/>
              </a:rPr>
              <a:t>PHÒNG NHÂN SỰ — SÀNG LỌC CV</a:t>
            </a:r>
          </a:p>
        </p:txBody>
      </p:sp>
      <p:sp>
        <p:nvSpPr>
          <p:cNvPr id="9" name="Crop caption PHÒNG NHÂN SỰ — KẾT QUẢ THỬ VIỆC">
            <a:extLst>
              <a:ext uri="{FF2B5EF4-FFF2-40B4-BE49-F238E27FC236}">
                <a16:creationId xmlns:a16="http://schemas.microsoft.com/office/drawing/2014/main" id="{4157A3E3-D35C-9429-2CA7-1BDA60C822BE}"/>
              </a:ext>
            </a:extLst>
          </p:cNvPr>
          <p:cNvSpPr>
            <a:spLocks noGrp="1"/>
          </p:cNvSpPr>
          <p:nvPr/>
        </p:nvSpPr>
        <p:spPr>
          <a:xfrm>
            <a:off x="6410325" y="1752600"/>
            <a:ext cx="4905375" cy="342900"/>
          </a:xfrm>
          <a:prstGeom prst="rect">
            <a:avLst/>
          </a:prstGeom>
          <a:noFill/>
          <a:ln w="0">
            <a:noFill/>
          </a:ln>
        </p:spPr>
        <p:txBody>
          <a:bodyPr wrap="square" lIns="0" tIns="0" rIns="0" bIns="0" anchor="ctr">
            <a:noAutofit/>
          </a:bodyPr>
          <a:lstStyle/>
          <a:p>
            <a:pPr algn="l">
              <a:defRPr sz="1650" b="1">
                <a:solidFill>
                  <a:srgbClr val="EF8B22"/>
                </a:solidFill>
                <a:latin typeface="Arial"/>
                <a:ea typeface="Arial"/>
                <a:cs typeface="Arial"/>
              </a:defRPr>
            </a:pPr>
            <a:r>
              <a:rPr sz="1650" b="1">
                <a:solidFill>
                  <a:srgbClr val="EF8B22"/>
                </a:solidFill>
                <a:latin typeface="Arial"/>
                <a:ea typeface="Arial"/>
                <a:cs typeface="Arial"/>
              </a:rPr>
              <a:t>PHÒNG NHÂN SỰ — KẾT QUẢ THỬ VIỆC</a:t>
            </a:r>
          </a:p>
        </p:txBody>
      </p:sp>
      <p:pic>
        <p:nvPicPr>
          <p:cNvPr id="57" name="Graphic 56">
            <a:extLst>
              <a:ext uri="{FF2B5EF4-FFF2-40B4-BE49-F238E27FC236}">
                <a16:creationId xmlns:a16="http://schemas.microsoft.com/office/drawing/2014/main" id="{B69A45D5-37DF-5F50-ED66-6037756CF3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822" y="2562083"/>
            <a:ext cx="5049708" cy="2840461"/>
          </a:xfrm>
          <a:prstGeom prst="rect">
            <a:avLst/>
          </a:prstGeom>
        </p:spPr>
      </p:pic>
      <p:pic>
        <p:nvPicPr>
          <p:cNvPr id="67" name="Graphic 66">
            <a:extLst>
              <a:ext uri="{FF2B5EF4-FFF2-40B4-BE49-F238E27FC236}">
                <a16:creationId xmlns:a16="http://schemas.microsoft.com/office/drawing/2014/main" id="{22372C73-31BB-ED3E-5D68-2B522188D2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73876" y="2562083"/>
            <a:ext cx="5055616" cy="2843784"/>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31</a:t>
            </a:r>
          </a:p>
        </p:txBody>
      </p:sp>
      <p:graphicFrame>
        <p:nvGraphicFramePr>
          <p:cNvPr id="112" name="Table 111"/>
          <p:cNvGraphicFramePr/>
          <p:nvPr/>
        </p:nvGraphicFramePr>
        <p:xfrm>
          <a:off x="742950" y="1714500"/>
          <a:ext cx="10763250" cy="4248150"/>
        </p:xfrm>
        <a:graphic>
          <a:graphicData uri="http://schemas.openxmlformats.org/drawingml/2006/table">
            <a:tbl>
              <a:tblPr firstRow="1"/>
              <a:tblGrid>
                <a:gridCol w="59055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4095750">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Tác nhân</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Loại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Lý giải</a:t>
                      </a:r>
                    </a:p>
                  </a:txBody>
                  <a:tcPr anchor="ctr">
                    <a:solidFill>
                      <a:srgbClr val="009D9E"/>
                    </a:solidFill>
                  </a:tcPr>
                </a:tc>
                <a:extLst>
                  <a:ext uri="{0D108BD9-81ED-4DB2-BD59-A6C34878D82A}">
                    <a16:rowId xmlns:a16="http://schemas.microsoft.com/office/drawing/2014/main" val="10000"/>
                  </a:ext>
                </a:extLst>
              </a:tr>
              <a:tr h="638175">
                <a:tc>
                  <a:txBody>
                    <a:bodyPr/>
                    <a:lstStyle/>
                    <a:p>
                      <a:pPr algn="l">
                        <a:lnSpc>
                          <a:spcPct val="104000"/>
                        </a:lnSpc>
                        <a:buNone/>
                      </a:pPr>
                      <a:r>
                        <a:rPr sz="1650" b="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Hiển thị sản phẩm, quản lý giỏ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TMĐT</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Giúp khách lựa chọn sản phẩm</a:t>
                      </a:r>
                    </a:p>
                  </a:txBody>
                  <a:tcPr anchor="ctr">
                    <a:solidFill>
                      <a:srgbClr val="FFFFFF"/>
                    </a:solidFill>
                  </a:tcPr>
                </a:tc>
                <a:extLst>
                  <a:ext uri="{0D108BD9-81ED-4DB2-BD59-A6C34878D82A}">
                    <a16:rowId xmlns:a16="http://schemas.microsoft.com/office/drawing/2014/main" val="10001"/>
                  </a:ext>
                </a:extLst>
              </a:tr>
              <a:tr h="638175">
                <a:tc>
                  <a:txBody>
                    <a:bodyPr/>
                    <a:lstStyle/>
                    <a:p>
                      <a:pPr algn="l">
                        <a:lnSpc>
                          <a:spcPct val="104000"/>
                        </a:lnSpc>
                        <a:buNone/>
                      </a:pPr>
                      <a:r>
                        <a:rPr sz="165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Tạo đơn hàng và sinh mã đơn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TMĐT</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Ghi nhận và truy vết giao dịch</a:t>
                      </a:r>
                    </a:p>
                  </a:txBody>
                  <a:tcPr anchor="ctr">
                    <a:solidFill>
                      <a:srgbClr val="F1F6FC"/>
                    </a:solidFill>
                  </a:tcPr>
                </a:tc>
                <a:extLst>
                  <a:ext uri="{0D108BD9-81ED-4DB2-BD59-A6C34878D82A}">
                    <a16:rowId xmlns:a16="http://schemas.microsoft.com/office/drawing/2014/main" val="10002"/>
                  </a:ext>
                </a:extLst>
              </a:tr>
              <a:tr h="638175">
                <a:tc>
                  <a:txBody>
                    <a:bodyPr/>
                    <a:lstStyle/>
                    <a:p>
                      <a:pPr algn="l">
                        <a:lnSpc>
                          <a:spcPct val="104000"/>
                        </a:lnSpc>
                        <a:buNone/>
                      </a:pPr>
                      <a:r>
                        <a:rPr sz="1650" b="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Gửi SMS/Email tiếp nhận đơn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TMĐT</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Lưu bằng chứng, giảm khiếu nại</a:t>
                      </a:r>
                    </a:p>
                  </a:txBody>
                  <a:tcPr anchor="ctr">
                    <a:solidFill>
                      <a:srgbClr val="FFFFFF"/>
                    </a:solidFill>
                  </a:tcPr>
                </a:tc>
                <a:extLst>
                  <a:ext uri="{0D108BD9-81ED-4DB2-BD59-A6C34878D82A}">
                    <a16:rowId xmlns:a16="http://schemas.microsoft.com/office/drawing/2014/main" val="10003"/>
                  </a:ext>
                </a:extLst>
              </a:tr>
              <a:tr h="638175">
                <a:tc>
                  <a:txBody>
                    <a:bodyPr/>
                    <a:lstStyle/>
                    <a:p>
                      <a:pPr algn="l">
                        <a:lnSpc>
                          <a:spcPct val="104000"/>
                        </a:lnSpc>
                        <a:buNone/>
                      </a:pPr>
                      <a:r>
                        <a:rPr sz="1650" b="0">
                          <a:solidFill>
                            <a:srgbClr val="17325C"/>
                          </a:solidFill>
                          <a:latin typeface="Arial"/>
                          <a:ea typeface="Arial"/>
                          <a:cs typeface="Arial"/>
                        </a:rPr>
                        <a:t>4</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Kiểm tra tồn kho toàn hệ thống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Ngăn bán vượt tồn kho</a:t>
                      </a:r>
                    </a:p>
                  </a:txBody>
                  <a:tcPr anchor="ctr">
                    <a:solidFill>
                      <a:srgbClr val="F1F6FC"/>
                    </a:solidFill>
                  </a:tcPr>
                </a:tc>
                <a:extLst>
                  <a:ext uri="{0D108BD9-81ED-4DB2-BD59-A6C34878D82A}">
                    <a16:rowId xmlns:a16="http://schemas.microsoft.com/office/drawing/2014/main" val="10004"/>
                  </a:ext>
                </a:extLst>
              </a:tr>
              <a:tr h="638175">
                <a:tc>
                  <a:txBody>
                    <a:bodyPr/>
                    <a:lstStyle/>
                    <a:p>
                      <a:pPr algn="l">
                        <a:lnSpc>
                          <a:spcPct val="104000"/>
                        </a:lnSpc>
                        <a:buNone/>
                      </a:pPr>
                      <a:r>
                        <a:rPr sz="1650" b="0">
                          <a:solidFill>
                            <a:srgbClr val="17325C"/>
                          </a:solidFill>
                          <a:latin typeface="Arial"/>
                          <a:ea typeface="Arial"/>
                          <a:cs typeface="Arial"/>
                        </a:rPr>
                        <a:t>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Điều phối về cửa hàng gần nhất</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OMS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Rút ngắn thời gian giao hàng</a:t>
                      </a:r>
                    </a:p>
                  </a:txBody>
                  <a:tcPr anchor="ctr">
                    <a:solidFill>
                      <a:srgbClr val="FFFFFF"/>
                    </a:solidFill>
                  </a:tcPr>
                </a:tc>
                <a:extLst>
                  <a:ext uri="{0D108BD9-81ED-4DB2-BD59-A6C34878D82A}">
                    <a16:rowId xmlns:a16="http://schemas.microsoft.com/office/drawing/2014/main" val="10005"/>
                  </a:ext>
                </a:extLst>
              </a:tr>
              <a:tr h="638175">
                <a:tc>
                  <a:txBody>
                    <a:bodyPr/>
                    <a:lstStyle/>
                    <a:p>
                      <a:pPr algn="l">
                        <a:lnSpc>
                          <a:spcPct val="104000"/>
                        </a:lnSpc>
                        <a:buNone/>
                      </a:pPr>
                      <a:r>
                        <a:rPr sz="1650" b="0">
                          <a:solidFill>
                            <a:srgbClr val="17325C"/>
                          </a:solidFill>
                          <a:latin typeface="Arial"/>
                          <a:ea typeface="Arial"/>
                          <a:cs typeface="Arial"/>
                        </a:rPr>
                        <a:t>6</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Tư vấn sản phẩm thay thế</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Telesales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tc>
                  <a:txBody>
                    <a:bodyPr/>
                    <a:lstStyle/>
                    <a:p>
                      <a:pPr algn="l">
                        <a:lnSpc>
                          <a:spcPct val="104000"/>
                        </a:lnSpc>
                        <a:buNone/>
                      </a:pPr>
                      <a:r>
                        <a:rPr sz="1650" b="0" dirty="0" err="1">
                          <a:solidFill>
                            <a:srgbClr val="17325C"/>
                          </a:solidFill>
                          <a:latin typeface="Arial"/>
                          <a:ea typeface="Arial"/>
                          <a:cs typeface="Arial"/>
                        </a:rPr>
                        <a:t>Đáp</a:t>
                      </a:r>
                      <a:r>
                        <a:rPr sz="1650" b="0" dirty="0">
                          <a:solidFill>
                            <a:srgbClr val="17325C"/>
                          </a:solidFill>
                          <a:latin typeface="Arial"/>
                          <a:ea typeface="Arial"/>
                          <a:cs typeface="Arial"/>
                        </a:rPr>
                        <a:t> </a:t>
                      </a:r>
                      <a:r>
                        <a:rPr sz="1650" b="0" dirty="0" err="1">
                          <a:solidFill>
                            <a:srgbClr val="17325C"/>
                          </a:solidFill>
                          <a:latin typeface="Arial"/>
                          <a:ea typeface="Arial"/>
                          <a:cs typeface="Arial"/>
                        </a:rPr>
                        <a:t>ứng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nhu</a:t>
                      </a:r>
                      <a:r>
                        <a:rPr sz="1650" b="0" dirty="0">
                          <a:solidFill>
                            <a:srgbClr val="17325C"/>
                          </a:solidFill>
                          <a:latin typeface="Arial"/>
                          <a:ea typeface="Arial"/>
                          <a:cs typeface="Arial"/>
                        </a:rPr>
                        <a:t> </a:t>
                      </a:r>
                      <a:r>
                        <a:rPr sz="1650" b="0" dirty="0" err="1">
                          <a:solidFill>
                            <a:srgbClr val="17325C"/>
                          </a:solidFill>
                          <a:latin typeface="Arial"/>
                          <a:ea typeface="Arial"/>
                          <a:cs typeface="Arial"/>
                        </a:rPr>
                        <a:t>cầu</a:t>
                      </a:r>
                      <a:r>
                        <a:rPr sz="1650" b="0" dirty="0">
                          <a:solidFill>
                            <a:srgbClr val="17325C"/>
                          </a:solidFill>
                          <a:latin typeface="Arial"/>
                          <a:ea typeface="Arial"/>
                          <a:cs typeface="Arial"/>
                        </a:rPr>
                        <a:t> </a:t>
                      </a:r>
                      <a:r>
                        <a:rPr sz="1650" b="0" dirty="0" err="1">
                          <a:solidFill>
                            <a:srgbClr val="17325C"/>
                          </a:solidFill>
                          <a:latin typeface="Arial"/>
                          <a:ea typeface="Arial"/>
                          <a:cs typeface="Arial"/>
                        </a:rPr>
                        <a:t>khi</a:t>
                      </a:r>
                      <a:r>
                        <a:rPr sz="1650" b="0" dirty="0">
                          <a:solidFill>
                            <a:srgbClr val="17325C"/>
                          </a:solidFill>
                          <a:latin typeface="Arial"/>
                          <a:ea typeface="Arial"/>
                          <a:cs typeface="Arial"/>
                        </a:rPr>
                        <a:t> </a:t>
                      </a:r>
                      <a:r>
                        <a:rPr sz="1650" b="0" dirty="0" err="1">
                          <a:solidFill>
                            <a:srgbClr val="17325C"/>
                          </a:solidFill>
                          <a:latin typeface="Arial"/>
                          <a:ea typeface="Arial"/>
                          <a:cs typeface="Arial"/>
                        </a:rPr>
                        <a:t>hết</a:t>
                      </a:r>
                      <a:r>
                        <a:rPr sz="1650" b="0" dirty="0">
                          <a:solidFill>
                            <a:srgbClr val="17325C"/>
                          </a:solidFill>
                          <a:latin typeface="Arial"/>
                          <a:ea typeface="Arial"/>
                          <a:cs typeface="Arial"/>
                        </a:rPr>
                        <a:t> </a:t>
                      </a:r>
                      <a:r>
                        <a:rPr sz="1650" b="0" dirty="0" err="1">
                          <a:solidFill>
                            <a:srgbClr val="17325C"/>
                          </a:solidFill>
                          <a:latin typeface="Arial"/>
                          <a:ea typeface="Arial"/>
                          <a:cs typeface="Arial"/>
                        </a:rPr>
                        <a:t>hàng</a:t>
                      </a:r>
                      <a:endParaRPr sz="165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defRPr>
                <a:latin typeface="Arial"/>
                <a:ea typeface="Arial"/>
                <a:cs typeface="Arial"/>
              </a:defRPr>
            </a:pPr>
            <a:r>
              <a:rPr sz="2550" b="1" dirty="0">
                <a:solidFill>
                  <a:srgbClr val="062B8D"/>
                </a:solidFill>
                <a:latin typeface="Arial"/>
                <a:ea typeface="Arial"/>
                <a:cs typeface="Arial"/>
              </a:rPr>
              <a:t>VI. PHÂN TÍCH GIÁ TRỊ GIA TĂNG</a:t>
            </a:r>
          </a:p>
          <a:p>
            <a:pPr algn="l">
              <a:spcBef>
                <a:spcPts val="0"/>
              </a:spcBef>
              <a:spcAft>
                <a:spcPts val="0"/>
              </a:spcAft>
              <a:defRPr>
                <a:latin typeface="Arial"/>
                <a:ea typeface="Arial"/>
                <a:cs typeface="Arial"/>
              </a:defRPr>
            </a:pPr>
            <a:r>
              <a:rPr sz="1500" b="1" dirty="0">
                <a:solidFill>
                  <a:srgbClr val="009D9E"/>
                </a:solidFill>
                <a:latin typeface="Arial"/>
                <a:ea typeface="Arial"/>
                <a:cs typeface="Arial"/>
              </a:rPr>
              <a:t>QUY TRÌNH BÁN HÀNG TRỰC TUYẾN</a:t>
            </a:r>
          </a:p>
        </p:txBody>
      </p:sp>
    </p:spTree>
    <p:extLst>
      <p:ext uri="{BB962C8B-B14F-4D97-AF65-F5344CB8AC3E}">
        <p14:creationId xmlns:p14="http://schemas.microsoft.com/office/powerpoint/2010/main" val="985234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32</a:t>
            </a:r>
          </a:p>
        </p:txBody>
      </p:sp>
      <p:graphicFrame>
        <p:nvGraphicFramePr>
          <p:cNvPr id="112" name="Table 111"/>
          <p:cNvGraphicFramePr/>
          <p:nvPr/>
        </p:nvGraphicFramePr>
        <p:xfrm>
          <a:off x="742950" y="1714500"/>
          <a:ext cx="10763250" cy="4248150"/>
        </p:xfrm>
        <a:graphic>
          <a:graphicData uri="http://schemas.openxmlformats.org/drawingml/2006/table">
            <a:tbl>
              <a:tblPr firstRow="1"/>
              <a:tblGrid>
                <a:gridCol w="59055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4095750">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Tác nhân</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Loại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Lý giải</a:t>
                      </a:r>
                    </a:p>
                  </a:txBody>
                  <a:tcPr anchor="ctr">
                    <a:solidFill>
                      <a:srgbClr val="009D9E"/>
                    </a:solidFill>
                  </a:tcPr>
                </a:tc>
                <a:extLst>
                  <a:ext uri="{0D108BD9-81ED-4DB2-BD59-A6C34878D82A}">
                    <a16:rowId xmlns:a16="http://schemas.microsoft.com/office/drawing/2014/main" val="10000"/>
                  </a:ext>
                </a:extLst>
              </a:tr>
              <a:tr h="638175">
                <a:tc>
                  <a:txBody>
                    <a:bodyPr/>
                    <a:lstStyle/>
                    <a:p>
                      <a:pPr algn="l">
                        <a:lnSpc>
                          <a:spcPct val="104000"/>
                        </a:lnSpc>
                        <a:buNone/>
                      </a:pPr>
                      <a:r>
                        <a:rPr sz="1650" b="0">
                          <a:solidFill>
                            <a:srgbClr val="17325C"/>
                          </a:solidFill>
                          <a:latin typeface="Arial"/>
                          <a:ea typeface="Arial"/>
                          <a:cs typeface="Arial"/>
                        </a:rPr>
                        <a:t>7</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Gọi điện xác nhận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Telesales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Kiểm soát đơn ảo, sai địa chỉ</a:t>
                      </a:r>
                    </a:p>
                  </a:txBody>
                  <a:tcPr anchor="ctr">
                    <a:solidFill>
                      <a:srgbClr val="FFFFFF"/>
                    </a:solidFill>
                  </a:tcPr>
                </a:tc>
                <a:extLst>
                  <a:ext uri="{0D108BD9-81ED-4DB2-BD59-A6C34878D82A}">
                    <a16:rowId xmlns:a16="http://schemas.microsoft.com/office/drawing/2014/main" val="10001"/>
                  </a:ext>
                </a:extLst>
              </a:tr>
              <a:tr h="638175">
                <a:tc>
                  <a:txBody>
                    <a:bodyPr/>
                    <a:lstStyle/>
                    <a:p>
                      <a:pPr algn="l">
                        <a:lnSpc>
                          <a:spcPct val="104000"/>
                        </a:lnSpc>
                        <a:buNone/>
                      </a:pPr>
                      <a:r>
                        <a:rPr sz="1650" b="0">
                          <a:solidFill>
                            <a:srgbClr val="17325C"/>
                          </a:solidFill>
                          <a:latin typeface="Arial"/>
                          <a:ea typeface="Arial"/>
                          <a:cs typeface="Arial"/>
                        </a:rPr>
                        <a:t>8</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Tiếp nhận, gửi hồ sơ trả góp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Telesales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Thủ tục của công ty tài chính</a:t>
                      </a:r>
                    </a:p>
                  </a:txBody>
                  <a:tcPr anchor="ctr">
                    <a:solidFill>
                      <a:srgbClr val="F1F6FC"/>
                    </a:solidFill>
                  </a:tcPr>
                </a:tc>
                <a:extLst>
                  <a:ext uri="{0D108BD9-81ED-4DB2-BD59-A6C34878D82A}">
                    <a16:rowId xmlns:a16="http://schemas.microsoft.com/office/drawing/2014/main" val="10002"/>
                  </a:ext>
                </a:extLst>
              </a:tr>
              <a:tr h="638175">
                <a:tc>
                  <a:txBody>
                    <a:bodyPr/>
                    <a:lstStyle/>
                    <a:p>
                      <a:pPr algn="l">
                        <a:lnSpc>
                          <a:spcPct val="104000"/>
                        </a:lnSpc>
                        <a:buNone/>
                      </a:pPr>
                      <a:r>
                        <a:rPr sz="1650" b="0">
                          <a:solidFill>
                            <a:srgbClr val="17325C"/>
                          </a:solidFill>
                          <a:latin typeface="Arial"/>
                          <a:ea typeface="Arial"/>
                          <a:cs typeface="Arial"/>
                        </a:rPr>
                        <a:t>9</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Chờ, xác nhận thanh toán online</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Telesales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Kiểm soát dòng tiền, gian lận</a:t>
                      </a:r>
                    </a:p>
                  </a:txBody>
                  <a:tcPr anchor="ctr">
                    <a:solidFill>
                      <a:srgbClr val="FFFFFF"/>
                    </a:solidFill>
                  </a:tcPr>
                </a:tc>
                <a:extLst>
                  <a:ext uri="{0D108BD9-81ED-4DB2-BD59-A6C34878D82A}">
                    <a16:rowId xmlns:a16="http://schemas.microsoft.com/office/drawing/2014/main" val="10003"/>
                  </a:ext>
                </a:extLst>
              </a:tr>
              <a:tr h="638175">
                <a:tc>
                  <a:txBody>
                    <a:bodyPr/>
                    <a:lstStyle/>
                    <a:p>
                      <a:pPr algn="l">
                        <a:lnSpc>
                          <a:spcPct val="104000"/>
                        </a:lnSpc>
                        <a:buNone/>
                      </a:pPr>
                      <a:r>
                        <a:rPr sz="1650" b="0">
                          <a:solidFill>
                            <a:srgbClr val="17325C"/>
                          </a:solidFill>
                          <a:latin typeface="Arial"/>
                          <a:ea typeface="Arial"/>
                          <a:cs typeface="Arial"/>
                        </a:rPr>
                        <a:t>10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Giữ hàng, cập nhật “Đang xử lý”</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Bảo đảm hàng sẵn có cho đơn</a:t>
                      </a:r>
                    </a:p>
                  </a:txBody>
                  <a:tcPr anchor="ctr">
                    <a:solidFill>
                      <a:srgbClr val="F1F6FC"/>
                    </a:solidFill>
                  </a:tcPr>
                </a:tc>
                <a:extLst>
                  <a:ext uri="{0D108BD9-81ED-4DB2-BD59-A6C34878D82A}">
                    <a16:rowId xmlns:a16="http://schemas.microsoft.com/office/drawing/2014/main" val="10004"/>
                  </a:ext>
                </a:extLst>
              </a:tr>
              <a:tr h="638175">
                <a:tc>
                  <a:txBody>
                    <a:bodyPr/>
                    <a:lstStyle/>
                    <a:p>
                      <a:pPr algn="l">
                        <a:lnSpc>
                          <a:spcPct val="104000"/>
                        </a:lnSpc>
                        <a:buNone/>
                      </a:pPr>
                      <a:r>
                        <a:rPr sz="1650" b="0">
                          <a:solidFill>
                            <a:srgbClr val="17325C"/>
                          </a:solidFill>
                          <a:latin typeface="Arial"/>
                          <a:ea typeface="Arial"/>
                          <a:cs typeface="Arial"/>
                        </a:rPr>
                        <a:t>11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Hủy đơn và thông báo khách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Telesales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Phát sinh khi quy trình thất bại</a:t>
                      </a:r>
                    </a:p>
                  </a:txBody>
                  <a:tcPr anchor="ctr">
                    <a:solidFill>
                      <a:srgbClr val="FFFFFF"/>
                    </a:solidFill>
                  </a:tcPr>
                </a:tc>
                <a:extLst>
                  <a:ext uri="{0D108BD9-81ED-4DB2-BD59-A6C34878D82A}">
                    <a16:rowId xmlns:a16="http://schemas.microsoft.com/office/drawing/2014/main" val="10005"/>
                  </a:ext>
                </a:extLst>
              </a:tr>
              <a:tr h="638175">
                <a:tc>
                  <a:txBody>
                    <a:bodyPr/>
                    <a:lstStyle/>
                    <a:p>
                      <a:pPr algn="l">
                        <a:lnSpc>
                          <a:spcPct val="104000"/>
                        </a:lnSpc>
                        <a:buNone/>
                      </a:pPr>
                      <a:r>
                        <a:rPr sz="1650" b="0">
                          <a:solidFill>
                            <a:srgbClr val="17325C"/>
                          </a:solidFill>
                          <a:latin typeface="Arial"/>
                          <a:ea typeface="Arial"/>
                          <a:cs typeface="Arial"/>
                        </a:rPr>
                        <a:t>12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Soạn hàng theo phiếu</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Chuẩn bị đúng sản phẩm đã mua</a:t>
                      </a:r>
                    </a:p>
                  </a:txBody>
                  <a:tcPr anchor="ctr">
                    <a:solidFill>
                      <a:srgbClr val="F1F6FC"/>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8FA3A130-243C-56C2-0F8E-1DE737AC37B9}"/>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defRPr>
                <a:latin typeface="Arial"/>
                <a:ea typeface="Arial"/>
                <a:cs typeface="Arial"/>
              </a:defRPr>
            </a:pPr>
            <a:r>
              <a:rPr sz="2550" b="1" dirty="0">
                <a:solidFill>
                  <a:srgbClr val="062B8D"/>
                </a:solidFill>
                <a:latin typeface="Arial"/>
                <a:ea typeface="Arial"/>
                <a:cs typeface="Arial"/>
              </a:rPr>
              <a:t>VI. PHÂN TÍCH GIÁ TRỊ GIA TĂNG</a:t>
            </a:r>
          </a:p>
          <a:p>
            <a:pPr algn="l">
              <a:spcBef>
                <a:spcPts val="0"/>
              </a:spcBef>
              <a:spcAft>
                <a:spcPts val="0"/>
              </a:spcAft>
              <a:defRPr>
                <a:latin typeface="Arial"/>
                <a:ea typeface="Arial"/>
                <a:cs typeface="Arial"/>
              </a:defRPr>
            </a:pPr>
            <a:r>
              <a:rPr sz="1500" b="1" dirty="0">
                <a:solidFill>
                  <a:srgbClr val="009D9E"/>
                </a:solidFill>
                <a:latin typeface="Arial"/>
                <a:ea typeface="Arial"/>
                <a:cs typeface="Arial"/>
              </a:rPr>
              <a:t>QUY TRÌNH BÁN HÀNG TRỰC TUYẾN</a:t>
            </a:r>
          </a:p>
        </p:txBody>
      </p:sp>
    </p:spTree>
    <p:extLst>
      <p:ext uri="{BB962C8B-B14F-4D97-AF65-F5344CB8AC3E}">
        <p14:creationId xmlns:p14="http://schemas.microsoft.com/office/powerpoint/2010/main" val="985234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33</a:t>
            </a:r>
          </a:p>
        </p:txBody>
      </p:sp>
      <p:graphicFrame>
        <p:nvGraphicFramePr>
          <p:cNvPr id="112" name="Table 111"/>
          <p:cNvGraphicFramePr/>
          <p:nvPr/>
        </p:nvGraphicFramePr>
        <p:xfrm>
          <a:off x="742950" y="1714500"/>
          <a:ext cx="10763250" cy="4248150"/>
        </p:xfrm>
        <a:graphic>
          <a:graphicData uri="http://schemas.openxmlformats.org/drawingml/2006/table">
            <a:tbl>
              <a:tblPr firstRow="1"/>
              <a:tblGrid>
                <a:gridCol w="59055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4095750">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Tác nhân</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Loại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Lý giải</a:t>
                      </a:r>
                    </a:p>
                  </a:txBody>
                  <a:tcPr anchor="ctr">
                    <a:solidFill>
                      <a:srgbClr val="009D9E"/>
                    </a:solidFill>
                  </a:tcPr>
                </a:tc>
                <a:extLst>
                  <a:ext uri="{0D108BD9-81ED-4DB2-BD59-A6C34878D82A}">
                    <a16:rowId xmlns:a16="http://schemas.microsoft.com/office/drawing/2014/main" val="10000"/>
                  </a:ext>
                </a:extLst>
              </a:tr>
              <a:tr h="638175">
                <a:tc>
                  <a:txBody>
                    <a:bodyPr/>
                    <a:lstStyle/>
                    <a:p>
                      <a:pPr algn="l">
                        <a:lnSpc>
                          <a:spcPct val="104000"/>
                        </a:lnSpc>
                        <a:buNone/>
                      </a:pPr>
                      <a:r>
                        <a:rPr sz="1650" b="0">
                          <a:solidFill>
                            <a:srgbClr val="17325C"/>
                          </a:solidFill>
                          <a:latin typeface="Arial"/>
                          <a:ea typeface="Arial"/>
                          <a:cs typeface="Arial"/>
                        </a:rPr>
                        <a:t>13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Quét, ghi nhận IMEI/serial</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Cửa hàng–Kho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Quản lý bảo hành, chống hàng giả</a:t>
                      </a:r>
                    </a:p>
                  </a:txBody>
                  <a:tcPr anchor="ctr">
                    <a:solidFill>
                      <a:srgbClr val="FFFFFF"/>
                    </a:solidFill>
                  </a:tcPr>
                </a:tc>
                <a:extLst>
                  <a:ext uri="{0D108BD9-81ED-4DB2-BD59-A6C34878D82A}">
                    <a16:rowId xmlns:a16="http://schemas.microsoft.com/office/drawing/2014/main" val="10001"/>
                  </a:ext>
                </a:extLst>
              </a:tr>
              <a:tr h="638175">
                <a:tc>
                  <a:txBody>
                    <a:bodyPr/>
                    <a:lstStyle/>
                    <a:p>
                      <a:pPr algn="l">
                        <a:lnSpc>
                          <a:spcPct val="104000"/>
                        </a:lnSpc>
                        <a:buNone/>
                      </a:pPr>
                      <a:r>
                        <a:rPr sz="1650" b="0">
                          <a:solidFill>
                            <a:srgbClr val="17325C"/>
                          </a:solidFill>
                          <a:latin typeface="Arial"/>
                          <a:ea typeface="Arial"/>
                          <a:cs typeface="Arial"/>
                        </a:rPr>
                        <a:t>14</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Đóng gói, dán tem niêm phong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Giữ sản phẩm nguyên vẹn</a:t>
                      </a:r>
                    </a:p>
                  </a:txBody>
                  <a:tcPr anchor="ctr">
                    <a:solidFill>
                      <a:srgbClr val="F1F6FC"/>
                    </a:solidFill>
                  </a:tcPr>
                </a:tc>
                <a:extLst>
                  <a:ext uri="{0D108BD9-81ED-4DB2-BD59-A6C34878D82A}">
                    <a16:rowId xmlns:a16="http://schemas.microsoft.com/office/drawing/2014/main" val="10002"/>
                  </a:ext>
                </a:extLst>
              </a:tr>
              <a:tr h="638175">
                <a:tc>
                  <a:txBody>
                    <a:bodyPr/>
                    <a:lstStyle/>
                    <a:p>
                      <a:pPr algn="l">
                        <a:lnSpc>
                          <a:spcPct val="104000"/>
                        </a:lnSpc>
                        <a:buNone/>
                      </a:pPr>
                      <a:r>
                        <a:rPr sz="1650" b="0">
                          <a:solidFill>
                            <a:srgbClr val="17325C"/>
                          </a:solidFill>
                          <a:latin typeface="Arial"/>
                          <a:ea typeface="Arial"/>
                          <a:cs typeface="Arial"/>
                        </a:rPr>
                        <a:t>15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Xuất hóa đơn VAT điện tử</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Cửa hàng–Kho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Tuân thủ nghĩa vụ về hóa đơn</a:t>
                      </a:r>
                    </a:p>
                  </a:txBody>
                  <a:tcPr anchor="ctr">
                    <a:solidFill>
                      <a:srgbClr val="FFFFFF"/>
                    </a:solidFill>
                  </a:tcPr>
                </a:tc>
                <a:extLst>
                  <a:ext uri="{0D108BD9-81ED-4DB2-BD59-A6C34878D82A}">
                    <a16:rowId xmlns:a16="http://schemas.microsoft.com/office/drawing/2014/main" val="10003"/>
                  </a:ext>
                </a:extLst>
              </a:tr>
              <a:tr h="638175">
                <a:tc>
                  <a:txBody>
                    <a:bodyPr/>
                    <a:lstStyle/>
                    <a:p>
                      <a:pPr algn="l">
                        <a:lnSpc>
                          <a:spcPct val="104000"/>
                        </a:lnSpc>
                        <a:buNone/>
                      </a:pPr>
                      <a:r>
                        <a:rPr sz="1650" b="0">
                          <a:solidFill>
                            <a:srgbClr val="17325C"/>
                          </a:solidFill>
                          <a:latin typeface="Arial"/>
                          <a:ea typeface="Arial"/>
                          <a:cs typeface="Arial"/>
                        </a:rPr>
                        <a:t>16</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Bàn giao tại cửa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Chuyển giao sản phẩm cho khách</a:t>
                      </a:r>
                    </a:p>
                  </a:txBody>
                  <a:tcPr anchor="ctr">
                    <a:solidFill>
                      <a:srgbClr val="F1F6FC"/>
                    </a:solidFill>
                  </a:tcPr>
                </a:tc>
                <a:extLst>
                  <a:ext uri="{0D108BD9-81ED-4DB2-BD59-A6C34878D82A}">
                    <a16:rowId xmlns:a16="http://schemas.microsoft.com/office/drawing/2014/main" val="10004"/>
                  </a:ext>
                </a:extLst>
              </a:tr>
              <a:tr h="638175">
                <a:tc>
                  <a:txBody>
                    <a:bodyPr/>
                    <a:lstStyle/>
                    <a:p>
                      <a:pPr algn="l">
                        <a:lnSpc>
                          <a:spcPct val="104000"/>
                        </a:lnSpc>
                        <a:buNone/>
                      </a:pPr>
                      <a:r>
                        <a:rPr sz="1650" b="0">
                          <a:solidFill>
                            <a:srgbClr val="17325C"/>
                          </a:solidFill>
                          <a:latin typeface="Arial"/>
                          <a:ea typeface="Arial"/>
                          <a:cs typeface="Arial"/>
                        </a:rPr>
                        <a:t>17</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Bàn giao cho đơn vị vận chuyển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vận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Bước cần thiết để vận hành</a:t>
                      </a:r>
                    </a:p>
                  </a:txBody>
                  <a:tcPr anchor="ctr">
                    <a:solidFill>
                      <a:srgbClr val="FFFFFF"/>
                    </a:solidFill>
                  </a:tcPr>
                </a:tc>
                <a:extLst>
                  <a:ext uri="{0D108BD9-81ED-4DB2-BD59-A6C34878D82A}">
                    <a16:rowId xmlns:a16="http://schemas.microsoft.com/office/drawing/2014/main" val="10005"/>
                  </a:ext>
                </a:extLst>
              </a:tr>
              <a:tr h="638175">
                <a:tc>
                  <a:txBody>
                    <a:bodyPr/>
                    <a:lstStyle/>
                    <a:p>
                      <a:pPr algn="l">
                        <a:lnSpc>
                          <a:spcPct val="104000"/>
                        </a:lnSpc>
                        <a:buNone/>
                      </a:pPr>
                      <a:r>
                        <a:rPr sz="1650" b="0">
                          <a:solidFill>
                            <a:srgbClr val="17325C"/>
                          </a:solidFill>
                          <a:latin typeface="Arial"/>
                          <a:ea typeface="Arial"/>
                          <a:cs typeface="Arial"/>
                        </a:rPr>
                        <a:t>18</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hàng và đồng kiểm</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vận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đúng hàng, cho khách kiểm tra</a:t>
                      </a:r>
                    </a:p>
                  </a:txBody>
                  <a:tcPr anchor="ctr">
                    <a:solidFill>
                      <a:srgbClr val="F1F6FC"/>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DCE38F47-A668-2E2E-BF20-A4D22C7E8B9D}"/>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defRPr>
                <a:latin typeface="Arial"/>
                <a:ea typeface="Arial"/>
                <a:cs typeface="Arial"/>
              </a:defRPr>
            </a:pPr>
            <a:r>
              <a:rPr sz="2550" b="1" dirty="0">
                <a:solidFill>
                  <a:srgbClr val="062B8D"/>
                </a:solidFill>
                <a:latin typeface="Arial"/>
                <a:ea typeface="Arial"/>
                <a:cs typeface="Arial"/>
              </a:rPr>
              <a:t>VI. PHÂN TÍCH GIÁ TRỊ GIA TĂNG</a:t>
            </a:r>
          </a:p>
          <a:p>
            <a:pPr algn="l">
              <a:spcBef>
                <a:spcPts val="0"/>
              </a:spcBef>
              <a:spcAft>
                <a:spcPts val="0"/>
              </a:spcAft>
              <a:defRPr>
                <a:latin typeface="Arial"/>
                <a:ea typeface="Arial"/>
                <a:cs typeface="Arial"/>
              </a:defRPr>
            </a:pPr>
            <a:r>
              <a:rPr sz="1500" b="1" dirty="0">
                <a:solidFill>
                  <a:srgbClr val="009D9E"/>
                </a:solidFill>
                <a:latin typeface="Arial"/>
                <a:ea typeface="Arial"/>
                <a:cs typeface="Arial"/>
              </a:rPr>
              <a:t>QUY TRÌNH BÁN HÀNG TRỰC TUYẾN</a:t>
            </a:r>
          </a:p>
        </p:txBody>
      </p:sp>
    </p:spTree>
    <p:extLst>
      <p:ext uri="{BB962C8B-B14F-4D97-AF65-F5344CB8AC3E}">
        <p14:creationId xmlns:p14="http://schemas.microsoft.com/office/powerpoint/2010/main" val="985234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34</a:t>
            </a:r>
          </a:p>
        </p:txBody>
      </p:sp>
      <p:graphicFrame>
        <p:nvGraphicFramePr>
          <p:cNvPr id="112" name="Table 111"/>
          <p:cNvGraphicFramePr/>
          <p:nvPr/>
        </p:nvGraphicFramePr>
        <p:xfrm>
          <a:off x="742950" y="1714500"/>
          <a:ext cx="10763250" cy="4248150"/>
        </p:xfrm>
        <a:graphic>
          <a:graphicData uri="http://schemas.openxmlformats.org/drawingml/2006/table">
            <a:tbl>
              <a:tblPr firstRow="1"/>
              <a:tblGrid>
                <a:gridCol w="59055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4095750">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Tác nhân</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Loại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Lý giải</a:t>
                      </a:r>
                    </a:p>
                  </a:txBody>
                  <a:tcPr anchor="ctr">
                    <a:solidFill>
                      <a:srgbClr val="009D9E"/>
                    </a:solidFill>
                  </a:tcPr>
                </a:tc>
                <a:extLst>
                  <a:ext uri="{0D108BD9-81ED-4DB2-BD59-A6C34878D82A}">
                    <a16:rowId xmlns:a16="http://schemas.microsoft.com/office/drawing/2014/main" val="10000"/>
                  </a:ext>
                </a:extLst>
              </a:tr>
              <a:tr h="638175">
                <a:tc>
                  <a:txBody>
                    <a:bodyPr/>
                    <a:lstStyle/>
                    <a:p>
                      <a:pPr algn="l">
                        <a:lnSpc>
                          <a:spcPct val="104000"/>
                        </a:lnSpc>
                        <a:buNone/>
                      </a:pPr>
                      <a:r>
                        <a:rPr sz="1650" b="0">
                          <a:solidFill>
                            <a:srgbClr val="17325C"/>
                          </a:solidFill>
                          <a:latin typeface="Arial"/>
                          <a:ea typeface="Arial"/>
                          <a:cs typeface="Arial"/>
                        </a:rPr>
                        <a:t>19</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Hẹn giao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vận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Lặp công việc do giao thất bại</a:t>
                      </a:r>
                    </a:p>
                  </a:txBody>
                  <a:tcPr anchor="ctr">
                    <a:solidFill>
                      <a:srgbClr val="FFFFFF"/>
                    </a:solidFill>
                  </a:tcPr>
                </a:tc>
                <a:extLst>
                  <a:ext uri="{0D108BD9-81ED-4DB2-BD59-A6C34878D82A}">
                    <a16:rowId xmlns:a16="http://schemas.microsoft.com/office/drawing/2014/main" val="10001"/>
                  </a:ext>
                </a:extLst>
              </a:tr>
              <a:tr h="638175">
                <a:tc>
                  <a:txBody>
                    <a:bodyPr/>
                    <a:lstStyle/>
                    <a:p>
                      <a:pPr algn="l">
                        <a:lnSpc>
                          <a:spcPct val="104000"/>
                        </a:lnSpc>
                        <a:buNone/>
                      </a:pPr>
                      <a:r>
                        <a:rPr sz="1650" b="0">
                          <a:solidFill>
                            <a:srgbClr val="17325C"/>
                          </a:solidFill>
                          <a:latin typeface="Arial"/>
                          <a:ea typeface="Arial"/>
                          <a:cs typeface="Arial"/>
                        </a:rPr>
                        <a:t>20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Nhập kho lại hàng hoàn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Làm lại do hàng bị hoàn</a:t>
                      </a:r>
                    </a:p>
                  </a:txBody>
                  <a:tcPr anchor="ctr">
                    <a:solidFill>
                      <a:srgbClr val="F1F6FC"/>
                    </a:solidFill>
                  </a:tcPr>
                </a:tc>
                <a:extLst>
                  <a:ext uri="{0D108BD9-81ED-4DB2-BD59-A6C34878D82A}">
                    <a16:rowId xmlns:a16="http://schemas.microsoft.com/office/drawing/2014/main" val="10002"/>
                  </a:ext>
                </a:extLst>
              </a:tr>
              <a:tr h="638175">
                <a:tc>
                  <a:txBody>
                    <a:bodyPr/>
                    <a:lstStyle/>
                    <a:p>
                      <a:pPr algn="l">
                        <a:lnSpc>
                          <a:spcPct val="104000"/>
                        </a:lnSpc>
                        <a:buNone/>
                      </a:pPr>
                      <a:r>
                        <a:rPr sz="1650" b="0">
                          <a:solidFill>
                            <a:srgbClr val="17325C"/>
                          </a:solidFill>
                          <a:latin typeface="Arial"/>
                          <a:ea typeface="Arial"/>
                          <a:cs typeface="Arial"/>
                        </a:rPr>
                        <a:t>21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Đối soát COD, ghi doanh thu</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Kế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Kiểm soát tài chính</a:t>
                      </a:r>
                    </a:p>
                  </a:txBody>
                  <a:tcPr anchor="ctr">
                    <a:solidFill>
                      <a:srgbClr val="FFFFFF"/>
                    </a:solidFill>
                  </a:tcPr>
                </a:tc>
                <a:extLst>
                  <a:ext uri="{0D108BD9-81ED-4DB2-BD59-A6C34878D82A}">
                    <a16:rowId xmlns:a16="http://schemas.microsoft.com/office/drawing/2014/main" val="10003"/>
                  </a:ext>
                </a:extLst>
              </a:tr>
              <a:tr h="638175">
                <a:tc>
                  <a:txBody>
                    <a:bodyPr/>
                    <a:lstStyle/>
                    <a:p>
                      <a:pPr algn="l">
                        <a:lnSpc>
                          <a:spcPct val="104000"/>
                        </a:lnSpc>
                        <a:buNone/>
                      </a:pPr>
                      <a:r>
                        <a:rPr sz="1650" b="0">
                          <a:solidFill>
                            <a:srgbClr val="17325C"/>
                          </a:solidFill>
                          <a:latin typeface="Arial"/>
                          <a:ea typeface="Arial"/>
                          <a:cs typeface="Arial"/>
                        </a:rPr>
                        <a:t>22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Kích hoạt bảo hành theo IMEI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Tạo quyền lợi hậu mãi</a:t>
                      </a:r>
                    </a:p>
                  </a:txBody>
                  <a:tcPr anchor="ctr">
                    <a:solidFill>
                      <a:srgbClr val="F1F6FC"/>
                    </a:solidFill>
                  </a:tcPr>
                </a:tc>
                <a:extLst>
                  <a:ext uri="{0D108BD9-81ED-4DB2-BD59-A6C34878D82A}">
                    <a16:rowId xmlns:a16="http://schemas.microsoft.com/office/drawing/2014/main" val="10004"/>
                  </a:ext>
                </a:extLst>
              </a:tr>
              <a:tr h="638175">
                <a:tc>
                  <a:txBody>
                    <a:bodyPr/>
                    <a:lstStyle/>
                    <a:p>
                      <a:pPr algn="l">
                        <a:lnSpc>
                          <a:spcPct val="104000"/>
                        </a:lnSpc>
                        <a:buNone/>
                      </a:pPr>
                      <a:r>
                        <a:rPr sz="1650" b="0">
                          <a:solidFill>
                            <a:srgbClr val="17325C"/>
                          </a:solidFill>
                          <a:latin typeface="Arial"/>
                          <a:ea typeface="Arial"/>
                          <a:cs typeface="Arial"/>
                        </a:rPr>
                        <a:t>23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Gửi khảo sát mức hài lòng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OMS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Thu thập dữ liệu để cải tiến</a:t>
                      </a:r>
                    </a:p>
                  </a:txBody>
                  <a:tcPr anchor="ctr">
                    <a:solidFill>
                      <a:srgbClr val="FFFFFF"/>
                    </a:solidFill>
                  </a:tcPr>
                </a:tc>
                <a:extLst>
                  <a:ext uri="{0D108BD9-81ED-4DB2-BD59-A6C34878D82A}">
                    <a16:rowId xmlns:a16="http://schemas.microsoft.com/office/drawing/2014/main" val="10005"/>
                  </a:ext>
                </a:extLst>
              </a:tr>
              <a:tr h="638175">
                <a:tc>
                  <a:txBody>
                    <a:bodyPr/>
                    <a:lstStyle/>
                    <a:p>
                      <a:pPr algn="l">
                        <a:lnSpc>
                          <a:spcPct val="104000"/>
                        </a:lnSpc>
                        <a:buNone/>
                      </a:pPr>
                      <a:r>
                        <a:rPr sz="1650" b="0">
                          <a:solidFill>
                            <a:srgbClr val="17325C"/>
                          </a:solidFill>
                          <a:latin typeface="Arial"/>
                          <a:ea typeface="Arial"/>
                          <a:cs typeface="Arial"/>
                        </a:rPr>
                        <a:t>24</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Cập nhật “Hoàn thành”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Đóng hồ sơ, phục vụ báo cáo</a:t>
                      </a:r>
                    </a:p>
                  </a:txBody>
                  <a:tcPr anchor="ctr">
                    <a:solidFill>
                      <a:srgbClr val="F1F6FC"/>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9CF12DAD-5C72-8110-C51E-4D25ACB57620}"/>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defRPr>
                <a:latin typeface="Arial"/>
                <a:ea typeface="Arial"/>
                <a:cs typeface="Arial"/>
              </a:defRPr>
            </a:pPr>
            <a:r>
              <a:rPr sz="2550" b="1" dirty="0">
                <a:solidFill>
                  <a:srgbClr val="062B8D"/>
                </a:solidFill>
                <a:latin typeface="Arial"/>
                <a:ea typeface="Arial"/>
                <a:cs typeface="Arial"/>
              </a:rPr>
              <a:t>VI. PHÂN TÍCH GIÁ TRỊ GIA TĂNG</a:t>
            </a:r>
          </a:p>
          <a:p>
            <a:pPr algn="l">
              <a:spcBef>
                <a:spcPts val="0"/>
              </a:spcBef>
              <a:spcAft>
                <a:spcPts val="0"/>
              </a:spcAft>
              <a:defRPr>
                <a:latin typeface="Arial"/>
                <a:ea typeface="Arial"/>
                <a:cs typeface="Arial"/>
              </a:defRPr>
            </a:pPr>
            <a:r>
              <a:rPr sz="1500" b="1" dirty="0">
                <a:solidFill>
                  <a:srgbClr val="009D9E"/>
                </a:solidFill>
                <a:latin typeface="Arial"/>
                <a:ea typeface="Arial"/>
                <a:cs typeface="Arial"/>
              </a:rPr>
              <a:t>QUY TRÌNH BÁN HÀNG TRỰC TUYẾN</a:t>
            </a:r>
          </a:p>
        </p:txBody>
      </p:sp>
    </p:spTree>
    <p:extLst>
      <p:ext uri="{BB962C8B-B14F-4D97-AF65-F5344CB8AC3E}">
        <p14:creationId xmlns:p14="http://schemas.microsoft.com/office/powerpoint/2010/main" val="985234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35</a:t>
            </a:r>
          </a:p>
        </p:txBody>
      </p:sp>
      <p:sp>
        <p:nvSpPr>
          <p:cNvPr id="60" name="Rectangle 59">
            <a:extLst>
              <a:ext uri="{FF2B5EF4-FFF2-40B4-BE49-F238E27FC236}">
                <a16:creationId xmlns:a16="http://schemas.microsoft.com/office/drawing/2014/main" id="{85A9DFB4-7049-4FAA-8EDC-F162FE5A27A0}"/>
              </a:ext>
            </a:extLst>
          </p:cNvPr>
          <p:cNvSpPr>
            <a:spLocks noGrp="1"/>
          </p:cNvSpPr>
          <p:nvPr/>
        </p:nvSpPr>
        <p:spPr>
          <a:xfrm>
            <a:off x="571500" y="990600"/>
            <a:ext cx="10572750" cy="742950"/>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TỔNG HỢP PHÂN TÍCH GIÁ TRỊ GIA TĂNG</a:t>
            </a:r>
            <a:endParaRPr lang="en-US" sz="2550" b="1" dirty="0">
              <a:solidFill>
                <a:srgbClr val="062B8D"/>
              </a:solidFill>
              <a:latin typeface="Arial"/>
              <a:ea typeface="Arial"/>
              <a:cs typeface="Arial"/>
            </a:endParaRPr>
          </a:p>
          <a:p>
            <a:pPr>
              <a:lnSpc>
                <a:spcPct val="104000"/>
              </a:lnSpc>
              <a:defRPr sz="2550" b="1">
                <a:solidFill>
                  <a:srgbClr val="062B8D"/>
                </a:solidFill>
                <a:latin typeface="Arial"/>
                <a:ea typeface="Arial"/>
                <a:cs typeface="Arial"/>
              </a:defRPr>
            </a:pPr>
            <a:r>
              <a:rPr lang="en-US"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graphicFrame>
        <p:nvGraphicFramePr>
          <p:cNvPr id="114" name="Table 113"/>
          <p:cNvGraphicFramePr/>
          <p:nvPr/>
        </p:nvGraphicFramePr>
        <p:xfrm>
          <a:off x="742950" y="1714500"/>
          <a:ext cx="10763250" cy="3657600"/>
        </p:xfrm>
        <a:graphic>
          <a:graphicData uri="http://schemas.openxmlformats.org/drawingml/2006/table">
            <a:tbl>
              <a:tblPr firstRow="1"/>
              <a:tblGrid>
                <a:gridCol w="10477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gridCol w="3810000">
                  <a:extLst>
                    <a:ext uri="{9D8B030D-6E8A-4147-A177-3AD203B41FA5}">
                      <a16:colId xmlns:a16="http://schemas.microsoft.com/office/drawing/2014/main" val="20003"/>
                    </a:ext>
                  </a:extLst>
                </a:gridCol>
              </a:tblGrid>
              <a:tr h="457200">
                <a:tc>
                  <a:txBody>
                    <a:bodyPr/>
                    <a:lstStyle/>
                    <a:p>
                      <a:pPr algn="l">
                        <a:lnSpc>
                          <a:spcPct val="104000"/>
                        </a:lnSpc>
                        <a:buNone/>
                      </a:pPr>
                      <a:r>
                        <a:rPr sz="1650" b="1">
                          <a:solidFill>
                            <a:srgbClr val="FFFFFF"/>
                          </a:solidFill>
                          <a:latin typeface="Arial"/>
                          <a:ea typeface="Arial"/>
                          <a:cs typeface="Arial"/>
                        </a:rPr>
                        <a:t>Nhóm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Số lượng / Tỷ lệ</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Ý nghĩa</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Hướng cải tiến</a:t>
                      </a:r>
                    </a:p>
                  </a:txBody>
                  <a:tcPr anchor="ctr">
                    <a:solidFill>
                      <a:srgbClr val="009D9E"/>
                    </a:solidFill>
                  </a:tcPr>
                </a:tc>
                <a:extLst>
                  <a:ext uri="{0D108BD9-81ED-4DB2-BD59-A6C34878D82A}">
                    <a16:rowId xmlns:a16="http://schemas.microsoft.com/office/drawing/2014/main" val="10000"/>
                  </a:ext>
                </a:extLst>
              </a:tr>
              <a:tr h="1066800">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8 / 33,3%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Tạo giá trị trực tiếp cho khách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Duy trì, tối ưu cách thực hiện.</a:t>
                      </a:r>
                    </a:p>
                  </a:txBody>
                  <a:tcPr anchor="ctr">
                    <a:solidFill>
                      <a:srgbClr val="FFFFFF"/>
                    </a:solidFill>
                  </a:tcPr>
                </a:tc>
                <a:extLst>
                  <a:ext uri="{0D108BD9-81ED-4DB2-BD59-A6C34878D82A}">
                    <a16:rowId xmlns:a16="http://schemas.microsoft.com/office/drawing/2014/main" val="10001"/>
                  </a:ext>
                </a:extLst>
              </a:tr>
              <a:tr h="1066800">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13 / 54,2%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Cần thiết cho vận hành và quản lý doanh nghiệp.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Tự động hóa, rút gọn hoặc gộp bước.</a:t>
                      </a:r>
                    </a:p>
                  </a:txBody>
                  <a:tcPr anchor="ctr">
                    <a:solidFill>
                      <a:srgbClr val="F1F6FC"/>
                    </a:solidFill>
                  </a:tcPr>
                </a:tc>
                <a:extLst>
                  <a:ext uri="{0D108BD9-81ED-4DB2-BD59-A6C34878D82A}">
                    <a16:rowId xmlns:a16="http://schemas.microsoft.com/office/drawing/2014/main" val="10002"/>
                  </a:ext>
                </a:extLst>
              </a:tr>
              <a:tr h="1066800">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3 / 12,5%</a:t>
                      </a:r>
                    </a:p>
                  </a:txBody>
                  <a:tcPr anchor="ctr">
                    <a:solidFill>
                      <a:srgbClr val="FFFFFF"/>
                    </a:solidFill>
                  </a:tcPr>
                </a:tc>
                <a:tc>
                  <a:txBody>
                    <a:bodyPr/>
                    <a:lstStyle/>
                    <a:p>
                      <a:pPr algn="l">
                        <a:lnSpc>
                          <a:spcPct val="104000"/>
                        </a:lnSpc>
                        <a:buNone/>
                      </a:pPr>
                      <a:r>
                        <a:rPr sz="1650" b="0" dirty="0" err="1">
                          <a:solidFill>
                            <a:srgbClr val="17325C"/>
                          </a:solidFill>
                          <a:latin typeface="Arial"/>
                          <a:ea typeface="Arial"/>
                          <a:cs typeface="Arial"/>
                        </a:rPr>
                        <a:t>Không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tạo</a:t>
                      </a:r>
                      <a:r>
                        <a:rPr sz="1650" b="0" dirty="0">
                          <a:solidFill>
                            <a:srgbClr val="17325C"/>
                          </a:solidFill>
                          <a:latin typeface="Arial"/>
                          <a:ea typeface="Arial"/>
                          <a:cs typeface="Arial"/>
                        </a:rPr>
                        <a:t> </a:t>
                      </a:r>
                      <a:r>
                        <a:rPr sz="1650" b="0" dirty="0" err="1">
                          <a:solidFill>
                            <a:srgbClr val="17325C"/>
                          </a:solidFill>
                          <a:latin typeface="Arial"/>
                          <a:ea typeface="Arial"/>
                          <a:cs typeface="Arial"/>
                        </a:rPr>
                        <a:t>giá</a:t>
                      </a:r>
                      <a:r>
                        <a:rPr sz="1650" b="0" dirty="0">
                          <a:solidFill>
                            <a:srgbClr val="17325C"/>
                          </a:solidFill>
                          <a:latin typeface="Arial"/>
                          <a:ea typeface="Arial"/>
                          <a:cs typeface="Arial"/>
                        </a:rPr>
                        <a:t> </a:t>
                      </a:r>
                      <a:r>
                        <a:rPr sz="1650" b="0" dirty="0" err="1">
                          <a:solidFill>
                            <a:srgbClr val="17325C"/>
                          </a:solidFill>
                          <a:latin typeface="Arial"/>
                          <a:ea typeface="Arial"/>
                          <a:cs typeface="Arial"/>
                        </a:rPr>
                        <a:t>trị</a:t>
                      </a:r>
                      <a:r>
                        <a:rPr sz="1650" b="0" dirty="0">
                          <a:solidFill>
                            <a:srgbClr val="17325C"/>
                          </a:solidFill>
                          <a:latin typeface="Arial"/>
                          <a:ea typeface="Arial"/>
                          <a:cs typeface="Arial"/>
                        </a:rPr>
                        <a:t>; </a:t>
                      </a:r>
                      <a:r>
                        <a:rPr sz="1650" b="0" dirty="0" err="1">
                          <a:solidFill>
                            <a:srgbClr val="17325C"/>
                          </a:solidFill>
                          <a:latin typeface="Arial"/>
                          <a:ea typeface="Arial"/>
                          <a:cs typeface="Arial"/>
                        </a:rPr>
                        <a:t>phát</a:t>
                      </a:r>
                      <a:r>
                        <a:rPr sz="1650" b="0" dirty="0">
                          <a:solidFill>
                            <a:srgbClr val="17325C"/>
                          </a:solidFill>
                          <a:latin typeface="Arial"/>
                          <a:ea typeface="Arial"/>
                          <a:cs typeface="Arial"/>
                        </a:rPr>
                        <a:t> </a:t>
                      </a:r>
                      <a:r>
                        <a:rPr sz="1650" b="0" dirty="0" err="1">
                          <a:solidFill>
                            <a:srgbClr val="17325C"/>
                          </a:solidFill>
                          <a:latin typeface="Arial"/>
                          <a:ea typeface="Arial"/>
                          <a:cs typeface="Arial"/>
                        </a:rPr>
                        <a:t>sinh</a:t>
                      </a:r>
                      <a:r>
                        <a:rPr sz="1650" b="0" dirty="0">
                          <a:solidFill>
                            <a:srgbClr val="17325C"/>
                          </a:solidFill>
                          <a:latin typeface="Arial"/>
                          <a:ea typeface="Arial"/>
                          <a:cs typeface="Arial"/>
                        </a:rPr>
                        <a:t> do </a:t>
                      </a:r>
                      <a:r>
                        <a:rPr sz="1650" b="0" dirty="0" err="1">
                          <a:solidFill>
                            <a:srgbClr val="17325C"/>
                          </a:solidFill>
                          <a:latin typeface="Arial"/>
                          <a:ea typeface="Arial"/>
                          <a:cs typeface="Arial"/>
                        </a:rPr>
                        <a:t>thất</a:t>
                      </a:r>
                      <a:r>
                        <a:rPr sz="1650" b="0" dirty="0">
                          <a:solidFill>
                            <a:srgbClr val="17325C"/>
                          </a:solidFill>
                          <a:latin typeface="Arial"/>
                          <a:ea typeface="Arial"/>
                          <a:cs typeface="Arial"/>
                        </a:rPr>
                        <a:t> </a:t>
                      </a:r>
                      <a:r>
                        <a:rPr sz="1650" b="0" dirty="0" err="1">
                          <a:solidFill>
                            <a:srgbClr val="17325C"/>
                          </a:solidFill>
                          <a:latin typeface="Arial"/>
                          <a:ea typeface="Arial"/>
                          <a:cs typeface="Arial"/>
                        </a:rPr>
                        <a:t>bại</a:t>
                      </a:r>
                      <a:r>
                        <a:rPr sz="1650" b="0" dirty="0">
                          <a:solidFill>
                            <a:srgbClr val="17325C"/>
                          </a:solidFill>
                          <a:latin typeface="Arial"/>
                          <a:ea typeface="Arial"/>
                          <a:cs typeface="Arial"/>
                        </a:rPr>
                        <a:t> </a:t>
                      </a:r>
                      <a:r>
                        <a:rPr sz="1650" b="0" dirty="0" err="1">
                          <a:solidFill>
                            <a:srgbClr val="17325C"/>
                          </a:solidFill>
                          <a:latin typeface="Arial"/>
                          <a:ea typeface="Arial"/>
                          <a:cs typeface="Arial"/>
                        </a:rPr>
                        <a:t>hoặc</a:t>
                      </a:r>
                      <a:r>
                        <a:rPr sz="1650" b="0" dirty="0">
                          <a:solidFill>
                            <a:srgbClr val="17325C"/>
                          </a:solidFill>
                          <a:latin typeface="Arial"/>
                          <a:ea typeface="Arial"/>
                          <a:cs typeface="Arial"/>
                        </a:rPr>
                        <a:t> </a:t>
                      </a:r>
                      <a:r>
                        <a:rPr sz="1650" b="0" dirty="0" err="1">
                          <a:solidFill>
                            <a:srgbClr val="17325C"/>
                          </a:solidFill>
                          <a:latin typeface="Arial"/>
                          <a:ea typeface="Arial"/>
                          <a:cs typeface="Arial"/>
                        </a:rPr>
                        <a:t>làm</a:t>
                      </a:r>
                      <a:r>
                        <a:rPr sz="1650" b="0" dirty="0">
                          <a:solidFill>
                            <a:srgbClr val="17325C"/>
                          </a:solidFill>
                          <a:latin typeface="Arial"/>
                          <a:ea typeface="Arial"/>
                          <a:cs typeface="Arial"/>
                        </a:rPr>
                        <a:t> </a:t>
                      </a:r>
                      <a:r>
                        <a:rPr sz="1650" b="0" dirty="0" err="1">
                          <a:solidFill>
                            <a:srgbClr val="17325C"/>
                          </a:solidFill>
                          <a:latin typeface="Arial"/>
                          <a:ea typeface="Arial"/>
                          <a:cs typeface="Arial"/>
                        </a:rPr>
                        <a:t>lại</a:t>
                      </a:r>
                      <a:r>
                        <a:rPr sz="1650" b="0" dirty="0">
                          <a:solidFill>
                            <a:srgbClr val="17325C"/>
                          </a:solidFill>
                          <a:latin typeface="Arial"/>
                          <a:ea typeface="Arial"/>
                          <a:cs typeface="Arial"/>
                        </a:rPr>
                        <a:t>.</a:t>
                      </a:r>
                    </a:p>
                  </a:txBody>
                  <a:tcPr anchor="ctr">
                    <a:solidFill>
                      <a:srgbClr val="FFFFFF"/>
                    </a:solidFill>
                  </a:tcPr>
                </a:tc>
                <a:tc>
                  <a:txBody>
                    <a:bodyPr/>
                    <a:lstStyle/>
                    <a:p>
                      <a:pPr algn="l">
                        <a:lnSpc>
                          <a:spcPct val="104000"/>
                        </a:lnSpc>
                        <a:buNone/>
                      </a:pPr>
                      <a:r>
                        <a:rPr sz="1650" b="0" dirty="0" err="1">
                          <a:solidFill>
                            <a:srgbClr val="17325C"/>
                          </a:solidFill>
                          <a:latin typeface="Arial"/>
                          <a:ea typeface="Arial"/>
                          <a:cs typeface="Arial"/>
                        </a:rPr>
                        <a:t>Loại</a:t>
                      </a:r>
                      <a:r>
                        <a:rPr sz="1650" b="0" dirty="0">
                          <a:solidFill>
                            <a:srgbClr val="17325C"/>
                          </a:solidFill>
                          <a:latin typeface="Arial"/>
                          <a:ea typeface="Arial"/>
                          <a:cs typeface="Arial"/>
                        </a:rPr>
                        <a:t> </a:t>
                      </a:r>
                      <a:r>
                        <a:rPr sz="1650" b="0" dirty="0" err="1">
                          <a:solidFill>
                            <a:srgbClr val="17325C"/>
                          </a:solidFill>
                          <a:latin typeface="Arial"/>
                          <a:ea typeface="Arial"/>
                          <a:cs typeface="Arial"/>
                        </a:rPr>
                        <a:t>bỏ</a:t>
                      </a:r>
                      <a:r>
                        <a:rPr sz="1650" b="0" dirty="0">
                          <a:solidFill>
                            <a:srgbClr val="17325C"/>
                          </a:solidFill>
                          <a:latin typeface="Arial"/>
                          <a:ea typeface="Arial"/>
                          <a:cs typeface="Arial"/>
                        </a:rPr>
                        <a:t> </a:t>
                      </a:r>
                      <a:r>
                        <a:rPr sz="1650" b="0" dirty="0" err="1">
                          <a:solidFill>
                            <a:srgbClr val="17325C"/>
                          </a:solidFill>
                          <a:latin typeface="Arial"/>
                          <a:ea typeface="Arial"/>
                          <a:cs typeface="Arial"/>
                        </a:rPr>
                        <a:t>hoặc</a:t>
                      </a:r>
                      <a:r>
                        <a:rPr sz="1650" b="0" dirty="0">
                          <a:solidFill>
                            <a:srgbClr val="17325C"/>
                          </a:solidFill>
                          <a:latin typeface="Arial"/>
                          <a:ea typeface="Arial"/>
                          <a:cs typeface="Arial"/>
                        </a:rPr>
                        <a:t> </a:t>
                      </a:r>
                      <a:r>
                        <a:rPr sz="1650" b="0" dirty="0" err="1">
                          <a:solidFill>
                            <a:srgbClr val="17325C"/>
                          </a:solidFill>
                          <a:latin typeface="Arial"/>
                          <a:ea typeface="Arial"/>
                          <a:cs typeface="Arial"/>
                        </a:rPr>
                        <a:t>giảm</a:t>
                      </a:r>
                      <a:r>
                        <a:rPr sz="1650" b="0" dirty="0">
                          <a:solidFill>
                            <a:srgbClr val="17325C"/>
                          </a:solidFill>
                          <a:latin typeface="Arial"/>
                          <a:ea typeface="Arial"/>
                          <a:cs typeface="Arial"/>
                        </a:rPr>
                        <a:t> </a:t>
                      </a:r>
                      <a:r>
                        <a:rPr sz="1650" b="0" dirty="0" err="1">
                          <a:solidFill>
                            <a:srgbClr val="17325C"/>
                          </a:solidFill>
                          <a:latin typeface="Arial"/>
                          <a:ea typeface="Arial"/>
                          <a:cs typeface="Arial"/>
                        </a:rPr>
                        <a:t>tần</a:t>
                      </a:r>
                      <a:r>
                        <a:rPr sz="1650" b="0" dirty="0">
                          <a:solidFill>
                            <a:srgbClr val="17325C"/>
                          </a:solidFill>
                          <a:latin typeface="Arial"/>
                          <a:ea typeface="Arial"/>
                          <a:cs typeface="Arial"/>
                        </a:rPr>
                        <a:t> </a:t>
                      </a:r>
                      <a:r>
                        <a:rPr sz="1650" b="0" dirty="0" err="1">
                          <a:solidFill>
                            <a:srgbClr val="17325C"/>
                          </a:solidFill>
                          <a:latin typeface="Arial"/>
                          <a:ea typeface="Arial"/>
                          <a:cs typeface="Arial"/>
                        </a:rPr>
                        <a:t>suất</a:t>
                      </a:r>
                      <a:r>
                        <a:rPr sz="1650" b="0" dirty="0">
                          <a:solidFill>
                            <a:srgbClr val="17325C"/>
                          </a:solidFill>
                          <a:latin typeface="Arial"/>
                          <a:ea typeface="Arial"/>
                          <a:cs typeface="Arial"/>
                        </a:rPr>
                        <a:t> </a:t>
                      </a:r>
                      <a:r>
                        <a:rPr sz="1650" b="0" dirty="0" err="1">
                          <a:solidFill>
                            <a:srgbClr val="17325C"/>
                          </a:solidFill>
                          <a:latin typeface="Arial"/>
                          <a:ea typeface="Arial"/>
                          <a:cs typeface="Arial"/>
                        </a:rPr>
                        <a:t>phát</a:t>
                      </a:r>
                      <a:r>
                        <a:rPr sz="1650" b="0" dirty="0">
                          <a:solidFill>
                            <a:srgbClr val="17325C"/>
                          </a:solidFill>
                          <a:latin typeface="Arial"/>
                          <a:ea typeface="Arial"/>
                          <a:cs typeface="Arial"/>
                        </a:rPr>
                        <a:t> </a:t>
                      </a:r>
                      <a:r>
                        <a:rPr sz="1650" b="0" dirty="0" err="1">
                          <a:solidFill>
                            <a:srgbClr val="17325C"/>
                          </a:solidFill>
                          <a:latin typeface="Arial"/>
                          <a:ea typeface="Arial"/>
                          <a:cs typeface="Arial"/>
                        </a:rPr>
                        <a:t>sinh</a:t>
                      </a:r>
                      <a:r>
                        <a:rPr sz="1650" b="0" dirty="0">
                          <a:solidFill>
                            <a:srgbClr val="17325C"/>
                          </a:solidFill>
                          <a:latin typeface="Arial"/>
                          <a:ea typeface="Arial"/>
                          <a:cs typeface="Arial"/>
                        </a:rPr>
                        <a:t>.</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2" name="Content Phạm vi: 24 hoạt động được phân loạ">
            <a:extLst>
              <a:ext uri="{FF2B5EF4-FFF2-40B4-BE49-F238E27FC236}">
                <a16:creationId xmlns:a16="http://schemas.microsoft.com/office/drawing/2014/main" id="{F38E7C4F-ED87-4F56-885B-30E82BEB9820}"/>
              </a:ext>
            </a:extLst>
          </p:cNvPr>
          <p:cNvSpPr>
            <a:spLocks noGrp="1"/>
          </p:cNvSpPr>
          <p:nvPr/>
        </p:nvSpPr>
        <p:spPr>
          <a:xfrm>
            <a:off x="742950" y="5543550"/>
            <a:ext cx="10763250" cy="495300"/>
          </a:xfrm>
          <a:prstGeom prst="rect">
            <a:avLst/>
          </a:prstGeom>
          <a:noFill/>
          <a:ln w="0">
            <a:noFill/>
          </a:ln>
        </p:spPr>
        <p:txBody>
          <a:bodyPr wrap="square" lIns="95250" tIns="66675" rIns="95250" bIns="66675" anchor="t">
            <a:noAutofit/>
          </a:bodyPr>
          <a:lstStyle/>
          <a:p>
            <a:pPr algn="l">
              <a:lnSpc>
                <a:spcPct val="104000"/>
              </a:lnSpc>
              <a:buNone/>
              <a:defRPr sz="1650" b="1">
                <a:solidFill>
                  <a:srgbClr val="009D9E"/>
                </a:solidFill>
                <a:latin typeface="Arial"/>
                <a:ea typeface="Arial"/>
                <a:cs typeface="Arial"/>
              </a:defRPr>
            </a:pPr>
            <a:r>
              <a:rPr sz="1650" b="1">
                <a:solidFill>
                  <a:srgbClr val="009D9E"/>
                </a:solidFill>
                <a:latin typeface="Arial"/>
                <a:ea typeface="Arial"/>
                <a:cs typeface="Arial"/>
              </a:rPr>
              <a:t>Phạm vi: 24 hoạt động được phân loại trong bảng phân tích của báo cáo.</a:t>
            </a:r>
          </a:p>
        </p:txBody>
      </p:sp>
    </p:spTree>
    <p:extLst>
      <p:ext uri="{BB962C8B-B14F-4D97-AF65-F5344CB8AC3E}">
        <p14:creationId xmlns:p14="http://schemas.microsoft.com/office/powerpoint/2010/main" val="985234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36</a:t>
            </a:r>
          </a:p>
        </p:txBody>
      </p:sp>
      <p:sp>
        <p:nvSpPr>
          <p:cNvPr id="60" name="Rectangle 59">
            <a:extLst>
              <a:ext uri="{FF2B5EF4-FFF2-40B4-BE49-F238E27FC236}">
                <a16:creationId xmlns:a16="http://schemas.microsoft.com/office/drawing/2014/main" id="{329E0DBB-0442-41CB-A6D8-168CC1DDD3D0}"/>
              </a:ext>
            </a:extLst>
          </p:cNvPr>
          <p:cNvSpPr>
            <a:spLocks noGrp="1"/>
          </p:cNvSpPr>
          <p:nvPr/>
        </p:nvSpPr>
        <p:spPr>
          <a:xfrm>
            <a:off x="571500" y="990600"/>
            <a:ext cx="10572750" cy="723900"/>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PHÂN TÍCH SỰ LÃNG PHÍ</a:t>
            </a:r>
            <a:endParaRPr lang="en-US" sz="2550" b="1" dirty="0">
              <a:solidFill>
                <a:srgbClr val="062B8D"/>
              </a:solidFill>
              <a:latin typeface="Arial"/>
              <a:ea typeface="Arial"/>
              <a:cs typeface="Arial"/>
            </a:endParaRPr>
          </a:p>
          <a:p>
            <a:pPr>
              <a:lnSpc>
                <a:spcPct val="104000"/>
              </a:lnSpc>
              <a:defRPr sz="2550" b="1">
                <a:solidFill>
                  <a:srgbClr val="062B8D"/>
                </a:solidFill>
                <a:latin typeface="Arial"/>
                <a:ea typeface="Arial"/>
                <a:cs typeface="Arial"/>
              </a:defRPr>
            </a:pPr>
            <a:r>
              <a:rPr lang="en-US"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graphicFrame>
        <p:nvGraphicFramePr>
          <p:cNvPr id="112" name="Table 111"/>
          <p:cNvGraphicFramePr/>
          <p:nvPr/>
        </p:nvGraphicFramePr>
        <p:xfrm>
          <a:off x="742950" y="1714500"/>
          <a:ext cx="10763250" cy="4229100"/>
        </p:xfrm>
        <a:graphic>
          <a:graphicData uri="http://schemas.openxmlformats.org/drawingml/2006/table">
            <a:tbl>
              <a:tblPr firstRow="1"/>
              <a:tblGrid>
                <a:gridCol w="1238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3571875">
                  <a:extLst>
                    <a:ext uri="{9D8B030D-6E8A-4147-A177-3AD203B41FA5}">
                      <a16:colId xmlns:a16="http://schemas.microsoft.com/office/drawing/2014/main" val="20003"/>
                    </a:ext>
                  </a:extLst>
                </a:gridCol>
              </a:tblGrid>
              <a:tr h="457200">
                <a:tc>
                  <a:txBody>
                    <a:bodyPr/>
                    <a:lstStyle/>
                    <a:p>
                      <a:pPr algn="l">
                        <a:lnSpc>
                          <a:spcPct val="104000"/>
                        </a:lnSpc>
                        <a:buNone/>
                      </a:pPr>
                      <a:r>
                        <a:rPr sz="1650" b="1">
                          <a:solidFill>
                            <a:srgbClr val="FFFFFF"/>
                          </a:solidFill>
                          <a:latin typeface="Arial"/>
                          <a:ea typeface="Arial"/>
                          <a:cs typeface="Arial"/>
                        </a:rPr>
                        <a:t>Nhóm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Biểu hiện trên quy trình</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Ảnh hưởng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Khắc phục</a:t>
                      </a:r>
                    </a:p>
                  </a:txBody>
                  <a:tcPr anchor="ctr">
                    <a:solidFill>
                      <a:srgbClr val="009D9E"/>
                    </a:solidFill>
                  </a:tcPr>
                </a:tc>
                <a:extLst>
                  <a:ext uri="{0D108BD9-81ED-4DB2-BD59-A6C34878D82A}">
                    <a16:rowId xmlns:a16="http://schemas.microsoft.com/office/drawing/2014/main" val="10000"/>
                  </a:ext>
                </a:extLst>
              </a:tr>
              <a:tr h="1219200">
                <a:tc>
                  <a:txBody>
                    <a:bodyPr/>
                    <a:lstStyle/>
                    <a:p>
                      <a:pPr algn="l">
                        <a:lnSpc>
                          <a:spcPct val="104000"/>
                        </a:lnSpc>
                        <a:buNone/>
                      </a:pPr>
                      <a:r>
                        <a:rPr sz="1650" b="0">
                          <a:solidFill>
                            <a:srgbClr val="17325C"/>
                          </a:solidFill>
                          <a:latin typeface="Arial"/>
                          <a:ea typeface="Arial"/>
                          <a:cs typeface="Arial"/>
                        </a:rPr>
                        <a:t>Move</a:t>
                      </a:r>
                    </a:p>
                    <a:p>
                      <a:pPr algn="l">
                        <a:lnSpc>
                          <a:spcPct val="104000"/>
                        </a:lnSpc>
                        <a:buNone/>
                      </a:pPr>
                      <a:r>
                        <a:rPr sz="1650" b="0">
                          <a:solidFill>
                            <a:srgbClr val="17325C"/>
                          </a:solidFill>
                          <a:latin typeface="Arial"/>
                          <a:ea typeface="Arial"/>
                          <a:cs typeface="Arial"/>
                        </a:rPr>
                        <a:t>Di chuyển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lại; vận chuyển hàng hoàn; di chuyển giữa quầy và khu soạn đơn.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Tăng quãng đường, công sức và chi phí.</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Chuẩn hóa địa chỉ, hẹn khung giờ; bố trí khu soạn hàng.</a:t>
                      </a:r>
                    </a:p>
                  </a:txBody>
                  <a:tcPr anchor="ctr">
                    <a:solidFill>
                      <a:srgbClr val="FFFFFF"/>
                    </a:solidFill>
                  </a:tcPr>
                </a:tc>
                <a:extLst>
                  <a:ext uri="{0D108BD9-81ED-4DB2-BD59-A6C34878D82A}">
                    <a16:rowId xmlns:a16="http://schemas.microsoft.com/office/drawing/2014/main" val="10001"/>
                  </a:ext>
                </a:extLst>
              </a:tr>
              <a:tr h="1333500">
                <a:tc>
                  <a:txBody>
                    <a:bodyPr/>
                    <a:lstStyle/>
                    <a:p>
                      <a:pPr algn="l">
                        <a:lnSpc>
                          <a:spcPct val="104000"/>
                        </a:lnSpc>
                        <a:buNone/>
                      </a:pPr>
                      <a:r>
                        <a:rPr sz="1650" b="0">
                          <a:solidFill>
                            <a:srgbClr val="17325C"/>
                          </a:solidFill>
                          <a:latin typeface="Arial"/>
                          <a:ea typeface="Arial"/>
                          <a:cs typeface="Arial"/>
                        </a:rPr>
                        <a:t>Hold</a:t>
                      </a:r>
                    </a:p>
                    <a:p>
                      <a:pPr algn="l">
                        <a:lnSpc>
                          <a:spcPct val="104000"/>
                        </a:lnSpc>
                        <a:buNone/>
                      </a:pPr>
                      <a:r>
                        <a:rPr sz="1650" b="0">
                          <a:solidFill>
                            <a:srgbClr val="17325C"/>
                          </a:solidFill>
                          <a:latin typeface="Arial"/>
                          <a:ea typeface="Arial"/>
                          <a:cs typeface="Arial"/>
                        </a:rPr>
                        <a:t>Chờ/Lưu giữ</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Chờ gọi xác nhận, duyệt trả góp, soạn hàng; giữ hàng cho đơn sau đó bị hủy.</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Kéo dài chu kỳ; hạn chế hàng sẵn bán.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theo rủi ro; cam kết thời gian phản hồi; phân bổ nhân sự.</a:t>
                      </a:r>
                    </a:p>
                  </a:txBody>
                  <a:tcPr anchor="ctr">
                    <a:solidFill>
                      <a:srgbClr val="F1F6FC"/>
                    </a:solidFill>
                  </a:tcPr>
                </a:tc>
                <a:extLst>
                  <a:ext uri="{0D108BD9-81ED-4DB2-BD59-A6C34878D82A}">
                    <a16:rowId xmlns:a16="http://schemas.microsoft.com/office/drawing/2014/main" val="10002"/>
                  </a:ext>
                </a:extLst>
              </a:tr>
              <a:tr h="1219200">
                <a:tc>
                  <a:txBody>
                    <a:bodyPr/>
                    <a:lstStyle/>
                    <a:p>
                      <a:pPr algn="l">
                        <a:lnSpc>
                          <a:spcPct val="104000"/>
                        </a:lnSpc>
                        <a:buNone/>
                      </a:pPr>
                      <a:r>
                        <a:rPr sz="1650" b="0">
                          <a:solidFill>
                            <a:srgbClr val="17325C"/>
                          </a:solidFill>
                          <a:latin typeface="Arial"/>
                          <a:ea typeface="Arial"/>
                          <a:cs typeface="Arial"/>
                        </a:rPr>
                        <a:t>Overdo</a:t>
                      </a:r>
                    </a:p>
                    <a:p>
                      <a:pPr algn="l">
                        <a:lnSpc>
                          <a:spcPct val="104000"/>
                        </a:lnSpc>
                        <a:buNone/>
                      </a:pPr>
                      <a:r>
                        <a:rPr sz="1650" b="0">
                          <a:solidFill>
                            <a:srgbClr val="17325C"/>
                          </a:solidFill>
                          <a:latin typeface="Arial"/>
                          <a:ea typeface="Arial"/>
                          <a:cs typeface="Arial"/>
                        </a:rPr>
                        <a:t>Làm thừa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lại đơn đã trả tiền; nhập liệu trùng; sai IMEI/model dẫn đến làm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Tốn nhân lực, phát sinh lỗi và giảm trải nghiệm.</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Tích hợp dữ liệu; chuẩn hóa kiểm tra; quét mã thay nhập tay.</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37</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600"/>
            <a:ext cx="10572750" cy="650367"/>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VII. PHÂN TÍCH THỜI GIAN</a:t>
            </a:r>
            <a:endParaRPr lang="en-US" sz="2550" b="1" dirty="0">
              <a:solidFill>
                <a:srgbClr val="062B8D"/>
              </a:solidFill>
              <a:latin typeface="Arial"/>
              <a:ea typeface="Arial"/>
              <a:cs typeface="Arial"/>
            </a:endParaRPr>
          </a:p>
          <a:p>
            <a:pPr>
              <a:lnSpc>
                <a:spcPct val="104000"/>
              </a:lnSpc>
              <a:defRPr sz="2550" b="1">
                <a:solidFill>
                  <a:srgbClr val="062B8D"/>
                </a:solidFill>
                <a:latin typeface="Arial"/>
                <a:ea typeface="Arial"/>
                <a:cs typeface="Arial"/>
              </a:defRPr>
            </a:pPr>
            <a:r>
              <a:rPr lang="en-US"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graphicFrame>
        <p:nvGraphicFramePr>
          <p:cNvPr id="114" name="Table 113"/>
          <p:cNvGraphicFramePr/>
          <p:nvPr/>
        </p:nvGraphicFramePr>
        <p:xfrm>
          <a:off x="742950" y="1657350"/>
          <a:ext cx="10763250" cy="3810000"/>
        </p:xfrm>
        <a:graphic>
          <a:graphicData uri="http://schemas.openxmlformats.org/drawingml/2006/table">
            <a:tbl>
              <a:tblPr firstRow="1"/>
              <a:tblGrid>
                <a:gridCol w="6667500">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gridCol w="2047875">
                  <a:extLst>
                    <a:ext uri="{9D8B030D-6E8A-4147-A177-3AD203B41FA5}">
                      <a16:colId xmlns:a16="http://schemas.microsoft.com/office/drawing/2014/main" val="20002"/>
                    </a:ext>
                  </a:extLst>
                </a:gridCol>
              </a:tblGrid>
              <a:tr h="381000">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Xử lý (phút)</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Chờ (phút)</a:t>
                      </a:r>
                    </a:p>
                  </a:txBody>
                  <a:tcPr anchor="ctr">
                    <a:solidFill>
                      <a:srgbClr val="0B5ED7"/>
                    </a:solidFill>
                  </a:tcPr>
                </a:tc>
                <a:extLst>
                  <a:ext uri="{0D108BD9-81ED-4DB2-BD59-A6C34878D82A}">
                    <a16:rowId xmlns:a16="http://schemas.microsoft.com/office/drawing/2014/main" val="10000"/>
                  </a:ext>
                </a:extLst>
              </a:tr>
              <a:tr h="342900">
                <a:tc>
                  <a:txBody>
                    <a:bodyPr/>
                    <a:lstStyle/>
                    <a:p>
                      <a:pPr algn="l">
                        <a:lnSpc>
                          <a:spcPct val="104000"/>
                        </a:lnSpc>
                        <a:buNone/>
                      </a:pPr>
                      <a:r>
                        <a:rPr sz="1650" b="0">
                          <a:solidFill>
                            <a:srgbClr val="17325C"/>
                          </a:solidFill>
                          <a:latin typeface="Arial"/>
                          <a:ea typeface="Arial"/>
                          <a:cs typeface="Arial"/>
                        </a:rPr>
                        <a:t>Nhóm hoạt động tự động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3,5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342900">
                <a:tc>
                  <a:txBody>
                    <a:bodyPr/>
                    <a:lstStyle/>
                    <a:p>
                      <a:pPr algn="l">
                        <a:lnSpc>
                          <a:spcPct val="104000"/>
                        </a:lnSpc>
                        <a:buNone/>
                      </a:pPr>
                      <a:r>
                        <a:rPr sz="1650" b="0">
                          <a:solidFill>
                            <a:srgbClr val="17325C"/>
                          </a:solidFill>
                          <a:latin typeface="Arial"/>
                          <a:ea typeface="Arial"/>
                          <a:cs typeface="Arial"/>
                        </a:rPr>
                        <a:t>Gọi điện xác nhận đơn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240,0</a:t>
                      </a:r>
                    </a:p>
                  </a:txBody>
                  <a:tcPr anchor="ctr">
                    <a:solidFill>
                      <a:srgbClr val="F1F6FC"/>
                    </a:solidFill>
                  </a:tcPr>
                </a:tc>
                <a:extLst>
                  <a:ext uri="{0D108BD9-81ED-4DB2-BD59-A6C34878D82A}">
                    <a16:rowId xmlns:a16="http://schemas.microsoft.com/office/drawing/2014/main" val="10002"/>
                  </a:ext>
                </a:extLst>
              </a:tr>
              <a:tr h="342900">
                <a:tc>
                  <a:txBody>
                    <a:bodyPr/>
                    <a:lstStyle/>
                    <a:p>
                      <a:pPr algn="l">
                        <a:lnSpc>
                          <a:spcPct val="104000"/>
                        </a:lnSpc>
                        <a:buNone/>
                      </a:pPr>
                      <a:r>
                        <a:rPr sz="1650" b="0">
                          <a:solidFill>
                            <a:srgbClr val="17325C"/>
                          </a:solidFill>
                          <a:latin typeface="Arial"/>
                          <a:ea typeface="Arial"/>
                          <a:cs typeface="Arial"/>
                        </a:rPr>
                        <a:t>Thanh toán (bình quân có trọng số)</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4,85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74,4</a:t>
                      </a:r>
                    </a:p>
                  </a:txBody>
                  <a:tcPr anchor="ctr">
                    <a:solidFill>
                      <a:srgbClr val="FFFFFF"/>
                    </a:solidFill>
                  </a:tcPr>
                </a:tc>
                <a:extLst>
                  <a:ext uri="{0D108BD9-81ED-4DB2-BD59-A6C34878D82A}">
                    <a16:rowId xmlns:a16="http://schemas.microsoft.com/office/drawing/2014/main" val="10003"/>
                  </a:ext>
                </a:extLst>
              </a:tr>
              <a:tr h="342900">
                <a:tc>
                  <a:txBody>
                    <a:bodyPr/>
                    <a:lstStyle/>
                    <a:p>
                      <a:pPr algn="l">
                        <a:lnSpc>
                          <a:spcPct val="104000"/>
                        </a:lnSpc>
                        <a:buNone/>
                      </a:pPr>
                      <a:r>
                        <a:rPr sz="1650" b="0">
                          <a:solidFill>
                            <a:srgbClr val="17325C"/>
                          </a:solidFill>
                          <a:latin typeface="Arial"/>
                          <a:ea typeface="Arial"/>
                          <a:cs typeface="Arial"/>
                        </a:rPr>
                        <a:t>Soạn hàng theo phiếu</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90,0</a:t>
                      </a:r>
                    </a:p>
                  </a:txBody>
                  <a:tcPr anchor="ctr">
                    <a:solidFill>
                      <a:srgbClr val="F1F6FC"/>
                    </a:solidFill>
                  </a:tcPr>
                </a:tc>
                <a:extLst>
                  <a:ext uri="{0D108BD9-81ED-4DB2-BD59-A6C34878D82A}">
                    <a16:rowId xmlns:a16="http://schemas.microsoft.com/office/drawing/2014/main" val="10004"/>
                  </a:ext>
                </a:extLst>
              </a:tr>
              <a:tr h="342900">
                <a:tc>
                  <a:txBody>
                    <a:bodyPr/>
                    <a:lstStyle/>
                    <a:p>
                      <a:pPr algn="l">
                        <a:lnSpc>
                          <a:spcPct val="104000"/>
                        </a:lnSpc>
                        <a:buNone/>
                      </a:pPr>
                      <a:r>
                        <a:rPr sz="1650" b="0">
                          <a:solidFill>
                            <a:srgbClr val="17325C"/>
                          </a:solidFill>
                          <a:latin typeface="Arial"/>
                          <a:ea typeface="Arial"/>
                          <a:cs typeface="Arial"/>
                        </a:rPr>
                        <a:t>Quét IMEI, đóng gói, hóa đơn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18,0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r h="342900">
                <a:tc>
                  <a:txBody>
                    <a:bodyPr/>
                    <a:lstStyle/>
                    <a:p>
                      <a:pPr algn="l">
                        <a:lnSpc>
                          <a:spcPct val="104000"/>
                        </a:lnSpc>
                        <a:buNone/>
                      </a:pPr>
                      <a:r>
                        <a:rPr sz="1650" b="0">
                          <a:solidFill>
                            <a:srgbClr val="17325C"/>
                          </a:solidFill>
                          <a:latin typeface="Arial"/>
                          <a:ea typeface="Arial"/>
                          <a:cs typeface="Arial"/>
                        </a:rPr>
                        <a:t>Bàn giao và giao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720,0</a:t>
                      </a:r>
                    </a:p>
                  </a:txBody>
                  <a:tcPr anchor="ctr">
                    <a:solidFill>
                      <a:srgbClr val="F1F6FC"/>
                    </a:solidFill>
                  </a:tcPr>
                </a:tc>
                <a:extLst>
                  <a:ext uri="{0D108BD9-81ED-4DB2-BD59-A6C34878D82A}">
                    <a16:rowId xmlns:a16="http://schemas.microsoft.com/office/drawing/2014/main" val="10006"/>
                  </a:ext>
                </a:extLst>
              </a:tr>
              <a:tr h="342900">
                <a:tc>
                  <a:txBody>
                    <a:bodyPr/>
                    <a:lstStyle/>
                    <a:p>
                      <a:pPr algn="l">
                        <a:lnSpc>
                          <a:spcPct val="104000"/>
                        </a:lnSpc>
                        <a:buNone/>
                      </a:pPr>
                      <a:r>
                        <a:rPr sz="1650" b="0">
                          <a:solidFill>
                            <a:srgbClr val="17325C"/>
                          </a:solidFill>
                          <a:latin typeface="Arial"/>
                          <a:ea typeface="Arial"/>
                          <a:cs typeface="Arial"/>
                        </a:rPr>
                        <a:t>Hẹn giao lại (trọng số 8%)</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2,4</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115,2</a:t>
                      </a:r>
                    </a:p>
                  </a:txBody>
                  <a:tcPr anchor="ctr">
                    <a:solidFill>
                      <a:srgbClr val="FFFFFF"/>
                    </a:solidFill>
                  </a:tcPr>
                </a:tc>
                <a:extLst>
                  <a:ext uri="{0D108BD9-81ED-4DB2-BD59-A6C34878D82A}">
                    <a16:rowId xmlns:a16="http://schemas.microsoft.com/office/drawing/2014/main" val="10007"/>
                  </a:ext>
                </a:extLst>
              </a:tr>
              <a:tr h="342900">
                <a:tc>
                  <a:txBody>
                    <a:bodyPr/>
                    <a:lstStyle/>
                    <a:p>
                      <a:pPr algn="l">
                        <a:lnSpc>
                          <a:spcPct val="104000"/>
                        </a:lnSpc>
                        <a:buNone/>
                      </a:pPr>
                      <a:r>
                        <a:rPr sz="1650" b="0">
                          <a:solidFill>
                            <a:srgbClr val="17325C"/>
                          </a:solidFill>
                          <a:latin typeface="Arial"/>
                          <a:ea typeface="Arial"/>
                          <a:cs typeface="Arial"/>
                        </a:rPr>
                        <a:t>Đối soát COD</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1.440,0</a:t>
                      </a:r>
                    </a:p>
                  </a:txBody>
                  <a:tcPr anchor="ctr">
                    <a:solidFill>
                      <a:srgbClr val="F1F6FC"/>
                    </a:solidFill>
                  </a:tcPr>
                </a:tc>
                <a:extLst>
                  <a:ext uri="{0D108BD9-81ED-4DB2-BD59-A6C34878D82A}">
                    <a16:rowId xmlns:a16="http://schemas.microsoft.com/office/drawing/2014/main" val="10008"/>
                  </a:ext>
                </a:extLst>
              </a:tr>
              <a:tr h="342900">
                <a:tc>
                  <a:txBody>
                    <a:bodyPr/>
                    <a:lstStyle/>
                    <a:p>
                      <a:pPr algn="l">
                        <a:lnSpc>
                          <a:spcPct val="104000"/>
                        </a:lnSpc>
                        <a:buNone/>
                      </a:pPr>
                      <a:r>
                        <a:rPr sz="1650" b="0">
                          <a:solidFill>
                            <a:srgbClr val="17325C"/>
                          </a:solidFill>
                          <a:latin typeface="Arial"/>
                          <a:ea typeface="Arial"/>
                          <a:cs typeface="Arial"/>
                        </a:rPr>
                        <a:t>Hậu mãi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0</a:t>
                      </a:r>
                    </a:p>
                  </a:txBody>
                  <a:tcPr anchor="ctr">
                    <a:solidFill>
                      <a:srgbClr val="FFFFFF"/>
                    </a:solidFill>
                  </a:tcPr>
                </a:tc>
                <a:extLst>
                  <a:ext uri="{0D108BD9-81ED-4DB2-BD59-A6C34878D82A}">
                    <a16:rowId xmlns:a16="http://schemas.microsoft.com/office/drawing/2014/main" val="10009"/>
                  </a:ext>
                </a:extLst>
              </a:tr>
              <a:tr h="342900">
                <a:tc>
                  <a:txBody>
                    <a:bodyPr/>
                    <a:lstStyle/>
                    <a:p>
                      <a:pPr algn="l">
                        <a:lnSpc>
                          <a:spcPct val="104000"/>
                        </a:lnSpc>
                        <a:buNone/>
                      </a:pPr>
                      <a:r>
                        <a:rPr sz="1650" b="0" dirty="0" err="1">
                          <a:solidFill>
                            <a:srgbClr val="17325C"/>
                          </a:solidFill>
                          <a:latin typeface="Arial"/>
                          <a:ea typeface="Arial"/>
                          <a:cs typeface="Arial"/>
                        </a:rPr>
                        <a:t>Tổng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cộng</a:t>
                      </a:r>
                      <a:endParaRPr sz="165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96,25</a:t>
                      </a:r>
                    </a:p>
                  </a:txBody>
                  <a:tcPr anchor="ctr">
                    <a:solidFill>
                      <a:srgbClr val="F1F6FC"/>
                    </a:solidFill>
                  </a:tcPr>
                </a:tc>
                <a:tc>
                  <a:txBody>
                    <a:bodyPr/>
                    <a:lstStyle/>
                    <a:p>
                      <a:pPr algn="l">
                        <a:lnSpc>
                          <a:spcPct val="104000"/>
                        </a:lnSpc>
                        <a:buNone/>
                      </a:pPr>
                      <a:r>
                        <a:rPr sz="1650" b="0" dirty="0">
                          <a:solidFill>
                            <a:srgbClr val="17325C"/>
                          </a:solidFill>
                          <a:latin typeface="Arial"/>
                          <a:ea typeface="Arial"/>
                          <a:cs typeface="Arial"/>
                        </a:rPr>
                        <a:t>2.679,6</a:t>
                      </a:r>
                    </a:p>
                  </a:txBody>
                  <a:tcPr anchor="ctr">
                    <a:solidFill>
                      <a:srgbClr val="F1F6FC"/>
                    </a:solidFill>
                  </a:tcPr>
                </a:tc>
                <a:extLst>
                  <a:ext uri="{0D108BD9-81ED-4DB2-BD59-A6C34878D82A}">
                    <a16:rowId xmlns:a16="http://schemas.microsoft.com/office/drawing/2014/main" val="10010"/>
                  </a:ext>
                </a:extLst>
              </a:tr>
            </a:tbl>
          </a:graphicData>
        </a:graphic>
      </p:graphicFrame>
      <p:sp>
        <p:nvSpPr>
          <p:cNvPr id="62" name="Content Chu kỳ: 2.775,85 phút ≈ 46,26 giờ  ">
            <a:extLst>
              <a:ext uri="{FF2B5EF4-FFF2-40B4-BE49-F238E27FC236}">
                <a16:creationId xmlns:a16="http://schemas.microsoft.com/office/drawing/2014/main" id="{BFE32C11-709C-4A67-B729-C9B952C84D92}"/>
              </a:ext>
            </a:extLst>
          </p:cNvPr>
          <p:cNvSpPr>
            <a:spLocks noGrp="1"/>
          </p:cNvSpPr>
          <p:nvPr/>
        </p:nvSpPr>
        <p:spPr>
          <a:xfrm>
            <a:off x="742950" y="5534025"/>
            <a:ext cx="10763250" cy="53340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Chu kỳ: 2.775,85 phút ≈ 46,26 giờ  •  CTE = 96,25 / 2.775,85 = 3,47%</a:t>
            </a:r>
          </a:p>
        </p:txBody>
      </p:sp>
    </p:spTree>
    <p:extLst>
      <p:ext uri="{BB962C8B-B14F-4D97-AF65-F5344CB8AC3E}">
        <p14:creationId xmlns:p14="http://schemas.microsoft.com/office/powerpoint/2010/main" val="9852347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38</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600"/>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TỶ LỆ PHÂN NHÁNH: XÁC NHẬN VÀ THANH TOÁN</a:t>
            </a:r>
            <a:endParaRPr lang="en-US" sz="2550" b="1" dirty="0">
              <a:solidFill>
                <a:srgbClr val="062B8D"/>
              </a:solidFill>
              <a:latin typeface="Arial"/>
              <a:ea typeface="Arial"/>
              <a:cs typeface="Arial"/>
            </a:endParaRPr>
          </a:p>
          <a:p>
            <a:pPr>
              <a:lnSpc>
                <a:spcPct val="104000"/>
              </a:lnSpc>
              <a:defRPr sz="2550" b="1">
                <a:solidFill>
                  <a:srgbClr val="062B8D"/>
                </a:solidFill>
                <a:latin typeface="Arial"/>
                <a:ea typeface="Arial"/>
                <a:cs typeface="Arial"/>
              </a:defRPr>
            </a:pPr>
            <a:r>
              <a:rPr lang="en-US"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pic>
        <p:nvPicPr>
          <p:cNvPr id="118" name="Picture 117"/>
          <p:cNvPicPr>
            <a:picLocks noChangeAspect="1"/>
          </p:cNvPicPr>
          <p:nvPr/>
        </p:nvPicPr>
        <p:blipFill>
          <a:blip r:embed="rId3"/>
          <a:stretch/>
        </p:blipFill>
        <p:spPr>
          <a:xfrm>
            <a:off x="1107281" y="1809750"/>
            <a:ext cx="4510088" cy="1905000"/>
          </a:xfrm>
          <a:prstGeom prst="rect">
            <a:avLst/>
          </a:prstGeom>
        </p:spPr>
      </p:pic>
      <p:pic>
        <p:nvPicPr>
          <p:cNvPr id="119" name="Picture 118"/>
          <p:cNvPicPr>
            <a:picLocks noChangeAspect="1"/>
          </p:cNvPicPr>
          <p:nvPr/>
        </p:nvPicPr>
        <p:blipFill>
          <a:blip r:embed="rId4"/>
          <a:stretch/>
        </p:blipFill>
        <p:spPr>
          <a:xfrm>
            <a:off x="745507" y="4029814"/>
            <a:ext cx="5233635" cy="1512996"/>
          </a:xfrm>
          <a:prstGeom prst="rect">
            <a:avLst/>
          </a:prstGeom>
        </p:spPr>
      </p:pic>
      <p:graphicFrame>
        <p:nvGraphicFramePr>
          <p:cNvPr id="120" name="Table 119"/>
          <p:cNvGraphicFramePr/>
          <p:nvPr/>
        </p:nvGraphicFramePr>
        <p:xfrm>
          <a:off x="6267450" y="1828800"/>
          <a:ext cx="5238750" cy="3619500"/>
        </p:xfrm>
        <a:graphic>
          <a:graphicData uri="http://schemas.openxmlformats.org/drawingml/2006/table">
            <a:tbl>
              <a:tblPr firstRow="1"/>
              <a:tblGrid>
                <a:gridCol w="3095625">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tblGrid>
              <a:tr h="438150">
                <a:tc>
                  <a:txBody>
                    <a:bodyPr/>
                    <a:lstStyle/>
                    <a:p>
                      <a:pPr algn="l">
                        <a:lnSpc>
                          <a:spcPct val="104000"/>
                        </a:lnSpc>
                        <a:buNone/>
                      </a:pPr>
                      <a:r>
                        <a:rPr sz="1650" b="1">
                          <a:solidFill>
                            <a:srgbClr val="FFFFFF"/>
                          </a:solidFill>
                          <a:latin typeface="Arial"/>
                          <a:ea typeface="Arial"/>
                          <a:cs typeface="Arial"/>
                        </a:rPr>
                        <a:t>Cổng quyết định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Tỷ lệ</a:t>
                      </a:r>
                    </a:p>
                  </a:txBody>
                  <a:tcPr anchor="ctr">
                    <a:solidFill>
                      <a:srgbClr val="0B5ED7"/>
                    </a:solidFill>
                  </a:tcPr>
                </a:tc>
                <a:extLst>
                  <a:ext uri="{0D108BD9-81ED-4DB2-BD59-A6C34878D82A}">
                    <a16:rowId xmlns:a16="http://schemas.microsoft.com/office/drawing/2014/main" val="10000"/>
                  </a:ext>
                </a:extLst>
              </a:tr>
              <a:tr h="933450">
                <a:tc>
                  <a:txBody>
                    <a:bodyPr/>
                    <a:lstStyle/>
                    <a:p>
                      <a:pPr algn="l">
                        <a:lnSpc>
                          <a:spcPct val="104000"/>
                        </a:lnSpc>
                        <a:buNone/>
                      </a:pPr>
                      <a:r>
                        <a:rPr sz="1650" b="0">
                          <a:solidFill>
                            <a:srgbClr val="17325C"/>
                          </a:solidFill>
                          <a:latin typeface="Arial"/>
                          <a:ea typeface="Arial"/>
                          <a:cs typeface="Arial"/>
                        </a:rPr>
                        <a:t>Còn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Còn: 95%</a:t>
                      </a:r>
                    </a:p>
                    <a:p>
                      <a:pPr algn="l">
                        <a:lnSpc>
                          <a:spcPct val="104000"/>
                        </a:lnSpc>
                        <a:buNone/>
                      </a:pPr>
                      <a:r>
                        <a:rPr sz="1650" b="0">
                          <a:solidFill>
                            <a:srgbClr val="17325C"/>
                          </a:solidFill>
                          <a:latin typeface="Arial"/>
                          <a:ea typeface="Arial"/>
                          <a:cs typeface="Arial"/>
                        </a:rPr>
                        <a:t>Hết: 5%</a:t>
                      </a:r>
                    </a:p>
                  </a:txBody>
                  <a:tcPr anchor="ctr">
                    <a:solidFill>
                      <a:srgbClr val="FFFFFF"/>
                    </a:solidFill>
                  </a:tcPr>
                </a:tc>
                <a:extLst>
                  <a:ext uri="{0D108BD9-81ED-4DB2-BD59-A6C34878D82A}">
                    <a16:rowId xmlns:a16="http://schemas.microsoft.com/office/drawing/2014/main" val="10001"/>
                  </a:ext>
                </a:extLst>
              </a:tr>
              <a:tr h="933450">
                <a:tc>
                  <a:txBody>
                    <a:bodyPr/>
                    <a:lstStyle/>
                    <a:p>
                      <a:pPr algn="l">
                        <a:lnSpc>
                          <a:spcPct val="104000"/>
                        </a:lnSpc>
                        <a:buNone/>
                      </a:pPr>
                      <a:r>
                        <a:rPr sz="1650" b="0">
                          <a:solidFill>
                            <a:srgbClr val="17325C"/>
                          </a:solidFill>
                          <a:latin typeface="Arial"/>
                          <a:ea typeface="Arial"/>
                          <a:cs typeface="Arial"/>
                        </a:rPr>
                        <a:t>Khách xác nhận?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Có: 88%</a:t>
                      </a:r>
                    </a:p>
                    <a:p>
                      <a:pPr algn="l">
                        <a:lnSpc>
                          <a:spcPct val="104000"/>
                        </a:lnSpc>
                        <a:buNone/>
                      </a:pPr>
                      <a:r>
                        <a:rPr sz="1650" b="0">
                          <a:solidFill>
                            <a:srgbClr val="17325C"/>
                          </a:solidFill>
                          <a:latin typeface="Arial"/>
                          <a:ea typeface="Arial"/>
                          <a:cs typeface="Arial"/>
                        </a:rPr>
                        <a:t>Không: 12%</a:t>
                      </a:r>
                    </a:p>
                  </a:txBody>
                  <a:tcPr anchor="ctr">
                    <a:solidFill>
                      <a:srgbClr val="F1F6FC"/>
                    </a:solidFill>
                  </a:tcPr>
                </a:tc>
                <a:extLst>
                  <a:ext uri="{0D108BD9-81ED-4DB2-BD59-A6C34878D82A}">
                    <a16:rowId xmlns:a16="http://schemas.microsoft.com/office/drawing/2014/main" val="10002"/>
                  </a:ext>
                </a:extLst>
              </a:tr>
              <a:tr h="1314450">
                <a:tc>
                  <a:txBody>
                    <a:bodyPr/>
                    <a:lstStyle/>
                    <a:p>
                      <a:pPr algn="l">
                        <a:lnSpc>
                          <a:spcPct val="104000"/>
                        </a:lnSpc>
                        <a:buNone/>
                      </a:pPr>
                      <a:r>
                        <a:rPr sz="1650" b="0">
                          <a:solidFill>
                            <a:srgbClr val="17325C"/>
                          </a:solidFill>
                          <a:latin typeface="Arial"/>
                          <a:ea typeface="Arial"/>
                          <a:cs typeface="Arial"/>
                        </a:rPr>
                        <a:t>Phương thức</a:t>
                      </a:r>
                    </a:p>
                    <a:p>
                      <a:pPr algn="l">
                        <a:lnSpc>
                          <a:spcPct val="104000"/>
                        </a:lnSpc>
                        <a:buNone/>
                      </a:pPr>
                      <a:r>
                        <a:rPr sz="1650" b="0">
                          <a:solidFill>
                            <a:srgbClr val="17325C"/>
                          </a:solidFill>
                          <a:latin typeface="Arial"/>
                          <a:ea typeface="Arial"/>
                          <a:cs typeface="Arial"/>
                        </a:rPr>
                        <a:t>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COD: 67%</a:t>
                      </a:r>
                    </a:p>
                    <a:p>
                      <a:pPr algn="l">
                        <a:lnSpc>
                          <a:spcPct val="104000"/>
                        </a:lnSpc>
                        <a:buNone/>
                      </a:pPr>
                      <a:r>
                        <a:rPr sz="1650" b="0">
                          <a:solidFill>
                            <a:srgbClr val="17325C"/>
                          </a:solidFill>
                          <a:latin typeface="Arial"/>
                          <a:ea typeface="Arial"/>
                          <a:cs typeface="Arial"/>
                        </a:rPr>
                        <a:t>Online: 20%</a:t>
                      </a:r>
                    </a:p>
                    <a:p>
                      <a:pPr algn="l">
                        <a:lnSpc>
                          <a:spcPct val="104000"/>
                        </a:lnSpc>
                        <a:buNone/>
                      </a:pPr>
                      <a:r>
                        <a:rPr sz="1650" b="0">
                          <a:solidFill>
                            <a:srgbClr val="17325C"/>
                          </a:solidFill>
                          <a:latin typeface="Arial"/>
                          <a:ea typeface="Arial"/>
                          <a:cs typeface="Arial"/>
                        </a:rPr>
                        <a:t>Trả góp: 13%</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4" name="Content Tỷ lệ áp dụng trong mô hình phân tí">
            <a:extLst>
              <a:ext uri="{FF2B5EF4-FFF2-40B4-BE49-F238E27FC236}">
                <a16:creationId xmlns:a16="http://schemas.microsoft.com/office/drawing/2014/main" id="{56FD8954-094A-41E6-A7CD-54105797D30F}"/>
              </a:ext>
            </a:extLst>
          </p:cNvPr>
          <p:cNvSpPr>
            <a:spLocks noGrp="1"/>
          </p:cNvSpPr>
          <p:nvPr/>
        </p:nvSpPr>
        <p:spPr>
          <a:xfrm>
            <a:off x="6267450" y="5562600"/>
            <a:ext cx="5238750" cy="590550"/>
          </a:xfrm>
          <a:prstGeom prst="rect">
            <a:avLst/>
          </a:prstGeom>
          <a:noFill/>
          <a:ln w="0">
            <a:noFill/>
          </a:ln>
        </p:spPr>
        <p:txBody>
          <a:bodyPr wrap="square" lIns="95250" tIns="66675" rIns="95250" bIns="66675" anchor="t">
            <a:noAutofit/>
          </a:bodyPr>
          <a:lstStyle/>
          <a:p>
            <a:pPr algn="l">
              <a:lnSpc>
                <a:spcPct val="104000"/>
              </a:lnSpc>
              <a:buNone/>
              <a:defRPr sz="1650" b="0">
                <a:solidFill>
                  <a:srgbClr val="52657A"/>
                </a:solidFill>
                <a:latin typeface="Arial"/>
                <a:ea typeface="Arial"/>
                <a:cs typeface="Arial"/>
              </a:defRPr>
            </a:pPr>
            <a:r>
              <a:rPr sz="1650" b="0">
                <a:solidFill>
                  <a:srgbClr val="52657A"/>
                </a:solidFill>
                <a:latin typeface="Arial"/>
                <a:ea typeface="Arial"/>
                <a:cs typeface="Arial"/>
              </a:rPr>
              <a:t>Tỷ lệ áp dụng trong mô hình phân tích của báo cáo.</a:t>
            </a:r>
          </a:p>
        </p:txBody>
      </p:sp>
    </p:spTree>
    <p:extLst>
      <p:ext uri="{BB962C8B-B14F-4D97-AF65-F5344CB8AC3E}">
        <p14:creationId xmlns:p14="http://schemas.microsoft.com/office/powerpoint/2010/main" val="985234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39</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600"/>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TỶ LỆ PHÂN NHÁNH: DUYỆT VÀ GIAO HÀNG</a:t>
            </a:r>
            <a:endParaRPr lang="en-US" sz="2550" b="1" dirty="0">
              <a:solidFill>
                <a:srgbClr val="062B8D"/>
              </a:solidFill>
              <a:latin typeface="Arial"/>
              <a:ea typeface="Arial"/>
              <a:cs typeface="Arial"/>
            </a:endParaRPr>
          </a:p>
          <a:p>
            <a:pPr>
              <a:defRPr sz="2550" b="1">
                <a:solidFill>
                  <a:srgbClr val="062B8D"/>
                </a:solidFill>
                <a:latin typeface="Arial"/>
                <a:ea typeface="Arial"/>
                <a:cs typeface="Arial"/>
              </a:defRPr>
            </a:pPr>
            <a:r>
              <a:rPr lang="en-US"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pic>
        <p:nvPicPr>
          <p:cNvPr id="118" name="Picture 117"/>
          <p:cNvPicPr>
            <a:picLocks noChangeAspect="1"/>
          </p:cNvPicPr>
          <p:nvPr/>
        </p:nvPicPr>
        <p:blipFill>
          <a:blip r:embed="rId3"/>
          <a:stretch/>
        </p:blipFill>
        <p:spPr>
          <a:xfrm>
            <a:off x="1614488" y="1733550"/>
            <a:ext cx="3495675" cy="1905000"/>
          </a:xfrm>
          <a:prstGeom prst="rect">
            <a:avLst/>
          </a:prstGeom>
        </p:spPr>
      </p:pic>
      <p:pic>
        <p:nvPicPr>
          <p:cNvPr id="119" name="Picture 118"/>
          <p:cNvPicPr>
            <a:picLocks noChangeAspect="1"/>
          </p:cNvPicPr>
          <p:nvPr/>
        </p:nvPicPr>
        <p:blipFill>
          <a:blip r:embed="rId4"/>
          <a:stretch/>
        </p:blipFill>
        <p:spPr>
          <a:xfrm>
            <a:off x="745508" y="4163020"/>
            <a:ext cx="5233634" cy="1218009"/>
          </a:xfrm>
          <a:prstGeom prst="rect">
            <a:avLst/>
          </a:prstGeom>
        </p:spPr>
      </p:pic>
      <p:graphicFrame>
        <p:nvGraphicFramePr>
          <p:cNvPr id="120" name="Table 119"/>
          <p:cNvGraphicFramePr/>
          <p:nvPr/>
        </p:nvGraphicFramePr>
        <p:xfrm>
          <a:off x="6267450" y="1771650"/>
          <a:ext cx="5238750" cy="3581400"/>
        </p:xfrm>
        <a:graphic>
          <a:graphicData uri="http://schemas.openxmlformats.org/drawingml/2006/table">
            <a:tbl>
              <a:tblPr firstRow="1"/>
              <a:tblGrid>
                <a:gridCol w="27622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Cổng quyết định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Tỷ lệ</a:t>
                      </a:r>
                    </a:p>
                  </a:txBody>
                  <a:tcPr anchor="ctr">
                    <a:solidFill>
                      <a:srgbClr val="0B5ED7"/>
                    </a:solidFill>
                  </a:tcPr>
                </a:tc>
                <a:extLst>
                  <a:ext uri="{0D108BD9-81ED-4DB2-BD59-A6C34878D82A}">
                    <a16:rowId xmlns:a16="http://schemas.microsoft.com/office/drawing/2014/main" val="10000"/>
                  </a:ext>
                </a:extLst>
              </a:tr>
              <a:tr h="790575">
                <a:tc>
                  <a:txBody>
                    <a:bodyPr/>
                    <a:lstStyle/>
                    <a:p>
                      <a:pPr algn="l">
                        <a:lnSpc>
                          <a:spcPct val="104000"/>
                        </a:lnSpc>
                        <a:buNone/>
                      </a:pPr>
                      <a:r>
                        <a:rPr sz="1650" b="0">
                          <a:solidFill>
                            <a:srgbClr val="17325C"/>
                          </a:solidFill>
                          <a:latin typeface="Arial"/>
                          <a:ea typeface="Arial"/>
                          <a:cs typeface="Arial"/>
                        </a:rPr>
                        <a:t>Hồ sơ trả góp?</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Duyệt: 80%</a:t>
                      </a:r>
                    </a:p>
                    <a:p>
                      <a:pPr algn="l">
                        <a:lnSpc>
                          <a:spcPct val="104000"/>
                        </a:lnSpc>
                        <a:buNone/>
                      </a:pPr>
                      <a:r>
                        <a:rPr sz="1650" b="0">
                          <a:solidFill>
                            <a:srgbClr val="17325C"/>
                          </a:solidFill>
                          <a:latin typeface="Arial"/>
                          <a:ea typeface="Arial"/>
                          <a:cs typeface="Arial"/>
                        </a:rPr>
                        <a:t>Từ chối: 20%</a:t>
                      </a:r>
                    </a:p>
                  </a:txBody>
                  <a:tcPr anchor="ctr">
                    <a:solidFill>
                      <a:srgbClr val="FFFFFF"/>
                    </a:solidFill>
                  </a:tcPr>
                </a:tc>
                <a:extLst>
                  <a:ext uri="{0D108BD9-81ED-4DB2-BD59-A6C34878D82A}">
                    <a16:rowId xmlns:a16="http://schemas.microsoft.com/office/drawing/2014/main" val="10001"/>
                  </a:ext>
                </a:extLst>
              </a:tr>
              <a:tr h="790575">
                <a:tc>
                  <a:txBody>
                    <a:bodyPr/>
                    <a:lstStyle/>
                    <a:p>
                      <a:pPr algn="l">
                        <a:lnSpc>
                          <a:spcPct val="104000"/>
                        </a:lnSpc>
                        <a:buNone/>
                      </a:pPr>
                      <a:r>
                        <a:rPr sz="1650" b="0">
                          <a:solidFill>
                            <a:srgbClr val="17325C"/>
                          </a:solidFill>
                          <a:latin typeface="Arial"/>
                          <a:ea typeface="Arial"/>
                          <a:cs typeface="Arial"/>
                        </a:rPr>
                        <a:t>Thanh toán online?</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Thành công: 92%</a:t>
                      </a:r>
                    </a:p>
                    <a:p>
                      <a:pPr algn="l">
                        <a:lnSpc>
                          <a:spcPct val="104000"/>
                        </a:lnSpc>
                        <a:buNone/>
                      </a:pPr>
                      <a:r>
                        <a:rPr sz="1650" b="0">
                          <a:solidFill>
                            <a:srgbClr val="17325C"/>
                          </a:solidFill>
                          <a:latin typeface="Arial"/>
                          <a:ea typeface="Arial"/>
                          <a:cs typeface="Arial"/>
                        </a:rPr>
                        <a:t>Thất bại: 8%</a:t>
                      </a:r>
                    </a:p>
                  </a:txBody>
                  <a:tcPr anchor="ctr">
                    <a:solidFill>
                      <a:srgbClr val="F1F6FC"/>
                    </a:solidFill>
                  </a:tcPr>
                </a:tc>
                <a:extLst>
                  <a:ext uri="{0D108BD9-81ED-4DB2-BD59-A6C34878D82A}">
                    <a16:rowId xmlns:a16="http://schemas.microsoft.com/office/drawing/2014/main" val="10002"/>
                  </a:ext>
                </a:extLst>
              </a:tr>
              <a:tr h="790575">
                <a:tc>
                  <a:txBody>
                    <a:bodyPr/>
                    <a:lstStyle/>
                    <a:p>
                      <a:pPr algn="l">
                        <a:lnSpc>
                          <a:spcPct val="104000"/>
                        </a:lnSpc>
                        <a:buNone/>
                      </a:pPr>
                      <a:r>
                        <a:rPr sz="1650" b="0">
                          <a:solidFill>
                            <a:srgbClr val="17325C"/>
                          </a:solidFill>
                          <a:latin typeface="Arial"/>
                          <a:ea typeface="Arial"/>
                          <a:cs typeface="Arial"/>
                        </a:rPr>
                        <a:t>Hình thức nhận?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Tại nhà: 80%</a:t>
                      </a:r>
                    </a:p>
                    <a:p>
                      <a:pPr algn="l">
                        <a:lnSpc>
                          <a:spcPct val="104000"/>
                        </a:lnSpc>
                        <a:buNone/>
                      </a:pPr>
                      <a:r>
                        <a:rPr sz="1650" b="0">
                          <a:solidFill>
                            <a:srgbClr val="17325C"/>
                          </a:solidFill>
                          <a:latin typeface="Arial"/>
                          <a:ea typeface="Arial"/>
                          <a:cs typeface="Arial"/>
                        </a:rPr>
                        <a:t>Tại cửa hàng: 20%</a:t>
                      </a:r>
                    </a:p>
                  </a:txBody>
                  <a:tcPr anchor="ctr">
                    <a:solidFill>
                      <a:srgbClr val="FFFFFF"/>
                    </a:solidFill>
                  </a:tcPr>
                </a:tc>
                <a:extLst>
                  <a:ext uri="{0D108BD9-81ED-4DB2-BD59-A6C34878D82A}">
                    <a16:rowId xmlns:a16="http://schemas.microsoft.com/office/drawing/2014/main" val="10003"/>
                  </a:ext>
                </a:extLst>
              </a:tr>
              <a:tr h="790575">
                <a:tc>
                  <a:txBody>
                    <a:bodyPr/>
                    <a:lstStyle/>
                    <a:p>
                      <a:pPr algn="l">
                        <a:lnSpc>
                          <a:spcPct val="104000"/>
                        </a:lnSpc>
                        <a:buNone/>
                      </a:pPr>
                      <a:r>
                        <a:rPr sz="1650" b="0">
                          <a:solidFill>
                            <a:srgbClr val="17325C"/>
                          </a:solidFill>
                          <a:latin typeface="Arial"/>
                          <a:ea typeface="Arial"/>
                          <a:cs typeface="Arial"/>
                        </a:rPr>
                        <a:t>Giao lần đầu?</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Thành công: 90%</a:t>
                      </a:r>
                    </a:p>
                    <a:p>
                      <a:pPr algn="l">
                        <a:lnSpc>
                          <a:spcPct val="104000"/>
                        </a:lnSpc>
                        <a:buNone/>
                      </a:pPr>
                      <a:r>
                        <a:rPr sz="1650" b="0">
                          <a:solidFill>
                            <a:srgbClr val="17325C"/>
                          </a:solidFill>
                          <a:latin typeface="Arial"/>
                          <a:ea typeface="Arial"/>
                          <a:cs typeface="Arial"/>
                        </a:rPr>
                        <a:t>Không thành công: 10%</a:t>
                      </a:r>
                    </a:p>
                  </a:txBody>
                  <a:tcPr anchor="ctr">
                    <a:solidFill>
                      <a:srgbClr val="F1F6FC"/>
                    </a:solidFill>
                  </a:tcPr>
                </a:tc>
                <a:extLst>
                  <a:ext uri="{0D108BD9-81ED-4DB2-BD59-A6C34878D82A}">
                    <a16:rowId xmlns:a16="http://schemas.microsoft.com/office/drawing/2014/main" val="10004"/>
                  </a:ext>
                </a:extLst>
              </a:tr>
            </a:tbl>
          </a:graphicData>
        </a:graphic>
      </p:graphicFrame>
      <p:sp>
        <p:nvSpPr>
          <p:cNvPr id="64" name="Content Các tỷ lệ được dùng như giả định mô">
            <a:extLst>
              <a:ext uri="{FF2B5EF4-FFF2-40B4-BE49-F238E27FC236}">
                <a16:creationId xmlns:a16="http://schemas.microsoft.com/office/drawing/2014/main" id="{D348AD83-C1C5-4FC3-9733-6F10E4F0CF1E}"/>
              </a:ext>
            </a:extLst>
          </p:cNvPr>
          <p:cNvSpPr>
            <a:spLocks noGrp="1"/>
          </p:cNvSpPr>
          <p:nvPr/>
        </p:nvSpPr>
        <p:spPr>
          <a:xfrm>
            <a:off x="6267450" y="5505450"/>
            <a:ext cx="5238750" cy="590550"/>
          </a:xfrm>
          <a:prstGeom prst="rect">
            <a:avLst/>
          </a:prstGeom>
          <a:noFill/>
          <a:ln w="0">
            <a:noFill/>
          </a:ln>
        </p:spPr>
        <p:txBody>
          <a:bodyPr wrap="square" lIns="95250" tIns="66675" rIns="95250" bIns="66675" anchor="t">
            <a:noAutofit/>
          </a:bodyPr>
          <a:lstStyle/>
          <a:p>
            <a:pPr algn="l">
              <a:lnSpc>
                <a:spcPct val="104000"/>
              </a:lnSpc>
              <a:buNone/>
              <a:defRPr sz="1650" b="0">
                <a:solidFill>
                  <a:srgbClr val="52657A"/>
                </a:solidFill>
                <a:latin typeface="Arial"/>
                <a:ea typeface="Arial"/>
                <a:cs typeface="Arial"/>
              </a:defRPr>
            </a:pPr>
            <a:r>
              <a:rPr sz="1650" b="0">
                <a:solidFill>
                  <a:srgbClr val="52657A"/>
                </a:solidFill>
                <a:latin typeface="Arial"/>
                <a:ea typeface="Arial"/>
                <a:cs typeface="Arial"/>
              </a:rPr>
              <a:t>Các tỷ lệ được dùng như giả định mô hình.</a:t>
            </a:r>
          </a:p>
        </p:txBody>
      </p:sp>
    </p:spTree>
    <p:extLst>
      <p:ext uri="{BB962C8B-B14F-4D97-AF65-F5344CB8AC3E}">
        <p14:creationId xmlns:p14="http://schemas.microsoft.com/office/powerpoint/2010/main" val="9852347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40</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PHÂN TÍCH CHẤT LƯỢNG</a:t>
            </a:r>
            <a:endParaRPr lang="en-US" sz="2550" b="1" dirty="0">
              <a:solidFill>
                <a:srgbClr val="062B8D"/>
              </a:solidFill>
              <a:latin typeface="Arial"/>
              <a:ea typeface="Arial"/>
              <a:cs typeface="Arial"/>
            </a:endParaRPr>
          </a:p>
          <a:p>
            <a:pPr>
              <a:lnSpc>
                <a:spcPct val="104000"/>
              </a:lnSpc>
              <a:defRPr sz="2550" b="1">
                <a:solidFill>
                  <a:srgbClr val="062B8D"/>
                </a:solidFill>
                <a:latin typeface="Arial"/>
                <a:ea typeface="Arial"/>
                <a:cs typeface="Arial"/>
              </a:defRPr>
            </a:pPr>
            <a:r>
              <a:rPr lang="en-US"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40957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4667250">
                  <a:extLst>
                    <a:ext uri="{9D8B030D-6E8A-4147-A177-3AD203B41FA5}">
                      <a16:colId xmlns:a16="http://schemas.microsoft.com/office/drawing/2014/main" val="20002"/>
                    </a:ext>
                  </a:extLst>
                </a:gridCol>
              </a:tblGrid>
              <a:tr h="438150">
                <a:tc>
                  <a:txBody>
                    <a:bodyPr/>
                    <a:lstStyle/>
                    <a:p>
                      <a:pPr algn="l">
                        <a:lnSpc>
                          <a:spcPct val="104000"/>
                        </a:lnSpc>
                        <a:buNone/>
                      </a:pPr>
                      <a:r>
                        <a:rPr sz="1650" b="1">
                          <a:solidFill>
                            <a:srgbClr val="FFFFFF"/>
                          </a:solidFill>
                          <a:latin typeface="Arial"/>
                          <a:ea typeface="Arial"/>
                          <a:cs typeface="Arial"/>
                        </a:rPr>
                        <a:t>Chỉ tiêu theo mô hình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Kết quả</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Ý nghĩa</a:t>
                      </a:r>
                    </a:p>
                  </a:txBody>
                  <a:tcPr anchor="ctr">
                    <a:solidFill>
                      <a:srgbClr val="0B5ED7"/>
                    </a:solidFill>
                  </a:tcPr>
                </a:tc>
                <a:extLst>
                  <a:ext uri="{0D108BD9-81ED-4DB2-BD59-A6C34878D82A}">
                    <a16:rowId xmlns:a16="http://schemas.microsoft.com/office/drawing/2014/main" val="10000"/>
                  </a:ext>
                </a:extLst>
              </a:tr>
              <a:tr h="733425">
                <a:tc>
                  <a:txBody>
                    <a:bodyPr/>
                    <a:lstStyle/>
                    <a:p>
                      <a:pPr algn="l">
                        <a:lnSpc>
                          <a:spcPct val="104000"/>
                        </a:lnSpc>
                        <a:buNone/>
                      </a:pPr>
                      <a:r>
                        <a:rPr sz="1650" b="0">
                          <a:solidFill>
                            <a:srgbClr val="17325C"/>
                          </a:solidFill>
                          <a:latin typeface="Arial"/>
                          <a:ea typeface="Arial"/>
                          <a:cs typeface="Arial"/>
                        </a:rPr>
                        <a:t>Đơn còn hàng / 100 đơn khởi tạo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95,0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5 đơn thiếu hàng theo tỷ lệ phân nhánh.</a:t>
                      </a:r>
                    </a:p>
                  </a:txBody>
                  <a:tcPr anchor="ctr">
                    <a:solidFill>
                      <a:srgbClr val="FFFFFF"/>
                    </a:solidFill>
                  </a:tcPr>
                </a:tc>
                <a:extLst>
                  <a:ext uri="{0D108BD9-81ED-4DB2-BD59-A6C34878D82A}">
                    <a16:rowId xmlns:a16="http://schemas.microsoft.com/office/drawing/2014/main" val="10001"/>
                  </a:ext>
                </a:extLst>
              </a:tr>
              <a:tr h="733425">
                <a:tc>
                  <a:txBody>
                    <a:bodyPr/>
                    <a:lstStyle/>
                    <a:p>
                      <a:pPr algn="l">
                        <a:lnSpc>
                          <a:spcPct val="104000"/>
                        </a:lnSpc>
                        <a:buNone/>
                      </a:pPr>
                      <a:r>
                        <a:rPr sz="1650" b="0">
                          <a:solidFill>
                            <a:srgbClr val="17325C"/>
                          </a:solidFill>
                          <a:latin typeface="Arial"/>
                          <a:ea typeface="Arial"/>
                          <a:cs typeface="Arial"/>
                        </a:rPr>
                        <a:t>Đơn được xác nhận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83,6</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95 × 88%; mất 11,4 đơn tại bước xác nhận.</a:t>
                      </a:r>
                    </a:p>
                  </a:txBody>
                  <a:tcPr anchor="ctr">
                    <a:solidFill>
                      <a:srgbClr val="F1F6FC"/>
                    </a:solidFill>
                  </a:tcPr>
                </a:tc>
                <a:extLst>
                  <a:ext uri="{0D108BD9-81ED-4DB2-BD59-A6C34878D82A}">
                    <a16:rowId xmlns:a16="http://schemas.microsoft.com/office/drawing/2014/main" val="10002"/>
                  </a:ext>
                </a:extLst>
              </a:tr>
              <a:tr h="733425">
                <a:tc>
                  <a:txBody>
                    <a:bodyPr/>
                    <a:lstStyle/>
                    <a:p>
                      <a:pPr algn="l">
                        <a:lnSpc>
                          <a:spcPct val="104000"/>
                        </a:lnSpc>
                        <a:buNone/>
                      </a:pPr>
                      <a:r>
                        <a:rPr sz="1650" b="0">
                          <a:solidFill>
                            <a:srgbClr val="17325C"/>
                          </a:solidFill>
                          <a:latin typeface="Arial"/>
                          <a:ea typeface="Arial"/>
                          <a:cs typeface="Arial"/>
                        </a:rPr>
                        <a:t>Đơn qua bước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 80,1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COD + online thành công + trả góp được duyệt.</a:t>
                      </a:r>
                    </a:p>
                  </a:txBody>
                  <a:tcPr anchor="ctr">
                    <a:solidFill>
                      <a:srgbClr val="FFFFFF"/>
                    </a:solidFill>
                  </a:tcPr>
                </a:tc>
                <a:extLst>
                  <a:ext uri="{0D108BD9-81ED-4DB2-BD59-A6C34878D82A}">
                    <a16:rowId xmlns:a16="http://schemas.microsoft.com/office/drawing/2014/main" val="10003"/>
                  </a:ext>
                </a:extLst>
              </a:tr>
              <a:tr h="733425">
                <a:tc>
                  <a:txBody>
                    <a:bodyPr/>
                    <a:lstStyle/>
                    <a:p>
                      <a:pPr algn="l">
                        <a:lnSpc>
                          <a:spcPct val="104000"/>
                        </a:lnSpc>
                        <a:buNone/>
                      </a:pPr>
                      <a:r>
                        <a:rPr sz="1650" b="0">
                          <a:solidFill>
                            <a:srgbClr val="17325C"/>
                          </a:solidFill>
                          <a:latin typeface="Arial"/>
                          <a:ea typeface="Arial"/>
                          <a:cs typeface="Arial"/>
                        </a:rPr>
                        <a:t>Đơn hoàn tất</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 78,2%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Kết quả tổng hợp theo các giả định trong báo cáo.</a:t>
                      </a:r>
                    </a:p>
                  </a:txBody>
                  <a:tcPr anchor="ctr">
                    <a:solidFill>
                      <a:srgbClr val="F1F6FC"/>
                    </a:solidFill>
                  </a:tcPr>
                </a:tc>
                <a:extLst>
                  <a:ext uri="{0D108BD9-81ED-4DB2-BD59-A6C34878D82A}">
                    <a16:rowId xmlns:a16="http://schemas.microsoft.com/office/drawing/2014/main" val="10004"/>
                  </a:ext>
                </a:extLst>
              </a:tr>
              <a:tr h="838200">
                <a:tc>
                  <a:txBody>
                    <a:bodyPr/>
                    <a:lstStyle/>
                    <a:p>
                      <a:pPr algn="l">
                        <a:lnSpc>
                          <a:spcPct val="104000"/>
                        </a:lnSpc>
                        <a:buNone/>
                      </a:pPr>
                      <a:r>
                        <a:rPr sz="1650" b="0">
                          <a:solidFill>
                            <a:srgbClr val="17325C"/>
                          </a:solidFill>
                          <a:latin typeface="Arial"/>
                          <a:ea typeface="Arial"/>
                          <a:cs typeface="Arial"/>
                        </a:rPr>
                        <a:t>Ưu tiên cải tiến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giao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tầng xác nhận theo rủi ro; hẹn giao và chuẩn hóa địa chỉ.</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41</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PHÂN TÍCH CHI PHÍ</a:t>
            </a:r>
            <a:endParaRPr lang="en-US" sz="2550" b="1" dirty="0">
              <a:solidFill>
                <a:srgbClr val="062B8D"/>
              </a:solidFill>
              <a:latin typeface="Arial"/>
              <a:ea typeface="Arial"/>
              <a:cs typeface="Arial"/>
            </a:endParaRPr>
          </a:p>
          <a:p>
            <a:pPr>
              <a:lnSpc>
                <a:spcPct val="104000"/>
              </a:lnSpc>
              <a:defRPr sz="2550" b="1">
                <a:solidFill>
                  <a:srgbClr val="062B8D"/>
                </a:solidFill>
                <a:latin typeface="Arial"/>
                <a:ea typeface="Arial"/>
                <a:cs typeface="Arial"/>
              </a:defRPr>
            </a:pPr>
            <a:r>
              <a:rPr lang="en-US"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graphicFrame>
        <p:nvGraphicFramePr>
          <p:cNvPr id="114" name="Table 113"/>
          <p:cNvGraphicFramePr/>
          <p:nvPr>
            <p:extLst>
              <p:ext uri="{D42A27DB-BD31-4B8C-83A1-F6EECF244321}">
                <p14:modId xmlns:p14="http://schemas.microsoft.com/office/powerpoint/2010/main" val="3922971911"/>
              </p:ext>
            </p:extLst>
          </p:nvPr>
        </p:nvGraphicFramePr>
        <p:xfrm>
          <a:off x="742950" y="1676400"/>
          <a:ext cx="10763250" cy="3971925"/>
        </p:xfrm>
        <a:graphic>
          <a:graphicData uri="http://schemas.openxmlformats.org/drawingml/2006/table">
            <a:tbl>
              <a:tblPr firstRow="1"/>
              <a:tblGrid>
                <a:gridCol w="3857625">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Cách tính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Chi phí (đ)</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Loại</a:t>
                      </a:r>
                    </a:p>
                  </a:txBody>
                  <a:tcPr anchor="ctr">
                    <a:solidFill>
                      <a:srgbClr val="0B5ED7"/>
                    </a:solidFill>
                  </a:tcPr>
                </a:tc>
                <a:extLst>
                  <a:ext uri="{0D108BD9-81ED-4DB2-BD59-A6C34878D82A}">
                    <a16:rowId xmlns:a16="http://schemas.microsoft.com/office/drawing/2014/main" val="10000"/>
                  </a:ext>
                </a:extLst>
              </a:tr>
              <a:tr h="504825">
                <a:tc>
                  <a:txBody>
                    <a:bodyPr/>
                    <a:lstStyle/>
                    <a:p>
                      <a:pPr algn="l">
                        <a:lnSpc>
                          <a:spcPct val="104000"/>
                        </a:lnSpc>
                        <a:buNone/>
                      </a:pPr>
                      <a:r>
                        <a:rPr sz="1650" b="0" dirty="0" err="1">
                          <a:solidFill>
                            <a:srgbClr val="17325C"/>
                          </a:solidFill>
                          <a:latin typeface="Arial"/>
                          <a:ea typeface="Arial"/>
                          <a:cs typeface="Arial"/>
                        </a:rPr>
                        <a:t>Hoạt</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động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tự</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động</a:t>
                      </a:r>
                      <a:r>
                        <a:rPr sz="1650" b="0" dirty="0">
                          <a:solidFill>
                            <a:srgbClr val="17325C"/>
                          </a:solidFill>
                          <a:latin typeface="Arial"/>
                          <a:ea typeface="Arial"/>
                          <a:cs typeface="Arial"/>
                        </a:rPr>
                        <a:t> + SMS/Email</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8 × 250 + 600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a:t>
                      </a:r>
                      <a:r>
                        <a:rPr lang="en-US" sz="1650" b="0" dirty="0">
                          <a:solidFill>
                            <a:srgbClr val="17325C"/>
                          </a:solidFill>
                          <a:latin typeface="Arial"/>
                          <a:ea typeface="Arial"/>
                          <a:cs typeface="Arial"/>
                        </a:rPr>
                        <a:t>5</a:t>
                      </a:r>
                      <a:r>
                        <a:rPr sz="1650" b="0">
                          <a:solidFill>
                            <a:srgbClr val="17325C"/>
                          </a:solidFill>
                          <a:latin typeface="Arial"/>
                          <a:ea typeface="Arial"/>
                          <a:cs typeface="Arial"/>
                        </a:rPr>
                        <a:t>00</a:t>
                      </a:r>
                      <a:endParaRPr sz="165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650" b="0" dirty="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1"/>
                  </a:ext>
                </a:extLst>
              </a:tr>
              <a:tr h="504825">
                <a:tc>
                  <a:txBody>
                    <a:bodyPr/>
                    <a:lstStyle/>
                    <a:p>
                      <a:pPr algn="l">
                        <a:lnSpc>
                          <a:spcPct val="104000"/>
                        </a:lnSpc>
                        <a:buNone/>
                      </a:pPr>
                      <a:r>
                        <a:rPr sz="1650" b="0">
                          <a:solidFill>
                            <a:srgbClr val="17325C"/>
                          </a:solidFill>
                          <a:latin typeface="Arial"/>
                          <a:ea typeface="Arial"/>
                          <a:cs typeface="Arial"/>
                        </a:rPr>
                        <a:t>Gọi điện xác nhận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5 phút × 1.400 × 1,4 lần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9.800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2"/>
                  </a:ext>
                </a:extLst>
              </a:tr>
              <a:tr h="504825">
                <a:tc>
                  <a:txBody>
                    <a:bodyPr/>
                    <a:lstStyle/>
                    <a:p>
                      <a:pPr algn="l">
                        <a:lnSpc>
                          <a:spcPct val="104000"/>
                        </a:lnSpc>
                        <a:buNone/>
                      </a:pPr>
                      <a:r>
                        <a:rPr sz="1650" b="0">
                          <a:solidFill>
                            <a:srgbClr val="17325C"/>
                          </a:solidFill>
                          <a:latin typeface="Arial"/>
                          <a:ea typeface="Arial"/>
                          <a:cs typeface="Arial"/>
                        </a:rPr>
                        <a:t>Xử lý thanh toán (trả góp + trực tuyến)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(25×1.400×0,13) + (3×1.400×0,20)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5.390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504825">
                <a:tc>
                  <a:txBody>
                    <a:bodyPr/>
                    <a:lstStyle/>
                    <a:p>
                      <a:pPr algn="l">
                        <a:lnSpc>
                          <a:spcPct val="104000"/>
                        </a:lnSpc>
                        <a:buNone/>
                      </a:pPr>
                      <a:r>
                        <a:rPr sz="1650" b="0">
                          <a:solidFill>
                            <a:srgbClr val="17325C"/>
                          </a:solidFill>
                          <a:latin typeface="Arial"/>
                          <a:ea typeface="Arial"/>
                          <a:cs typeface="Arial"/>
                        </a:rPr>
                        <a:t>Phí cổng thanh toán trực tuyến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9.000.000 × 1,1% × 20%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19.800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4"/>
                  </a:ext>
                </a:extLst>
              </a:tr>
              <a:tr h="504825">
                <a:tc>
                  <a:txBody>
                    <a:bodyPr/>
                    <a:lstStyle/>
                    <a:p>
                      <a:pPr algn="l">
                        <a:lnSpc>
                          <a:spcPct val="104000"/>
                        </a:lnSpc>
                        <a:buNone/>
                      </a:pPr>
                      <a:r>
                        <a:rPr sz="1650" b="0">
                          <a:solidFill>
                            <a:srgbClr val="17325C"/>
                          </a:solidFill>
                          <a:latin typeface="Arial"/>
                          <a:ea typeface="Arial"/>
                          <a:cs typeface="Arial"/>
                        </a:rPr>
                        <a:t>Soạn hàng theo phiếu</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15 × 1.300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19.500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extLst>
                  <a:ext uri="{0D108BD9-81ED-4DB2-BD59-A6C34878D82A}">
                    <a16:rowId xmlns:a16="http://schemas.microsoft.com/office/drawing/2014/main" val="10005"/>
                  </a:ext>
                </a:extLst>
              </a:tr>
              <a:tr h="504825">
                <a:tc>
                  <a:txBody>
                    <a:bodyPr/>
                    <a:lstStyle/>
                    <a:p>
                      <a:pPr algn="l">
                        <a:lnSpc>
                          <a:spcPct val="104000"/>
                        </a:lnSpc>
                        <a:buNone/>
                      </a:pPr>
                      <a:r>
                        <a:rPr sz="1650" b="0">
                          <a:solidFill>
                            <a:srgbClr val="17325C"/>
                          </a:solidFill>
                          <a:latin typeface="Arial"/>
                          <a:ea typeface="Arial"/>
                          <a:cs typeface="Arial"/>
                        </a:rPr>
                        <a:t>Quét và ghi nhận IMEI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5 × 1.300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6.500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6"/>
                  </a:ext>
                </a:extLst>
              </a:tr>
              <a:tr h="504825">
                <a:tc>
                  <a:txBody>
                    <a:bodyPr/>
                    <a:lstStyle/>
                    <a:p>
                      <a:pPr algn="l">
                        <a:lnSpc>
                          <a:spcPct val="104000"/>
                        </a:lnSpc>
                        <a:buNone/>
                      </a:pPr>
                      <a:r>
                        <a:rPr sz="1650" b="0">
                          <a:solidFill>
                            <a:srgbClr val="17325C"/>
                          </a:solidFill>
                          <a:latin typeface="Arial"/>
                          <a:ea typeface="Arial"/>
                          <a:cs typeface="Arial"/>
                        </a:rPr>
                        <a:t>Đóng gói, dán tem + vật tư</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10 × 1.300 + 15.000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28.000</a:t>
                      </a:r>
                    </a:p>
                  </a:txBody>
                  <a:tcPr anchor="ctr">
                    <a:solidFill>
                      <a:srgbClr val="FFFFFF"/>
                    </a:solidFill>
                  </a:tcPr>
                </a:tc>
                <a:tc>
                  <a:txBody>
                    <a:bodyPr/>
                    <a:lstStyle/>
                    <a:p>
                      <a:pPr algn="l">
                        <a:lnSpc>
                          <a:spcPct val="104000"/>
                        </a:lnSpc>
                        <a:buNone/>
                      </a:pPr>
                      <a:r>
                        <a:rPr sz="1650" b="0" dirty="0">
                          <a:solidFill>
                            <a:srgbClr val="17325C"/>
                          </a:solidFill>
                          <a:latin typeface="Arial"/>
                          <a:ea typeface="Arial"/>
                          <a:cs typeface="Arial"/>
                        </a:rPr>
                        <a:t>VA</a:t>
                      </a:r>
                    </a:p>
                  </a:txBody>
                  <a:tcPr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42</a:t>
            </a:r>
          </a:p>
        </p:txBody>
      </p:sp>
      <p:graphicFrame>
        <p:nvGraphicFramePr>
          <p:cNvPr id="114" name="Table 113"/>
          <p:cNvGraphicFramePr/>
          <p:nvPr/>
        </p:nvGraphicFramePr>
        <p:xfrm>
          <a:off x="742950" y="1676400"/>
          <a:ext cx="10763250" cy="3971925"/>
        </p:xfrm>
        <a:graphic>
          <a:graphicData uri="http://schemas.openxmlformats.org/drawingml/2006/table">
            <a:tbl>
              <a:tblPr firstRow="1"/>
              <a:tblGrid>
                <a:gridCol w="3857625">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Cách tính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Chi phí (đ)</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Loại</a:t>
                      </a:r>
                    </a:p>
                  </a:txBody>
                  <a:tcPr anchor="ctr">
                    <a:solidFill>
                      <a:srgbClr val="0B5ED7"/>
                    </a:solidFill>
                  </a:tcPr>
                </a:tc>
                <a:extLst>
                  <a:ext uri="{0D108BD9-81ED-4DB2-BD59-A6C34878D82A}">
                    <a16:rowId xmlns:a16="http://schemas.microsoft.com/office/drawing/2014/main" val="10000"/>
                  </a:ext>
                </a:extLst>
              </a:tr>
              <a:tr h="504825">
                <a:tc>
                  <a:txBody>
                    <a:bodyPr/>
                    <a:lstStyle/>
                    <a:p>
                      <a:pPr algn="l">
                        <a:lnSpc>
                          <a:spcPct val="104000"/>
                        </a:lnSpc>
                        <a:buNone/>
                      </a:pPr>
                      <a:r>
                        <a:rPr sz="1650" b="0">
                          <a:solidFill>
                            <a:srgbClr val="17325C"/>
                          </a:solidFill>
                          <a:latin typeface="Arial"/>
                          <a:ea typeface="Arial"/>
                          <a:cs typeface="Arial"/>
                        </a:rPr>
                        <a:t>Xuất hóa đơn VAT điện tử</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3 × 1.300 + 500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4.400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1"/>
                  </a:ext>
                </a:extLst>
              </a:tr>
              <a:tr h="504825">
                <a:tc>
                  <a:txBody>
                    <a:bodyPr/>
                    <a:lstStyle/>
                    <a:p>
                      <a:pPr algn="l">
                        <a:lnSpc>
                          <a:spcPct val="104000"/>
                        </a:lnSpc>
                        <a:buNone/>
                      </a:pPr>
                      <a:r>
                        <a:rPr sz="1650" b="0">
                          <a:solidFill>
                            <a:srgbClr val="17325C"/>
                          </a:solidFill>
                          <a:latin typeface="Arial"/>
                          <a:ea typeface="Arial"/>
                          <a:cs typeface="Arial"/>
                        </a:rPr>
                        <a:t>Bàn giao và giao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0,2×19.500 + 0,8×(13.000+30.000)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38.300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2"/>
                  </a:ext>
                </a:extLst>
              </a:tr>
              <a:tr h="504825">
                <a:tc>
                  <a:txBody>
                    <a:bodyPr/>
                    <a:lstStyle/>
                    <a:p>
                      <a:pPr algn="l">
                        <a:lnSpc>
                          <a:spcPct val="104000"/>
                        </a:lnSpc>
                        <a:buNone/>
                      </a:pPr>
                      <a:r>
                        <a:rPr sz="1650" b="0">
                          <a:solidFill>
                            <a:srgbClr val="17325C"/>
                          </a:solidFill>
                          <a:latin typeface="Arial"/>
                          <a:ea typeface="Arial"/>
                          <a:cs typeface="Arial"/>
                        </a:rPr>
                        <a:t>Hẹn giao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10% × 80% × 30.000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2.400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extLst>
                  <a:ext uri="{0D108BD9-81ED-4DB2-BD59-A6C34878D82A}">
                    <a16:rowId xmlns:a16="http://schemas.microsoft.com/office/drawing/2014/main" val="10003"/>
                  </a:ext>
                </a:extLst>
              </a:tr>
              <a:tr h="504825">
                <a:tc>
                  <a:txBody>
                    <a:bodyPr/>
                    <a:lstStyle/>
                    <a:p>
                      <a:pPr algn="l">
                        <a:lnSpc>
                          <a:spcPct val="104000"/>
                        </a:lnSpc>
                        <a:buNone/>
                      </a:pPr>
                      <a:r>
                        <a:rPr sz="1650" b="0">
                          <a:solidFill>
                            <a:srgbClr val="17325C"/>
                          </a:solidFill>
                          <a:latin typeface="Arial"/>
                          <a:ea typeface="Arial"/>
                          <a:cs typeface="Arial"/>
                        </a:rPr>
                        <a:t>Hoàn hàng và nhập kho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 × 80% × 43.000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1.030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1F6FC"/>
                    </a:solidFill>
                  </a:tcPr>
                </a:tc>
                <a:extLst>
                  <a:ext uri="{0D108BD9-81ED-4DB2-BD59-A6C34878D82A}">
                    <a16:rowId xmlns:a16="http://schemas.microsoft.com/office/drawing/2014/main" val="10004"/>
                  </a:ext>
                </a:extLst>
              </a:tr>
              <a:tr h="504825">
                <a:tc>
                  <a:txBody>
                    <a:bodyPr/>
                    <a:lstStyle/>
                    <a:p>
                      <a:pPr algn="l">
                        <a:lnSpc>
                          <a:spcPct val="104000"/>
                        </a:lnSpc>
                        <a:buNone/>
                      </a:pPr>
                      <a:r>
                        <a:rPr sz="1650" b="0">
                          <a:solidFill>
                            <a:srgbClr val="17325C"/>
                          </a:solidFill>
                          <a:latin typeface="Arial"/>
                          <a:ea typeface="Arial"/>
                          <a:cs typeface="Arial"/>
                        </a:rPr>
                        <a:t>Đối soát COD</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bổ theo lô</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2.000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5"/>
                  </a:ext>
                </a:extLst>
              </a:tr>
              <a:tr h="504825">
                <a:tc>
                  <a:txBody>
                    <a:bodyPr/>
                    <a:lstStyle/>
                    <a:p>
                      <a:pPr algn="l">
                        <a:lnSpc>
                          <a:spcPct val="104000"/>
                        </a:lnSpc>
                        <a:buNone/>
                      </a:pPr>
                      <a:r>
                        <a:rPr sz="1650" b="0">
                          <a:solidFill>
                            <a:srgbClr val="17325C"/>
                          </a:solidFill>
                          <a:latin typeface="Arial"/>
                          <a:ea typeface="Arial"/>
                          <a:cs typeface="Arial"/>
                        </a:rPr>
                        <a:t>Xử lý hủy đơn và thông báo khách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21,8% × 10 phút × 1.400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3.050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1F6FC"/>
                    </a:solidFill>
                  </a:tcPr>
                </a:tc>
                <a:extLst>
                  <a:ext uri="{0D108BD9-81ED-4DB2-BD59-A6C34878D82A}">
                    <a16:rowId xmlns:a16="http://schemas.microsoft.com/office/drawing/2014/main" val="10006"/>
                  </a:ext>
                </a:extLst>
              </a:tr>
              <a:tr h="504825">
                <a:tc gridSpan="2">
                  <a:txBody>
                    <a:bodyPr/>
                    <a:lstStyle/>
                    <a:p>
                      <a:pPr algn="l">
                        <a:lnSpc>
                          <a:spcPct val="104000"/>
                        </a:lnSpc>
                        <a:buNone/>
                      </a:pPr>
                      <a:r>
                        <a:rPr sz="1650" b="0">
                          <a:solidFill>
                            <a:srgbClr val="17325C"/>
                          </a:solidFill>
                          <a:latin typeface="Arial"/>
                          <a:ea typeface="Arial"/>
                          <a:cs typeface="Arial"/>
                        </a:rPr>
                        <a:t>Tổng chi phí/đơn khởi tạo</a:t>
                      </a:r>
                    </a:p>
                  </a:txBody>
                  <a:tcPr anchor="ctr">
                    <a:solidFill>
                      <a:srgbClr val="FFFFFF"/>
                    </a:solidFill>
                  </a:tcPr>
                </a:tc>
                <a:tc hMerge="1">
                  <a:txBody>
                    <a:bodyPr/>
                    <a:lstStyle/>
                    <a:p>
                      <a:endParaRP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142.670</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7"/>
                  </a:ext>
                </a:extLst>
              </a:tr>
            </a:tbl>
          </a:graphicData>
        </a:graphic>
      </p:graphicFrame>
      <p:sp>
        <p:nvSpPr>
          <p:cNvPr id="62" name="Content VA: 85.800 đ  •  BVA: 50.390 đ  •  ">
            <a:extLst>
              <a:ext uri="{FF2B5EF4-FFF2-40B4-BE49-F238E27FC236}">
                <a16:creationId xmlns:a16="http://schemas.microsoft.com/office/drawing/2014/main" id="{28B187D9-3A27-4D11-902F-DB398054141C}"/>
              </a:ext>
            </a:extLst>
          </p:cNvPr>
          <p:cNvSpPr>
            <a:spLocks noGrp="1"/>
          </p:cNvSpPr>
          <p:nvPr/>
        </p:nvSpPr>
        <p:spPr>
          <a:xfrm>
            <a:off x="742950" y="5715000"/>
            <a:ext cx="10763250" cy="495300"/>
          </a:xfrm>
          <a:prstGeom prst="rect">
            <a:avLst/>
          </a:prstGeom>
          <a:noFill/>
          <a:ln w="0">
            <a:noFill/>
          </a:ln>
        </p:spPr>
        <p:txBody>
          <a:bodyPr wrap="square" lIns="0" tIns="0" rIns="0" bIns="0"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VA: 85.800 đ  •  BVA: 50.390 đ  •  NVA: 6.480 đ
Chi phí/đơn hoàn tất ≈ 182.442 đ (142.670 / 78,2%).</a:t>
            </a:r>
          </a:p>
        </p:txBody>
      </p:sp>
      <p:sp>
        <p:nvSpPr>
          <p:cNvPr id="6" name="Rectangle 5">
            <a:extLst>
              <a:ext uri="{FF2B5EF4-FFF2-40B4-BE49-F238E27FC236}">
                <a16:creationId xmlns:a16="http://schemas.microsoft.com/office/drawing/2014/main" id="{1FF8B43E-B65B-121D-08AA-AE6B616F0DE0}"/>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PHÂN TÍCH CHI PHÍ</a:t>
            </a:r>
            <a:endParaRPr lang="en-US" sz="2550" b="1" dirty="0">
              <a:solidFill>
                <a:srgbClr val="062B8D"/>
              </a:solidFill>
              <a:latin typeface="Arial"/>
              <a:ea typeface="Arial"/>
              <a:cs typeface="Arial"/>
            </a:endParaRPr>
          </a:p>
          <a:p>
            <a:pPr>
              <a:lnSpc>
                <a:spcPct val="104000"/>
              </a:lnSpc>
              <a:defRPr sz="2550" b="1">
                <a:solidFill>
                  <a:srgbClr val="062B8D"/>
                </a:solidFill>
                <a:latin typeface="Arial"/>
                <a:ea typeface="Arial"/>
                <a:cs typeface="Arial"/>
              </a:defRPr>
            </a:pPr>
            <a:r>
              <a:rPr lang="en-US"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spTree>
    <p:extLst>
      <p:ext uri="{BB962C8B-B14F-4D97-AF65-F5344CB8AC3E}">
        <p14:creationId xmlns:p14="http://schemas.microsoft.com/office/powerpoint/2010/main" val="9852347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43</a:t>
            </a:r>
          </a:p>
        </p:txBody>
      </p:sp>
      <p:sp>
        <p:nvSpPr>
          <p:cNvPr id="60" name="Rectangle 59">
            <a:extLst>
              <a:ext uri="{FF2B5EF4-FFF2-40B4-BE49-F238E27FC236}">
                <a16:creationId xmlns:a16="http://schemas.microsoft.com/office/drawing/2014/main" id="{00E387D5-AD0D-489D-B892-3D1FB1634AE1}"/>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VIII. PHÂN TÍCH CÁC BÊN LIÊN QUAN</a:t>
            </a:r>
            <a:endParaRPr lang="en-US" sz="2550" b="1" dirty="0">
              <a:solidFill>
                <a:srgbClr val="062B8D"/>
              </a:solidFill>
              <a:latin typeface="Arial"/>
              <a:ea typeface="Arial"/>
              <a:cs typeface="Arial"/>
            </a:endParaRPr>
          </a:p>
          <a:p>
            <a:pPr>
              <a:lnSpc>
                <a:spcPct val="104000"/>
              </a:lnSpc>
              <a:defRPr sz="2550" b="1">
                <a:solidFill>
                  <a:srgbClr val="062B8D"/>
                </a:solidFill>
                <a:latin typeface="Arial"/>
                <a:ea typeface="Arial"/>
                <a:cs typeface="Arial"/>
              </a:defRPr>
            </a:pPr>
            <a:r>
              <a:rPr lang="en-US"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25717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495300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Bên liên quan</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Ảnh hưởng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Quan tâm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Lợi ích/Kỳ vọng</a:t>
                      </a:r>
                    </a:p>
                  </a:txBody>
                  <a:tcPr anchor="ctr">
                    <a:solidFill>
                      <a:srgbClr val="009D9E"/>
                    </a:solidFill>
                  </a:tcPr>
                </a:tc>
                <a:extLst>
                  <a:ext uri="{0D108BD9-81ED-4DB2-BD59-A6C34878D82A}">
                    <a16:rowId xmlns:a16="http://schemas.microsoft.com/office/drawing/2014/main" val="10000"/>
                  </a:ext>
                </a:extLst>
              </a:tr>
              <a:tr h="62865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Xử lý nhanh; đúng hàng, đúng hẹn; theo dõi được đơn.</a:t>
                      </a:r>
                    </a:p>
                  </a:txBody>
                  <a:tcPr anchor="ctr">
                    <a:solidFill>
                      <a:srgbClr val="FFFFFF"/>
                    </a:solidFill>
                  </a:tcPr>
                </a:tc>
                <a:extLst>
                  <a:ext uri="{0D108BD9-81ED-4DB2-BD59-A6C34878D82A}">
                    <a16:rowId xmlns:a16="http://schemas.microsoft.com/office/drawing/2014/main" val="10001"/>
                  </a:ext>
                </a:extLst>
              </a:tr>
              <a:tr h="628650">
                <a:tc>
                  <a:txBody>
                    <a:bodyPr/>
                    <a:lstStyle/>
                    <a:p>
                      <a:pPr algn="l">
                        <a:lnSpc>
                          <a:spcPct val="104000"/>
                        </a:lnSpc>
                        <a:buNone/>
                      </a:pPr>
                      <a:r>
                        <a:rPr sz="1650" b="0">
                          <a:solidFill>
                            <a:srgbClr val="17325C"/>
                          </a:solidFill>
                          <a:latin typeface="Arial"/>
                          <a:ea typeface="Arial"/>
                          <a:cs typeface="Arial"/>
                        </a:rPr>
                        <a:t>Ban lãnh đạo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Tăng tỷ lệ hoàn tất, hiệu quả vận hành và khả năng mở rộng.</a:t>
                      </a:r>
                    </a:p>
                  </a:txBody>
                  <a:tcPr anchor="ctr">
                    <a:solidFill>
                      <a:srgbClr val="F1F6FC"/>
                    </a:solidFill>
                  </a:tcPr>
                </a:tc>
                <a:extLst>
                  <a:ext uri="{0D108BD9-81ED-4DB2-BD59-A6C34878D82A}">
                    <a16:rowId xmlns:a16="http://schemas.microsoft.com/office/drawing/2014/main" val="10002"/>
                  </a:ext>
                </a:extLst>
              </a:tr>
              <a:tr h="628650">
                <a:tc>
                  <a:txBody>
                    <a:bodyPr/>
                    <a:lstStyle/>
                    <a:p>
                      <a:pPr algn="l">
                        <a:lnSpc>
                          <a:spcPct val="104000"/>
                        </a:lnSpc>
                        <a:buNone/>
                      </a:pPr>
                      <a:r>
                        <a:rPr sz="1650" b="0">
                          <a:solidFill>
                            <a:srgbClr val="17325C"/>
                          </a:solidFill>
                          <a:latin typeface="Arial"/>
                          <a:ea typeface="Arial"/>
                          <a:cs typeface="Arial"/>
                        </a:rPr>
                        <a:t>Telesales/CSKH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Giảm gọi lặp lại; tập trung tư vấn và xử lý ngoại lệ.</a:t>
                      </a:r>
                    </a:p>
                  </a:txBody>
                  <a:tcPr anchor="ctr">
                    <a:solidFill>
                      <a:srgbClr val="FFFFFF"/>
                    </a:solidFill>
                  </a:tcPr>
                </a:tc>
                <a:extLst>
                  <a:ext uri="{0D108BD9-81ED-4DB2-BD59-A6C34878D82A}">
                    <a16:rowId xmlns:a16="http://schemas.microsoft.com/office/drawing/2014/main" val="10003"/>
                  </a:ext>
                </a:extLst>
              </a:tr>
              <a:tr h="628650">
                <a:tc>
                  <a:txBody>
                    <a:bodyPr/>
                    <a:lstStyle/>
                    <a:p>
                      <a:pPr algn="l">
                        <a:lnSpc>
                          <a:spcPct val="104000"/>
                        </a:lnSpc>
                        <a:buNone/>
                      </a:pPr>
                      <a:r>
                        <a:rPr sz="1650" b="0">
                          <a:solidFill>
                            <a:srgbClr val="17325C"/>
                          </a:solidFill>
                          <a:latin typeface="Arial"/>
                          <a:ea typeface="Arial"/>
                          <a:cs typeface="Arial"/>
                        </a:rPr>
                        <a:t>CNTT/OMS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Đồng bộ tồn kho, trạng thái và tích hợp đối tác.</a:t>
                      </a:r>
                    </a:p>
                  </a:txBody>
                  <a:tcPr anchor="ctr">
                    <a:solidFill>
                      <a:srgbClr val="F1F6FC"/>
                    </a:solidFill>
                  </a:tcPr>
                </a:tc>
                <a:extLst>
                  <a:ext uri="{0D108BD9-81ED-4DB2-BD59-A6C34878D82A}">
                    <a16:rowId xmlns:a16="http://schemas.microsoft.com/office/drawing/2014/main" val="10004"/>
                  </a:ext>
                </a:extLst>
              </a:tr>
              <a:tr h="628650">
                <a:tc>
                  <a:txBody>
                    <a:bodyPr/>
                    <a:lstStyle/>
                    <a:p>
                      <a:pPr algn="l">
                        <a:lnSpc>
                          <a:spcPct val="104000"/>
                        </a:lnSpc>
                        <a:buNone/>
                      </a:pPr>
                      <a:r>
                        <a:rPr sz="1650" b="0">
                          <a:solidFill>
                            <a:srgbClr val="17325C"/>
                          </a:solidFill>
                          <a:latin typeface="Arial"/>
                          <a:ea typeface="Arial"/>
                          <a:cs typeface="Arial"/>
                        </a:rPr>
                        <a:t>Công ty tài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Hồ sơ đầy đủ, thẩm định nhanh, kiểm soát rủi ro.</a:t>
                      </a:r>
                    </a:p>
                  </a:txBody>
                  <a:tcPr anchor="ctr">
                    <a:solidFill>
                      <a:srgbClr val="FFFFFF"/>
                    </a:solidFill>
                  </a:tcPr>
                </a:tc>
                <a:extLst>
                  <a:ext uri="{0D108BD9-81ED-4DB2-BD59-A6C34878D82A}">
                    <a16:rowId xmlns:a16="http://schemas.microsoft.com/office/drawing/2014/main" val="10005"/>
                  </a:ext>
                </a:extLst>
              </a:tr>
              <a:tr h="628650">
                <a:tc>
                  <a:txBody>
                    <a:bodyPr/>
                    <a:lstStyle/>
                    <a:p>
                      <a:pPr algn="l">
                        <a:lnSpc>
                          <a:spcPct val="104000"/>
                        </a:lnSpc>
                        <a:buNone/>
                      </a:pPr>
                      <a:r>
                        <a:rPr sz="1650" b="0">
                          <a:solidFill>
                            <a:srgbClr val="17325C"/>
                          </a:solidFill>
                          <a:latin typeface="Arial"/>
                          <a:ea typeface="Arial"/>
                          <a:cs typeface="Arial"/>
                        </a:rPr>
                        <a:t>Cơ quan quản lý</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Thấp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Tuân thủ quy định về giao dịch và dữ liệu.</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44</a:t>
            </a: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25717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495300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Bên liên quan</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Ảnh hưởng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Quan tâm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Lợi ích/Kỳ vọng</a:t>
                      </a:r>
                    </a:p>
                  </a:txBody>
                  <a:tcPr anchor="ctr">
                    <a:solidFill>
                      <a:srgbClr val="009D9E"/>
                    </a:solidFill>
                  </a:tcPr>
                </a:tc>
                <a:extLst>
                  <a:ext uri="{0D108BD9-81ED-4DB2-BD59-A6C34878D82A}">
                    <a16:rowId xmlns:a16="http://schemas.microsoft.com/office/drawing/2014/main" val="10000"/>
                  </a:ext>
                </a:extLst>
              </a:tr>
              <a:tr h="628650">
                <a:tc>
                  <a:txBody>
                    <a:bodyPr/>
                    <a:lstStyle/>
                    <a:p>
                      <a:pPr algn="l">
                        <a:lnSpc>
                          <a:spcPct val="104000"/>
                        </a:lnSpc>
                        <a:buNone/>
                      </a:pPr>
                      <a:r>
                        <a:rPr sz="1650" b="0">
                          <a:solidFill>
                            <a:srgbClr val="17325C"/>
                          </a:solidFill>
                          <a:latin typeface="Arial"/>
                          <a:ea typeface="Arial"/>
                          <a:cs typeface="Arial"/>
                        </a:rPr>
                        <a:t>Cửa hàng–Kho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Cân đối khách tại quầy và đơn online; giảm sai sót.</a:t>
                      </a:r>
                    </a:p>
                  </a:txBody>
                  <a:tcPr anchor="ctr">
                    <a:solidFill>
                      <a:srgbClr val="FFFFFF"/>
                    </a:solidFill>
                  </a:tcPr>
                </a:tc>
                <a:extLst>
                  <a:ext uri="{0D108BD9-81ED-4DB2-BD59-A6C34878D82A}">
                    <a16:rowId xmlns:a16="http://schemas.microsoft.com/office/drawing/2014/main" val="10001"/>
                  </a:ext>
                </a:extLst>
              </a:tr>
              <a:tr h="628650">
                <a:tc>
                  <a:txBody>
                    <a:bodyPr/>
                    <a:lstStyle/>
                    <a:p>
                      <a:pPr algn="l">
                        <a:lnSpc>
                          <a:spcPct val="104000"/>
                        </a:lnSpc>
                        <a:buNone/>
                      </a:pPr>
                      <a:r>
                        <a:rPr sz="1650" b="0">
                          <a:solidFill>
                            <a:srgbClr val="17325C"/>
                          </a:solidFill>
                          <a:latin typeface="Arial"/>
                          <a:ea typeface="Arial"/>
                          <a:cs typeface="Arial"/>
                        </a:rPr>
                        <a:t>Giao vận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thành công lần đầu; tối ưu lộ trình.</a:t>
                      </a:r>
                    </a:p>
                  </a:txBody>
                  <a:tcPr anchor="ctr">
                    <a:solidFill>
                      <a:srgbClr val="F1F6FC"/>
                    </a:solidFill>
                  </a:tcPr>
                </a:tc>
                <a:extLst>
                  <a:ext uri="{0D108BD9-81ED-4DB2-BD59-A6C34878D82A}">
                    <a16:rowId xmlns:a16="http://schemas.microsoft.com/office/drawing/2014/main" val="10002"/>
                  </a:ext>
                </a:extLst>
              </a:tr>
              <a:tr h="628650">
                <a:tc>
                  <a:txBody>
                    <a:bodyPr/>
                    <a:lstStyle/>
                    <a:p>
                      <a:pPr algn="l">
                        <a:lnSpc>
                          <a:spcPct val="104000"/>
                        </a:lnSpc>
                        <a:buNone/>
                      </a:pPr>
                      <a:r>
                        <a:rPr sz="1650" b="0">
                          <a:solidFill>
                            <a:srgbClr val="17325C"/>
                          </a:solidFill>
                          <a:latin typeface="Arial"/>
                          <a:ea typeface="Arial"/>
                          <a:cs typeface="Arial"/>
                        </a:rPr>
                        <a:t>Kế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Đối soát kịp thời, chính xác, đủ chứng từ.</a:t>
                      </a:r>
                    </a:p>
                  </a:txBody>
                  <a:tcPr anchor="ctr">
                    <a:solidFill>
                      <a:srgbClr val="FFFFFF"/>
                    </a:solidFill>
                  </a:tcPr>
                </a:tc>
                <a:extLst>
                  <a:ext uri="{0D108BD9-81ED-4DB2-BD59-A6C34878D82A}">
                    <a16:rowId xmlns:a16="http://schemas.microsoft.com/office/drawing/2014/main" val="10003"/>
                  </a:ext>
                </a:extLst>
              </a:tr>
              <a:tr h="628650">
                <a:tc>
                  <a:txBody>
                    <a:bodyPr/>
                    <a:lstStyle/>
                    <a:p>
                      <a:pPr algn="l">
                        <a:lnSpc>
                          <a:spcPct val="104000"/>
                        </a:lnSpc>
                        <a:buNone/>
                      </a:pPr>
                      <a:r>
                        <a:rPr sz="1650" b="0">
                          <a:solidFill>
                            <a:srgbClr val="17325C"/>
                          </a:solidFill>
                          <a:latin typeface="Arial"/>
                          <a:ea typeface="Arial"/>
                          <a:cs typeface="Arial"/>
                        </a:rPr>
                        <a:t>Đối tác vận chuyển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Địa chỉ chính xác và sản lượng ổn định.</a:t>
                      </a:r>
                    </a:p>
                  </a:txBody>
                  <a:tcPr anchor="ctr">
                    <a:solidFill>
                      <a:srgbClr val="F1F6FC"/>
                    </a:solidFill>
                  </a:tcPr>
                </a:tc>
                <a:extLst>
                  <a:ext uri="{0D108BD9-81ED-4DB2-BD59-A6C34878D82A}">
                    <a16:rowId xmlns:a16="http://schemas.microsoft.com/office/drawing/2014/main" val="10004"/>
                  </a:ext>
                </a:extLst>
              </a:tr>
              <a:tr h="628650">
                <a:tc>
                  <a:txBody>
                    <a:bodyPr/>
                    <a:lstStyle/>
                    <a:p>
                      <a:pPr algn="l">
                        <a:lnSpc>
                          <a:spcPct val="104000"/>
                        </a:lnSpc>
                        <a:buNone/>
                      </a:pPr>
                      <a:r>
                        <a:rPr sz="1650" b="0">
                          <a:solidFill>
                            <a:srgbClr val="17325C"/>
                          </a:solidFill>
                          <a:latin typeface="Arial"/>
                          <a:ea typeface="Arial"/>
                          <a:cs typeface="Arial"/>
                        </a:rPr>
                        <a:t>Cổng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Thấp</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dịch an toàn, ít lỗi và tranh chấp.</a:t>
                      </a:r>
                    </a:p>
                  </a:txBody>
                  <a:tcPr anchor="ctr">
                    <a:solidFill>
                      <a:srgbClr val="FFFFFF"/>
                    </a:solidFill>
                  </a:tcPr>
                </a:tc>
                <a:extLst>
                  <a:ext uri="{0D108BD9-81ED-4DB2-BD59-A6C34878D82A}">
                    <a16:rowId xmlns:a16="http://schemas.microsoft.com/office/drawing/2014/main" val="10005"/>
                  </a:ext>
                </a:extLst>
              </a:tr>
              <a:tr h="628650">
                <a:tc>
                  <a:txBody>
                    <a:bodyPr/>
                    <a:lstStyle/>
                    <a:p>
                      <a:pPr algn="l">
                        <a:lnSpc>
                          <a:spcPct val="104000"/>
                        </a:lnSpc>
                        <a:buNone/>
                      </a:pPr>
                      <a:r>
                        <a:rPr sz="1650" b="0">
                          <a:solidFill>
                            <a:srgbClr val="17325C"/>
                          </a:solidFill>
                          <a:latin typeface="Arial"/>
                          <a:ea typeface="Arial"/>
                          <a:cs typeface="Arial"/>
                        </a:rPr>
                        <a:t>Nhà cung cấp/hãng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Thấp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Dữ liệu bán hàng và IMEI chính xác.</a:t>
                      </a:r>
                    </a:p>
                  </a:txBody>
                  <a:tcPr anchor="ctr">
                    <a:solidFill>
                      <a:srgbClr val="F1F6FC"/>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99C16721-6580-ED5B-EEA3-EDB826F37120}"/>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VIII. PHÂN TÍCH CÁC BÊN LIÊN QUAN</a:t>
            </a:r>
            <a:endParaRPr lang="en-US" sz="2550" b="1" dirty="0">
              <a:solidFill>
                <a:srgbClr val="062B8D"/>
              </a:solidFill>
              <a:latin typeface="Arial"/>
              <a:ea typeface="Arial"/>
              <a:cs typeface="Arial"/>
            </a:endParaRPr>
          </a:p>
          <a:p>
            <a:pPr>
              <a:lnSpc>
                <a:spcPct val="104000"/>
              </a:lnSpc>
              <a:defRPr sz="2550" b="1">
                <a:solidFill>
                  <a:srgbClr val="062B8D"/>
                </a:solidFill>
                <a:latin typeface="Arial"/>
                <a:ea typeface="Arial"/>
                <a:cs typeface="Arial"/>
              </a:defRPr>
            </a:pPr>
            <a:r>
              <a:rPr lang="en-US"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spTree>
    <p:extLst>
      <p:ext uri="{BB962C8B-B14F-4D97-AF65-F5344CB8AC3E}">
        <p14:creationId xmlns:p14="http://schemas.microsoft.com/office/powerpoint/2010/main" val="9852347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45</a:t>
            </a:r>
          </a:p>
        </p:txBody>
      </p:sp>
      <p:sp>
        <p:nvSpPr>
          <p:cNvPr id="60" name="Rectangle 59">
            <a:extLst>
              <a:ext uri="{FF2B5EF4-FFF2-40B4-BE49-F238E27FC236}">
                <a16:creationId xmlns:a16="http://schemas.microsoft.com/office/drawing/2014/main" id="{00E387D5-AD0D-489D-B892-3D1FB1634AE1}"/>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PHÂN TÍCH PARETO / WHY–WHY</a:t>
            </a:r>
          </a:p>
        </p:txBody>
      </p:sp>
    </p:spTree>
    <p:extLst>
      <p:ext uri="{BB962C8B-B14F-4D97-AF65-F5344CB8AC3E}">
        <p14:creationId xmlns:p14="http://schemas.microsoft.com/office/powerpoint/2010/main" val="985234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46</a:t>
            </a:r>
          </a:p>
        </p:txBody>
      </p:sp>
      <p:sp>
        <p:nvSpPr>
          <p:cNvPr id="60" name="Rectangle 59">
            <a:extLst>
              <a:ext uri="{FF2B5EF4-FFF2-40B4-BE49-F238E27FC236}">
                <a16:creationId xmlns:a16="http://schemas.microsoft.com/office/drawing/2014/main" id="{7174E477-877C-4D5F-B364-BB2E9AB37535}"/>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KẾT LUẬN</a:t>
            </a: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2524125">
                  <a:extLst>
                    <a:ext uri="{9D8B030D-6E8A-4147-A177-3AD203B41FA5}">
                      <a16:colId xmlns:a16="http://schemas.microsoft.com/office/drawing/2014/main" val="20000"/>
                    </a:ext>
                  </a:extLst>
                </a:gridCol>
                <a:gridCol w="8239125">
                  <a:extLst>
                    <a:ext uri="{9D8B030D-6E8A-4147-A177-3AD203B41FA5}">
                      <a16:colId xmlns:a16="http://schemas.microsoft.com/office/drawing/2014/main" val="20001"/>
                    </a:ext>
                  </a:extLst>
                </a:gridCol>
              </a:tblGrid>
              <a:tr h="4572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Kết luận</a:t>
                      </a:r>
                    </a:p>
                  </a:txBody>
                  <a:tcPr anchor="ctr">
                    <a:solidFill>
                      <a:srgbClr val="0B5ED7"/>
                    </a:solidFill>
                  </a:tcPr>
                </a:tc>
                <a:extLst>
                  <a:ext uri="{0D108BD9-81ED-4DB2-BD59-A6C34878D82A}">
                    <a16:rowId xmlns:a16="http://schemas.microsoft.com/office/drawing/2014/main" val="10000"/>
                  </a:ext>
                </a:extLst>
              </a:tr>
              <a:tr h="657225">
                <a:tc>
                  <a:txBody>
                    <a:bodyPr/>
                    <a:lstStyle/>
                    <a:p>
                      <a:pPr algn="l">
                        <a:lnSpc>
                          <a:spcPct val="104000"/>
                        </a:lnSpc>
                        <a:buNone/>
                      </a:pPr>
                      <a:r>
                        <a:rPr sz="1650" b="0">
                          <a:solidFill>
                            <a:srgbClr val="17325C"/>
                          </a:solidFill>
                          <a:latin typeface="Arial"/>
                          <a:ea typeface="Arial"/>
                          <a:cs typeface="Arial"/>
                        </a:rPr>
                        <a:t>Kiến trúc</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17 quy trình: 5 quản lý, 8 cốt lõi, 4 hỗ trợ.</a:t>
                      </a:r>
                    </a:p>
                  </a:txBody>
                  <a:tcPr anchor="ctr">
                    <a:solidFill>
                      <a:srgbClr val="FFFFFF"/>
                    </a:solidFill>
                  </a:tcPr>
                </a:tc>
                <a:extLst>
                  <a:ext uri="{0D108BD9-81ED-4DB2-BD59-A6C34878D82A}">
                    <a16:rowId xmlns:a16="http://schemas.microsoft.com/office/drawing/2014/main" val="10001"/>
                  </a:ext>
                </a:extLst>
              </a:tr>
              <a:tr h="752475">
                <a:tc>
                  <a:txBody>
                    <a:bodyPr/>
                    <a:lstStyle/>
                    <a:p>
                      <a:pPr algn="l">
                        <a:lnSpc>
                          <a:spcPct val="104000"/>
                        </a:lnSpc>
                        <a:buNone/>
                      </a:pPr>
                      <a:r>
                        <a:rPr sz="1650" b="0">
                          <a:solidFill>
                            <a:srgbClr val="17325C"/>
                          </a:solidFill>
                          <a:latin typeface="Arial"/>
                          <a:ea typeface="Arial"/>
                          <a:cs typeface="Arial"/>
                        </a:rPr>
                        <a:t>Mô hình hóa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Bốn quy trình được trình bày với tác nhân, khách hàng, kết quả và BPMN.</a:t>
                      </a:r>
                    </a:p>
                  </a:txBody>
                  <a:tcPr anchor="ctr">
                    <a:solidFill>
                      <a:srgbClr val="F1F6FC"/>
                    </a:solidFill>
                  </a:tcPr>
                </a:tc>
                <a:extLst>
                  <a:ext uri="{0D108BD9-81ED-4DB2-BD59-A6C34878D82A}">
                    <a16:rowId xmlns:a16="http://schemas.microsoft.com/office/drawing/2014/main" val="10002"/>
                  </a:ext>
                </a:extLst>
              </a:tr>
              <a:tr h="752475">
                <a:tc>
                  <a:txBody>
                    <a:bodyPr/>
                    <a:lstStyle/>
                    <a:p>
                      <a:pPr algn="l">
                        <a:lnSpc>
                          <a:spcPct val="104000"/>
                        </a:lnSpc>
                        <a:buNone/>
                      </a:pPr>
                      <a:r>
                        <a:rPr sz="1650" b="0">
                          <a:solidFill>
                            <a:srgbClr val="17325C"/>
                          </a:solidFill>
                          <a:latin typeface="Arial"/>
                          <a:ea typeface="Arial"/>
                          <a:cs typeface="Arial"/>
                        </a:rPr>
                        <a:t>Bán hàng trực tuyến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24 hoạt động được phân loại: 8 VA, 13 BVA, 3 NVA.</a:t>
                      </a:r>
                    </a:p>
                  </a:txBody>
                  <a:tcPr anchor="ctr">
                    <a:solidFill>
                      <a:srgbClr val="FFFFFF"/>
                    </a:solidFill>
                  </a:tcPr>
                </a:tc>
                <a:extLst>
                  <a:ext uri="{0D108BD9-81ED-4DB2-BD59-A6C34878D82A}">
                    <a16:rowId xmlns:a16="http://schemas.microsoft.com/office/drawing/2014/main" val="10003"/>
                  </a:ext>
                </a:extLst>
              </a:tr>
              <a:tr h="752475">
                <a:tc>
                  <a:txBody>
                    <a:bodyPr/>
                    <a:lstStyle/>
                    <a:p>
                      <a:pPr algn="l">
                        <a:lnSpc>
                          <a:spcPct val="104000"/>
                        </a:lnSpc>
                        <a:buNone/>
                      </a:pPr>
                      <a:r>
                        <a:rPr sz="1650" b="0">
                          <a:solidFill>
                            <a:srgbClr val="17325C"/>
                          </a:solidFill>
                          <a:latin typeface="Arial"/>
                          <a:ea typeface="Arial"/>
                          <a:cs typeface="Arial"/>
                        </a:rPr>
                        <a:t>Kết quả định lượng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Chu kỳ 46,26 giờ; CTE 3,47%; tỷ lệ hoàn tất khoảng 78,2% theo mô hình.</a:t>
                      </a:r>
                    </a:p>
                  </a:txBody>
                  <a:tcPr anchor="ctr">
                    <a:solidFill>
                      <a:srgbClr val="F1F6FC"/>
                    </a:solidFill>
                  </a:tcPr>
                </a:tc>
                <a:extLst>
                  <a:ext uri="{0D108BD9-81ED-4DB2-BD59-A6C34878D82A}">
                    <a16:rowId xmlns:a16="http://schemas.microsoft.com/office/drawing/2014/main" val="10004"/>
                  </a:ext>
                </a:extLst>
              </a:tr>
              <a:tr h="838200">
                <a:tc>
                  <a:txBody>
                    <a:bodyPr/>
                    <a:lstStyle/>
                    <a:p>
                      <a:pPr algn="l">
                        <a:lnSpc>
                          <a:spcPct val="104000"/>
                        </a:lnSpc>
                        <a:buNone/>
                      </a:pPr>
                      <a:r>
                        <a:rPr sz="1650" b="0">
                          <a:solidFill>
                            <a:srgbClr val="17325C"/>
                          </a:solidFill>
                          <a:latin typeface="Arial"/>
                          <a:ea typeface="Arial"/>
                          <a:cs typeface="Arial"/>
                        </a:rPr>
                        <a:t>Hướng cải tiến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tầng xác nhận đơn; giảm chờ; chuẩn hóa thông tin và hẹn giao; tăng tích hợp dữ liệu.</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35CC11C-9F3C-4801-A5B8-1EB217EB9A3A}"/>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4036D439-0E73-4392-A9D1-DB40D6A1D843}"/>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AED8D72-39BA-4813-BE9A-5896B83C2C16}"/>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3574399-47D7-4DFE-841F-7CBC1D185DA3}"/>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63A1E588-873C-49E4-A7B4-C071921A31F0}"/>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271C43D6-2330-42E7-B7B5-7400A7FA4873}"/>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CF8A0900-F5E1-4D59-A602-AB1E03354068}"/>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B75A24BE-7317-4DD6-81AF-C3D9A22C2390}"/>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9BE8A7C2-3867-4E64-B9BA-2969AABE627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BA8BF9B7-B58D-4A1E-B783-E2C5DE9BA49C}"/>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CB79444E-2FEF-457A-B9A8-5DB6F9015EAF}"/>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A5A54038-D365-4073-9E33-FE7D4FC106DE}"/>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A6349F5B-B8DE-4F73-AD5D-4EE4A5157851}"/>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C6384A8-3645-4409-97CD-214A1F577CDA}"/>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E67814AE-C778-44B3-874E-734AA82C69D7}"/>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EA007EB5-A087-4079-8D0A-CC1711AEF46A}"/>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CCF1187D-22E6-476B-8232-89860501D41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92207862-5C10-4EC6-ACDA-5F590A006E29}"/>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8462D05-CCAD-4D78-A04E-CD858C17C332}"/>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E3202425-D841-46E9-B743-2A5CD5469D55}"/>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3C480BB1-7A5A-4EA9-9FFA-AF398F1B3B58}"/>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2BD954FB-597A-47E3-9084-321EF22D1C23}"/>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EBDB9D8-6335-4462-885E-260CB94BAD31}"/>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F098F66B-8E04-4B20-91D8-694E3F9E7C80}"/>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B266D2B-4EA7-4140-85DD-4E5DDBF47C5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75575F64-6AFF-42B2-8BCA-F255C6E350CD}"/>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A3D82C0E-E6F8-4BBE-8DD1-D59A3A499870}"/>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3BBAEA0-C484-4F3B-8586-B35BC61323D7}"/>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04998151-1E82-4B41-92E2-359CDEB20B7A}"/>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CF18467F-5A25-42FF-BAD4-22293F1A5D54}"/>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0C3FB8E-36B3-4877-908E-E248DEF9A22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F1BE9BD3-9958-4803-9DCC-1F21F76C95E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57A7F0A8-5AB7-4F59-B55D-3AA405035D87}"/>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176F6BA3-9A04-4715-B065-EDD40C5AC44C}"/>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FED2EFED-A076-45F8-9EEA-A0E7F947BC7B}"/>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3EFAFA65-725E-44A6-BAAA-0A23F747953D}"/>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8C50E4F-F5CE-4418-83BC-758110F9E70E}"/>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0DB5F52-9B78-4BD4-8279-E5199A3350EE}"/>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8C251EE7-B0CA-4D19-BA4D-4CBCFCEDF4FA}"/>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7307CBA-4C5A-4599-8903-AF15BEA22CC5}"/>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953831D1-ADEE-4D37-8904-386C0634E1FA}"/>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0AF42F2-2DC5-4514-AAF3-C433C4DAED57}"/>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5B28F3F4-F236-4F2C-A089-18E8CD36A13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7FFEA110-EC4E-458B-99D9-B3538DC373E9}"/>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D311505-5119-4998-A9F8-67EE39C20A1A}"/>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C6B9823A-FA75-46F5-8859-0C42C1D8DE8E}"/>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FA847331-BE75-472F-9F64-51484B74675C}"/>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8DEBE1CA-A31B-4C3D-BBD6-73DFF0D3C96E}"/>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8F8336FF-426C-4552-B77C-AC482F27F556}"/>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47</a:t>
            </a:r>
          </a:p>
        </p:txBody>
      </p:sp>
      <p:sp>
        <p:nvSpPr>
          <p:cNvPr id="60" name="Rectangle 59">
            <a:extLst>
              <a:ext uri="{FF2B5EF4-FFF2-40B4-BE49-F238E27FC236}">
                <a16:creationId xmlns:a16="http://schemas.microsoft.com/office/drawing/2014/main" id="{8DB12A28-7354-4532-843E-01DDEA84E786}"/>
              </a:ext>
            </a:extLst>
          </p:cNvPr>
          <p:cNvSpPr>
            <a:spLocks noGrp="1"/>
          </p:cNvSpPr>
          <p:nvPr/>
        </p:nvSpPr>
        <p:spPr>
          <a:xfrm>
            <a:off x="1905000" y="2381250"/>
            <a:ext cx="8382000" cy="762000"/>
          </a:xfrm>
          <a:prstGeom prst="rect">
            <a:avLst/>
          </a:prstGeom>
          <a:noFill/>
          <a:ln w="0">
            <a:noFill/>
            <a:prstDash val="solid"/>
          </a:ln>
        </p:spPr>
        <p:txBody>
          <a:bodyPr wrap="square" lIns="95250" tIns="66675" rIns="95250" bIns="66675" anchor="ctr">
            <a:noAutofit/>
          </a:bodyPr>
          <a:lstStyle/>
          <a:p>
            <a:pPr algn="ctr">
              <a:lnSpc>
                <a:spcPct val="104000"/>
              </a:lnSpc>
              <a:buNone/>
              <a:defRPr sz="3300" b="1">
                <a:solidFill>
                  <a:srgbClr val="062B8D"/>
                </a:solidFill>
                <a:latin typeface="Arial"/>
                <a:ea typeface="Arial"/>
                <a:cs typeface="Arial"/>
              </a:defRPr>
            </a:pPr>
            <a:r>
              <a:rPr sz="3300" b="1">
                <a:solidFill>
                  <a:srgbClr val="062B8D"/>
                </a:solidFill>
                <a:latin typeface="Arial"/>
                <a:ea typeface="Arial"/>
                <a:cs typeface="Arial"/>
              </a:rPr>
              <a:t>CẢM ƠN</a:t>
            </a:r>
          </a:p>
        </p:txBody>
      </p:sp>
      <p:sp>
        <p:nvSpPr>
          <p:cNvPr id="61" name="Rectangle 60">
            <a:extLst>
              <a:ext uri="{FF2B5EF4-FFF2-40B4-BE49-F238E27FC236}">
                <a16:creationId xmlns:a16="http://schemas.microsoft.com/office/drawing/2014/main" id="{090BE7C8-79F9-4F7F-AB63-0BCFF6D7A861}"/>
              </a:ext>
            </a:extLst>
          </p:cNvPr>
          <p:cNvSpPr>
            <a:spLocks noGrp="1"/>
          </p:cNvSpPr>
          <p:nvPr/>
        </p:nvSpPr>
        <p:spPr>
          <a:xfrm>
            <a:off x="1238250" y="3162300"/>
            <a:ext cx="9715500" cy="552450"/>
          </a:xfrm>
          <a:prstGeom prst="rect">
            <a:avLst/>
          </a:prstGeom>
          <a:noFill/>
          <a:ln w="0">
            <a:noFill/>
            <a:prstDash val="solid"/>
          </a:ln>
        </p:spPr>
        <p:txBody>
          <a:bodyPr wrap="square" lIns="95250" tIns="66675" rIns="95250" bIns="66675" anchor="t">
            <a:noAutofit/>
          </a:bodyPr>
          <a:lstStyle/>
          <a:p>
            <a:pPr algn="ctr">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NHÓM 8 • HỆ THỐNG QUẢN TRỊ QUY TRÌNH NGHIỆP VỤ</a:t>
            </a:r>
          </a:p>
        </p:txBody>
      </p:sp>
      <p:sp>
        <p:nvSpPr>
          <p:cNvPr id="62" name="Rectangle: Rounded Corners 61">
            <a:extLst>
              <a:ext uri="{FF2B5EF4-FFF2-40B4-BE49-F238E27FC236}">
                <a16:creationId xmlns:a16="http://schemas.microsoft.com/office/drawing/2014/main" id="{DB8C3267-CAEE-4241-A1E9-57470B0CBEE9}"/>
              </a:ext>
            </a:extLst>
          </p:cNvPr>
          <p:cNvSpPr>
            <a:spLocks noGrp="1"/>
          </p:cNvSpPr>
          <p:nvPr/>
        </p:nvSpPr>
        <p:spPr>
          <a:xfrm>
            <a:off x="3905250" y="4286250"/>
            <a:ext cx="4381500" cy="914400"/>
          </a:xfrm>
          <a:prstGeom prst="roundRect">
            <a:avLst>
              <a:gd name="adj" fmla="val 15625"/>
            </a:avLst>
          </a:prstGeom>
          <a:solidFill>
            <a:srgbClr val="009B91">
              <a:alpha val="6275"/>
            </a:srgbClr>
          </a:solidFill>
          <a:ln w="10478">
            <a:solidFill>
              <a:srgbClr val="009B91">
                <a:alpha val="33333"/>
              </a:srgbClr>
            </a:solidFill>
            <a:prstDash val="solid"/>
          </a:ln>
        </p:spPr>
        <p:txBody>
          <a:bodyPr wrap="square" lIns="95250" tIns="66675" rIns="95250" bIns="66675" anchor="t">
            <a:noAutofit/>
          </a:bodyPr>
          <a:lstStyle/>
          <a:p>
            <a:pPr algn="ctr">
              <a:lnSpc>
                <a:spcPct val="200000"/>
              </a:lnSpc>
              <a:buNone/>
              <a:defRPr sz="1650" b="0">
                <a:solidFill>
                  <a:srgbClr val="17325C"/>
                </a:solidFill>
                <a:latin typeface="Arial"/>
                <a:ea typeface="Arial"/>
                <a:cs typeface="Arial"/>
              </a:defRPr>
            </a:pPr>
            <a:r>
              <a:rPr sz="1650" b="0">
                <a:solidFill>
                  <a:srgbClr val="17325C"/>
                </a:solidFill>
                <a:latin typeface="Arial"/>
                <a:ea typeface="Arial"/>
                <a:cs typeface="Arial"/>
              </a:rPr>
              <a:t>Q &amp; A</a:t>
            </a:r>
          </a:p>
        </p:txBody>
      </p:sp>
    </p:spTree>
    <p:extLst>
      <p:ext uri="{BB962C8B-B14F-4D97-AF65-F5344CB8AC3E}">
        <p14:creationId xmlns:p14="http://schemas.microsoft.com/office/powerpoint/2010/main" val="523872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4415</Words>
  <Application>Microsoft Office PowerPoint</Application>
  <DocSecurity>0</DocSecurity>
  <PresentationFormat>Widescreen</PresentationFormat>
  <Paragraphs>751</Paragraphs>
  <Slides>47</Slides>
  <Notes>47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47</vt:i4>
      </vt:variant>
    </vt:vector>
  </HeadingPairs>
  <TitlesOfParts>
    <vt:vector size="4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Lê Dương Nhựt Minh</dc:creator>
  <cp:lastModifiedBy>Lê Dương Nhựt Minh</cp:lastModifiedBy>
  <cp:revision>75</cp:revision>
  <dcterms:created xsi:type="dcterms:W3CDTF">2026-09-05T07:47:20Z</dcterms:created>
  <dcterms:modified xsi:type="dcterms:W3CDTF">2026-09-05T16:27:08Z</dcterms:modified>
</cp:coreProperties>
</file>