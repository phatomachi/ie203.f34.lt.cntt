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12" r:id="rId17"/>
    <p:sldId id="272" r:id="rId18"/>
    <p:sldId id="273" r:id="rId19"/>
    <p:sldId id="313" r:id="rId20"/>
    <p:sldId id="275" r:id="rId21"/>
    <p:sldId id="276" r:id="rId22"/>
    <p:sldId id="277" r:id="rId23"/>
    <p:sldId id="278" r:id="rId24"/>
    <p:sldId id="279" r:id="rId25"/>
    <p:sldId id="280" r:id="rId26"/>
    <p:sldId id="314"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055" autoAdjust="0"/>
  </p:normalViewPr>
  <p:slideViewPr>
    <p:cSldViewPr snapToGrid="0" snapToObjects="1">
      <p:cViewPr>
        <p:scale>
          <a:sx n="75" d="100"/>
          <a:sy n="75" d="100"/>
        </p:scale>
        <p:origin x="2112"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Kính</a:t>
            </a:r>
            <a:r>
              <a:rPr lang="en-US" dirty="0"/>
              <a:t> </a:t>
            </a:r>
            <a:r>
              <a:rPr lang="en-US" dirty="0" err="1"/>
              <a:t>chào</a:t>
            </a:r>
            <a:r>
              <a:rPr lang="en-US" dirty="0"/>
              <a:t> </a:t>
            </a:r>
            <a:r>
              <a:rPr lang="en-US" dirty="0" err="1"/>
              <a:t>thầy</a:t>
            </a:r>
            <a:r>
              <a:rPr lang="en-US" dirty="0"/>
              <a:t> </a:t>
            </a:r>
            <a:r>
              <a:rPr lang="en-US" dirty="0" err="1"/>
              <a:t>và</a:t>
            </a:r>
            <a:r>
              <a:rPr lang="en-US" dirty="0"/>
              <a:t> </a:t>
            </a:r>
            <a:r>
              <a:rPr lang="en-US" dirty="0" err="1"/>
              <a:t>các</a:t>
            </a:r>
            <a:r>
              <a:rPr lang="en-US" dirty="0"/>
              <a:t> </a:t>
            </a:r>
            <a:r>
              <a:rPr lang="en-US" dirty="0" err="1"/>
              <a:t>bạn</a:t>
            </a:r>
            <a:r>
              <a:rPr lang="en-US" dirty="0"/>
              <a:t>. </a:t>
            </a:r>
            <a:r>
              <a:rPr lang="en-US" dirty="0" err="1"/>
              <a:t>Nhóm</a:t>
            </a:r>
            <a:r>
              <a:rPr lang="en-US" dirty="0"/>
              <a:t> 8 </a:t>
            </a:r>
            <a:r>
              <a:rPr lang="en-US" dirty="0" err="1"/>
              <a:t>xin</a:t>
            </a:r>
            <a:r>
              <a:rPr lang="en-US" dirty="0"/>
              <a:t> </a:t>
            </a:r>
            <a:r>
              <a:rPr lang="en-US" dirty="0" err="1"/>
              <a:t>trình</a:t>
            </a:r>
            <a:r>
              <a:rPr lang="en-US" dirty="0"/>
              <a:t> </a:t>
            </a:r>
            <a:r>
              <a:rPr lang="en-US" dirty="0" err="1"/>
              <a:t>bày</a:t>
            </a:r>
            <a:r>
              <a:rPr lang="en-US" dirty="0"/>
              <a:t> </a:t>
            </a:r>
            <a:r>
              <a:rPr lang="en-US" dirty="0" err="1"/>
              <a:t>đề</a:t>
            </a:r>
            <a:r>
              <a:rPr lang="en-US" dirty="0"/>
              <a:t> </a:t>
            </a:r>
            <a:r>
              <a:rPr lang="en-US" dirty="0" err="1"/>
              <a:t>tài</a:t>
            </a:r>
            <a:r>
              <a:rPr lang="en-US" dirty="0"/>
              <a:t> “</a:t>
            </a:r>
            <a:r>
              <a:rPr lang="en-US" dirty="0" err="1"/>
              <a:t>Tìm</a:t>
            </a:r>
            <a:r>
              <a:rPr lang="en-US" dirty="0"/>
              <a:t> </a:t>
            </a:r>
            <a:r>
              <a:rPr lang="en-US" dirty="0" err="1"/>
              <a:t>hiểu</a:t>
            </a:r>
            <a:r>
              <a:rPr lang="en-US" dirty="0"/>
              <a:t> </a:t>
            </a:r>
            <a:r>
              <a:rPr lang="en-US" dirty="0" err="1"/>
              <a:t>hệ</a:t>
            </a:r>
            <a:r>
              <a:rPr lang="en-US" dirty="0"/>
              <a:t> </a:t>
            </a:r>
            <a:r>
              <a:rPr lang="en-US" dirty="0" err="1"/>
              <a:t>thống</a:t>
            </a:r>
            <a:r>
              <a:rPr lang="en-US" dirty="0"/>
              <a:t> </a:t>
            </a:r>
            <a:r>
              <a:rPr lang="en-US" dirty="0" err="1"/>
              <a:t>quy</a:t>
            </a:r>
            <a:r>
              <a:rPr lang="en-US" dirty="0"/>
              <a:t> </a:t>
            </a:r>
            <a:r>
              <a:rPr lang="en-US" dirty="0" err="1"/>
              <a:t>trình</a:t>
            </a:r>
            <a:r>
              <a:rPr lang="en-US" dirty="0"/>
              <a:t> </a:t>
            </a:r>
            <a:r>
              <a:rPr lang="en-US" dirty="0" err="1"/>
              <a:t>nghiệp</a:t>
            </a:r>
            <a:r>
              <a:rPr lang="en-US" dirty="0"/>
              <a:t> </a:t>
            </a:r>
            <a:r>
              <a:rPr lang="en-US" dirty="0" err="1"/>
              <a:t>vụ</a:t>
            </a:r>
            <a:r>
              <a:rPr lang="en-US" dirty="0"/>
              <a:t> </a:t>
            </a:r>
            <a:r>
              <a:rPr lang="en-US" dirty="0" err="1"/>
              <a:t>tại</a:t>
            </a:r>
            <a:r>
              <a:rPr lang="en-US" dirty="0"/>
              <a:t> Công ty </a:t>
            </a:r>
            <a:r>
              <a:rPr lang="en-US" dirty="0" err="1"/>
              <a:t>Cổ</a:t>
            </a:r>
            <a:r>
              <a:rPr lang="en-US" dirty="0"/>
              <a:t> </a:t>
            </a:r>
            <a:r>
              <a:rPr lang="en-US" dirty="0" err="1"/>
              <a:t>phần</a:t>
            </a:r>
            <a:r>
              <a:rPr lang="en-US" dirty="0"/>
              <a:t> Bán </a:t>
            </a:r>
            <a:r>
              <a:rPr lang="en-US" dirty="0" err="1"/>
              <a:t>lẻ</a:t>
            </a:r>
            <a:r>
              <a:rPr lang="en-US" dirty="0"/>
              <a:t> </a:t>
            </a:r>
            <a:r>
              <a:rPr lang="en-US" dirty="0" err="1"/>
              <a:t>Kỹ</a:t>
            </a:r>
            <a:r>
              <a:rPr lang="en-US" dirty="0"/>
              <a:t> </a:t>
            </a:r>
            <a:r>
              <a:rPr lang="en-US" dirty="0" err="1"/>
              <a:t>thuật</a:t>
            </a:r>
            <a:r>
              <a:rPr lang="en-US" dirty="0"/>
              <a:t> </a:t>
            </a:r>
            <a:r>
              <a:rPr lang="en-US" dirty="0" err="1"/>
              <a:t>số</a:t>
            </a:r>
            <a:r>
              <a:rPr lang="en-US" dirty="0"/>
              <a:t> FPT, hay </a:t>
            </a:r>
            <a:r>
              <a:rPr lang="en-US" dirty="0" err="1"/>
              <a:t>còn</a:t>
            </a:r>
            <a:r>
              <a:rPr lang="en-US" dirty="0"/>
              <a:t> </a:t>
            </a:r>
            <a:r>
              <a:rPr lang="en-US" dirty="0" err="1"/>
              <a:t>gọi</a:t>
            </a:r>
            <a:r>
              <a:rPr lang="en-US" dirty="0"/>
              <a:t> </a:t>
            </a:r>
            <a:r>
              <a:rPr lang="en-US" dirty="0" err="1"/>
              <a:t>là</a:t>
            </a:r>
            <a:r>
              <a:rPr lang="en-US" dirty="0"/>
              <a:t> FPT Shop”.</a:t>
            </a:r>
          </a:p>
          <a:p>
            <a:endParaRPr lang="en-US" dirty="0"/>
          </a:p>
          <a:p>
            <a:r>
              <a:rPr lang="en-US" dirty="0"/>
              <a:t>Trong </a:t>
            </a:r>
            <a:r>
              <a:rPr lang="en-US" dirty="0" err="1"/>
              <a:t>đề</a:t>
            </a:r>
            <a:r>
              <a:rPr lang="en-US" dirty="0"/>
              <a:t> </a:t>
            </a:r>
            <a:r>
              <a:rPr lang="en-US" dirty="0" err="1"/>
              <a:t>tài</a:t>
            </a:r>
            <a:r>
              <a:rPr lang="en-US" dirty="0"/>
              <a:t> </a:t>
            </a:r>
            <a:r>
              <a:rPr lang="en-US" dirty="0" err="1"/>
              <a:t>này</a:t>
            </a:r>
            <a:r>
              <a:rPr lang="en-US" dirty="0"/>
              <a:t>, </a:t>
            </a:r>
            <a:r>
              <a:rPr lang="en-US" dirty="0" err="1"/>
              <a:t>nhóm</a:t>
            </a:r>
            <a:r>
              <a:rPr lang="en-US" dirty="0"/>
              <a:t> </a:t>
            </a:r>
            <a:r>
              <a:rPr lang="en-US" dirty="0" err="1"/>
              <a:t>tập</a:t>
            </a:r>
            <a:r>
              <a:rPr lang="en-US" dirty="0"/>
              <a:t> </a:t>
            </a:r>
            <a:r>
              <a:rPr lang="en-US" dirty="0" err="1"/>
              <a:t>trung</a:t>
            </a:r>
            <a:r>
              <a:rPr lang="en-US" dirty="0"/>
              <a:t> </a:t>
            </a:r>
            <a:r>
              <a:rPr lang="en-US" dirty="0" err="1"/>
              <a:t>tìm</a:t>
            </a:r>
            <a:r>
              <a:rPr lang="en-US" dirty="0"/>
              <a:t> </a:t>
            </a:r>
            <a:r>
              <a:rPr lang="en-US" dirty="0" err="1"/>
              <a:t>hiểu</a:t>
            </a:r>
            <a:r>
              <a:rPr lang="en-US" dirty="0"/>
              <a:t> </a:t>
            </a:r>
            <a:r>
              <a:rPr lang="en-US" dirty="0" err="1"/>
              <a:t>cách</a:t>
            </a:r>
            <a:r>
              <a:rPr lang="en-US" dirty="0"/>
              <a:t> FPT Shop </a:t>
            </a:r>
            <a:r>
              <a:rPr lang="en-US" dirty="0" err="1"/>
              <a:t>tổ</a:t>
            </a:r>
            <a:r>
              <a:rPr lang="en-US" dirty="0"/>
              <a:t> </a:t>
            </a:r>
            <a:r>
              <a:rPr lang="en-US" dirty="0" err="1"/>
              <a:t>chức</a:t>
            </a:r>
            <a:r>
              <a:rPr lang="en-US" dirty="0"/>
              <a:t> </a:t>
            </a:r>
            <a:r>
              <a:rPr lang="en-US" dirty="0" err="1"/>
              <a:t>hệ</a:t>
            </a:r>
            <a:r>
              <a:rPr lang="en-US" dirty="0"/>
              <a:t> </a:t>
            </a:r>
            <a:r>
              <a:rPr lang="en-US" dirty="0" err="1"/>
              <a:t>thống</a:t>
            </a:r>
            <a:r>
              <a:rPr lang="en-US" dirty="0"/>
              <a:t> </a:t>
            </a:r>
            <a:r>
              <a:rPr lang="en-US" dirty="0" err="1"/>
              <a:t>quy</a:t>
            </a:r>
            <a:r>
              <a:rPr lang="en-US" dirty="0"/>
              <a:t> </a:t>
            </a:r>
            <a:r>
              <a:rPr lang="en-US" dirty="0" err="1"/>
              <a:t>trình</a:t>
            </a:r>
            <a:r>
              <a:rPr lang="en-US" dirty="0"/>
              <a:t> </a:t>
            </a:r>
            <a:r>
              <a:rPr lang="en-US" dirty="0" err="1"/>
              <a:t>nghiệp</a:t>
            </a:r>
            <a:r>
              <a:rPr lang="en-US" dirty="0"/>
              <a:t> </a:t>
            </a:r>
            <a:r>
              <a:rPr lang="en-US" dirty="0" err="1"/>
              <a:t>vụ</a:t>
            </a:r>
            <a:r>
              <a:rPr lang="en-US" dirty="0"/>
              <a:t>, </a:t>
            </a:r>
            <a:r>
              <a:rPr lang="en-US" dirty="0" err="1"/>
              <a:t>từ</a:t>
            </a:r>
            <a:r>
              <a:rPr lang="en-US" dirty="0"/>
              <a:t> </a:t>
            </a:r>
            <a:r>
              <a:rPr lang="en-US" dirty="0" err="1"/>
              <a:t>các</a:t>
            </a:r>
            <a:r>
              <a:rPr lang="en-US" dirty="0"/>
              <a:t> </a:t>
            </a:r>
            <a:r>
              <a:rPr lang="en-US" dirty="0" err="1"/>
              <a:t>quy</a:t>
            </a:r>
            <a:r>
              <a:rPr lang="en-US" dirty="0"/>
              <a:t> </a:t>
            </a:r>
            <a:r>
              <a:rPr lang="en-US" dirty="0" err="1"/>
              <a:t>trình</a:t>
            </a:r>
            <a:r>
              <a:rPr lang="en-US" dirty="0"/>
              <a:t> </a:t>
            </a:r>
            <a:r>
              <a:rPr lang="en-US" dirty="0" err="1"/>
              <a:t>quản</a:t>
            </a:r>
            <a:r>
              <a:rPr lang="en-US" dirty="0"/>
              <a:t> </a:t>
            </a:r>
            <a:r>
              <a:rPr lang="en-US" dirty="0" err="1"/>
              <a:t>lý</a:t>
            </a:r>
            <a:r>
              <a:rPr lang="en-US" dirty="0"/>
              <a:t>, </a:t>
            </a:r>
            <a:r>
              <a:rPr lang="en-US" dirty="0" err="1"/>
              <a:t>các</a:t>
            </a:r>
            <a:r>
              <a:rPr lang="en-US" dirty="0"/>
              <a:t> </a:t>
            </a:r>
            <a:r>
              <a:rPr lang="en-US" dirty="0" err="1"/>
              <a:t>quy</a:t>
            </a:r>
            <a:r>
              <a:rPr lang="en-US" dirty="0"/>
              <a:t> </a:t>
            </a:r>
            <a:r>
              <a:rPr lang="en-US" dirty="0" err="1"/>
              <a:t>trình</a:t>
            </a:r>
            <a:r>
              <a:rPr lang="en-US" dirty="0"/>
              <a:t> </a:t>
            </a:r>
            <a:r>
              <a:rPr lang="en-US" dirty="0" err="1"/>
              <a:t>trực</a:t>
            </a:r>
            <a:r>
              <a:rPr lang="en-US" dirty="0"/>
              <a:t> </a:t>
            </a:r>
            <a:r>
              <a:rPr lang="en-US" dirty="0" err="1"/>
              <a:t>tiếp</a:t>
            </a:r>
            <a:r>
              <a:rPr lang="en-US" dirty="0"/>
              <a:t> </a:t>
            </a:r>
            <a:r>
              <a:rPr lang="en-US" dirty="0" err="1"/>
              <a:t>tạo</a:t>
            </a:r>
            <a:r>
              <a:rPr lang="en-US" dirty="0"/>
              <a:t> </a:t>
            </a:r>
            <a:r>
              <a:rPr lang="en-US" dirty="0" err="1"/>
              <a:t>ra</a:t>
            </a:r>
            <a:r>
              <a:rPr lang="en-US" dirty="0"/>
              <a:t> </a:t>
            </a:r>
            <a:r>
              <a:rPr lang="en-US" dirty="0" err="1"/>
              <a:t>giá</a:t>
            </a:r>
            <a:r>
              <a:rPr lang="en-US" dirty="0"/>
              <a:t> </a:t>
            </a:r>
            <a:r>
              <a:rPr lang="en-US" dirty="0" err="1"/>
              <a:t>trị</a:t>
            </a:r>
            <a:r>
              <a:rPr lang="en-US" dirty="0"/>
              <a:t> </a:t>
            </a:r>
            <a:r>
              <a:rPr lang="en-US" dirty="0" err="1"/>
              <a:t>cho</a:t>
            </a:r>
            <a:r>
              <a:rPr lang="en-US" dirty="0"/>
              <a:t> </a:t>
            </a:r>
            <a:r>
              <a:rPr lang="en-US" dirty="0" err="1"/>
              <a:t>khách</a:t>
            </a:r>
            <a:r>
              <a:rPr lang="en-US" dirty="0"/>
              <a:t> </a:t>
            </a:r>
            <a:r>
              <a:rPr lang="en-US" dirty="0" err="1"/>
              <a:t>hàng</a:t>
            </a:r>
            <a:r>
              <a:rPr lang="en-US" dirty="0"/>
              <a:t>, </a:t>
            </a:r>
            <a:r>
              <a:rPr lang="en-US" dirty="0" err="1"/>
              <a:t>cho</a:t>
            </a:r>
            <a:r>
              <a:rPr lang="en-US" dirty="0"/>
              <a:t> </a:t>
            </a:r>
            <a:r>
              <a:rPr lang="en-US" dirty="0" err="1"/>
              <a:t>đến</a:t>
            </a:r>
            <a:r>
              <a:rPr lang="en-US" dirty="0"/>
              <a:t> </a:t>
            </a:r>
            <a:r>
              <a:rPr lang="en-US" dirty="0" err="1"/>
              <a:t>các</a:t>
            </a:r>
            <a:r>
              <a:rPr lang="en-US" dirty="0"/>
              <a:t> </a:t>
            </a:r>
            <a:r>
              <a:rPr lang="en-US" dirty="0" err="1"/>
              <a:t>quy</a:t>
            </a:r>
            <a:r>
              <a:rPr lang="en-US" dirty="0"/>
              <a:t> </a:t>
            </a:r>
            <a:r>
              <a:rPr lang="en-US" dirty="0" err="1"/>
              <a:t>trình</a:t>
            </a:r>
            <a:r>
              <a:rPr lang="en-US" dirty="0"/>
              <a:t> </a:t>
            </a:r>
            <a:r>
              <a:rPr lang="en-US" dirty="0" err="1"/>
              <a:t>hỗ</a:t>
            </a:r>
            <a:r>
              <a:rPr lang="en-US" dirty="0"/>
              <a:t> </a:t>
            </a:r>
            <a:r>
              <a:rPr lang="en-US" dirty="0" err="1"/>
              <a:t>trợ</a:t>
            </a:r>
            <a:r>
              <a:rPr lang="en-US" dirty="0"/>
              <a:t>.</a:t>
            </a:r>
          </a:p>
          <a:p>
            <a:endParaRPr lang="en-US" dirty="0"/>
          </a:p>
          <a:p>
            <a:r>
              <a:rPr lang="en-US" dirty="0"/>
              <a:t>Sau </a:t>
            </a:r>
            <a:r>
              <a:rPr lang="en-US" dirty="0" err="1"/>
              <a:t>đó</a:t>
            </a:r>
            <a:r>
              <a:rPr lang="en-US" dirty="0"/>
              <a:t>, </a:t>
            </a:r>
            <a:r>
              <a:rPr lang="en-US" dirty="0" err="1"/>
              <a:t>nhóm</a:t>
            </a:r>
            <a:r>
              <a:rPr lang="en-US" dirty="0"/>
              <a:t> </a:t>
            </a:r>
            <a:r>
              <a:rPr lang="en-US" dirty="0" err="1"/>
              <a:t>lựa</a:t>
            </a:r>
            <a:r>
              <a:rPr lang="en-US" dirty="0"/>
              <a:t> </a:t>
            </a:r>
            <a:r>
              <a:rPr lang="en-US" dirty="0" err="1"/>
              <a:t>chọn</a:t>
            </a:r>
            <a:r>
              <a:rPr lang="en-US" dirty="0"/>
              <a:t> </a:t>
            </a:r>
            <a:r>
              <a:rPr lang="en-US" dirty="0" err="1"/>
              <a:t>một</a:t>
            </a:r>
            <a:r>
              <a:rPr lang="en-US" dirty="0"/>
              <a:t> </a:t>
            </a:r>
            <a:r>
              <a:rPr lang="en-US" dirty="0" err="1"/>
              <a:t>số</a:t>
            </a:r>
            <a:r>
              <a:rPr lang="en-US" dirty="0"/>
              <a:t> </a:t>
            </a:r>
            <a:r>
              <a:rPr lang="en-US" dirty="0" err="1"/>
              <a:t>quy</a:t>
            </a:r>
            <a:r>
              <a:rPr lang="en-US" dirty="0"/>
              <a:t> </a:t>
            </a:r>
            <a:r>
              <a:rPr lang="en-US" dirty="0" err="1"/>
              <a:t>trình</a:t>
            </a:r>
            <a:r>
              <a:rPr lang="en-US" dirty="0"/>
              <a:t> </a:t>
            </a:r>
            <a:r>
              <a:rPr lang="en-US" dirty="0" err="1"/>
              <a:t>tiêu</a:t>
            </a:r>
            <a:r>
              <a:rPr lang="en-US" dirty="0"/>
              <a:t> </a:t>
            </a:r>
            <a:r>
              <a:rPr lang="en-US" dirty="0" err="1"/>
              <a:t>biểu</a:t>
            </a:r>
            <a:r>
              <a:rPr lang="en-US" dirty="0"/>
              <a:t> </a:t>
            </a:r>
            <a:r>
              <a:rPr lang="en-US" dirty="0" err="1"/>
              <a:t>để</a:t>
            </a:r>
            <a:r>
              <a:rPr lang="en-US" dirty="0"/>
              <a:t> </a:t>
            </a:r>
            <a:r>
              <a:rPr lang="en-US" dirty="0" err="1"/>
              <a:t>mô</a:t>
            </a:r>
            <a:r>
              <a:rPr lang="en-US" dirty="0"/>
              <a:t> </a:t>
            </a:r>
            <a:r>
              <a:rPr lang="en-US" dirty="0" err="1"/>
              <a:t>hình</a:t>
            </a:r>
            <a:r>
              <a:rPr lang="en-US" dirty="0"/>
              <a:t> </a:t>
            </a:r>
            <a:r>
              <a:rPr lang="en-US" dirty="0" err="1"/>
              <a:t>hóa</a:t>
            </a:r>
            <a:r>
              <a:rPr lang="en-US" dirty="0"/>
              <a:t> </a:t>
            </a:r>
            <a:r>
              <a:rPr lang="en-US" dirty="0" err="1"/>
              <a:t>bằng</a:t>
            </a:r>
            <a:r>
              <a:rPr lang="en-US" dirty="0"/>
              <a:t> BPMN </a:t>
            </a:r>
            <a:r>
              <a:rPr lang="en-US" dirty="0" err="1"/>
              <a:t>và</a:t>
            </a:r>
            <a:r>
              <a:rPr lang="en-US" dirty="0"/>
              <a:t> </a:t>
            </a:r>
            <a:r>
              <a:rPr lang="en-US" dirty="0" err="1"/>
              <a:t>tiến</a:t>
            </a:r>
            <a:r>
              <a:rPr lang="en-US" dirty="0"/>
              <a:t> </a:t>
            </a:r>
            <a:r>
              <a:rPr lang="en-US" dirty="0" err="1"/>
              <a:t>hành</a:t>
            </a:r>
            <a:r>
              <a:rPr lang="en-US" dirty="0"/>
              <a:t> </a:t>
            </a:r>
            <a:r>
              <a:rPr lang="en-US" dirty="0" err="1"/>
              <a:t>phân</a:t>
            </a:r>
            <a:r>
              <a:rPr lang="en-US" dirty="0"/>
              <a:t> </a:t>
            </a:r>
            <a:r>
              <a:rPr lang="en-US" dirty="0" err="1"/>
              <a:t>tích</a:t>
            </a:r>
            <a:r>
              <a:rPr lang="en-US" dirty="0"/>
              <a:t> </a:t>
            </a:r>
            <a:r>
              <a:rPr lang="en-US" dirty="0" err="1"/>
              <a:t>nhằm</a:t>
            </a:r>
            <a:r>
              <a:rPr lang="en-US" dirty="0"/>
              <a:t> </a:t>
            </a:r>
            <a:r>
              <a:rPr lang="en-US" dirty="0" err="1"/>
              <a:t>tìm</a:t>
            </a:r>
            <a:r>
              <a:rPr lang="en-US" dirty="0"/>
              <a:t> </a:t>
            </a:r>
            <a:r>
              <a:rPr lang="en-US" dirty="0" err="1"/>
              <a:t>ra</a:t>
            </a:r>
            <a:r>
              <a:rPr lang="en-US" dirty="0"/>
              <a:t> </a:t>
            </a:r>
            <a:r>
              <a:rPr lang="en-US" dirty="0" err="1"/>
              <a:t>những</a:t>
            </a:r>
            <a:r>
              <a:rPr lang="en-US" dirty="0"/>
              <a:t> </a:t>
            </a:r>
            <a:r>
              <a:rPr lang="en-US" dirty="0" err="1"/>
              <a:t>điểm</a:t>
            </a:r>
            <a:r>
              <a:rPr lang="en-US" dirty="0"/>
              <a:t> </a:t>
            </a:r>
            <a:r>
              <a:rPr lang="en-US" dirty="0" err="1"/>
              <a:t>có</a:t>
            </a:r>
            <a:r>
              <a:rPr lang="en-US" dirty="0"/>
              <a:t> </a:t>
            </a:r>
            <a:r>
              <a:rPr lang="en-US" dirty="0" err="1"/>
              <a:t>thể</a:t>
            </a:r>
            <a:r>
              <a:rPr lang="en-US" dirty="0"/>
              <a:t> </a:t>
            </a:r>
            <a:r>
              <a:rPr lang="en-US" dirty="0" err="1"/>
              <a:t>cải</a:t>
            </a:r>
            <a:r>
              <a:rPr lang="en-US" dirty="0"/>
              <a:t> </a:t>
            </a:r>
            <a:r>
              <a:rPr lang="en-US" dirty="0" err="1"/>
              <a:t>tiến</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Nội dung bài trình bày gồm 8 phần chính.</a:t>
            </a:r>
          </a:p>
          <a:p>
            <a:endParaRPr lang="vi-VN" dirty="0"/>
          </a:p>
          <a:p>
            <a:r>
              <a:rPr lang="vi-VN" dirty="0"/>
              <a:t>Đầu tiên, nhóm giới thiệu tổng quan về FPT Shop, cơ cấu tổ chức và kiến trúc quy trình nghiệp vụ.</a:t>
            </a:r>
          </a:p>
          <a:p>
            <a:endParaRPr lang="vi-VN" dirty="0"/>
          </a:p>
          <a:p>
            <a:r>
              <a:rPr lang="vi-VN" dirty="0"/>
              <a:t>Tiếp theo là phương pháp thực hiện và ba nhóm nội dung quy trình mà nhóm tập trung trình bày gồm quản lý nhà cung cấp, bán hàng trực tuyến và tuyển dụng nhân sự.</a:t>
            </a:r>
          </a:p>
          <a:p>
            <a:endParaRPr lang="vi-VN" dirty="0"/>
          </a:p>
          <a:p>
            <a:r>
              <a:rPr lang="vi-VN" dirty="0"/>
              <a:t>Cuối cùng, nhóm đi sâu vào phân tích quy trình bán hàng trực tuyến theo các khía cạnh như giá trị gia tăng, lãng phí, thời gian, chất lượng, chi phí và các bên liên quan, trước khi đưa ra kết luận.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vi-VN" dirty="0"/>
              <a:t>rước hết là phần giới thiệu về FPT Shop.</a:t>
            </a:r>
          </a:p>
          <a:p>
            <a:endParaRPr lang="vi-VN" dirty="0"/>
          </a:p>
          <a:p>
            <a:r>
              <a:rPr lang="vi-VN" dirty="0"/>
              <a:t>FPT Shop là chuỗi bán lẻ công nghệ thuộc FPT Retail, được thành lập vào tháng 8 năm 2007 và phát triển theo mô hình kết hợp giữa cửa hàng vật lý và kênh bán hàng trực tuyến.</a:t>
            </a:r>
          </a:p>
          <a:p>
            <a:endParaRPr lang="vi-VN" dirty="0"/>
          </a:p>
          <a:p>
            <a:r>
              <a:rPr lang="vi-VN" dirty="0"/>
              <a:t>Trong phạm vi đề tài, nhóm không chỉ xem xét hoạt động bán hàng mà tập trung vào toàn bộ hệ thống quy trình nghiệp vụ của FPT Shop.</a:t>
            </a:r>
          </a:p>
          <a:p>
            <a:endParaRPr lang="vi-VN" dirty="0"/>
          </a:p>
          <a:p>
            <a:r>
              <a:rPr lang="vi-VN" dirty="0"/>
              <a:t>Nhóm phân loại hệ thống thành ba nhóm là Management, Core và Support, với tổng cộng 17 quy trình.</a:t>
            </a:r>
          </a:p>
          <a:p>
            <a:endParaRPr lang="vi-VN" dirty="0"/>
          </a:p>
          <a:p>
            <a:r>
              <a:rPr lang="vi-VN" dirty="0"/>
              <a:t>Mục tiêu của nhóm là hệ thống hóa hoạt động bán lẻ đa kênh, làm rõ mối quan hệ giữa các quy trình quản lý, tạo giá trị và hỗ trợ, từ đó có cơ sở để mô hình hóa và phân tích cải tiến.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Về quá trình phát triển, có thể chia thành ba giai đoạn chính.</a:t>
            </a:r>
          </a:p>
          <a:p>
            <a:endParaRPr lang="vi-VN" dirty="0"/>
          </a:p>
          <a:p>
            <a:r>
              <a:rPr lang="vi-VN" dirty="0"/>
              <a:t>Năm 2007, FPT Shop ra đời. Đến năm 2012, FPT Retail chuyển đổi thành công ty cổ phần.</a:t>
            </a:r>
          </a:p>
          <a:p>
            <a:endParaRPr lang="vi-VN" dirty="0"/>
          </a:p>
          <a:p>
            <a:r>
              <a:rPr lang="vi-VN" dirty="0"/>
              <a:t>Trong giai đoạn 2013 đến 2023, hệ thống phát triển nhanh về số lượng cửa hàng, từ 100 cửa hàng năm 2013 lên 200 cửa hàng năm 2015, đồng thời mở rộng hoạt động bán hàng đa kênh.</a:t>
            </a:r>
          </a:p>
          <a:p>
            <a:endParaRPr lang="vi-VN" dirty="0"/>
          </a:p>
          <a:p>
            <a:r>
              <a:rPr lang="vi-VN" dirty="0"/>
              <a:t>Đến năm 2024, FPT Shop có 634 cửa hàng và 54 cửa hàng được chuyển đổi sang mô hình FPT Shop Điện Máy.</a:t>
            </a:r>
          </a:p>
          <a:p>
            <a:endParaRPr lang="vi-VN" dirty="0"/>
          </a:p>
          <a:p>
            <a:r>
              <a:rPr lang="vi-VN" dirty="0"/>
              <a:t>Điều này cho thấy quy mô và mô hình kinh doanh của doanh nghiệp liên tục thay đổi, và vì vậy hệ thống quy trình nghiệp vụ cũng cần được tổ chức phù hợp với quy mô đó.</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Về quy mô, năm 2024 FPT Shop có 634 cửa hàng, hoạt động trên 63 tỉnh, thành, trong đó có 54 cửa hàng điện máy.</a:t>
            </a:r>
          </a:p>
          <a:p>
            <a:endParaRPr lang="vi-VN" dirty="0"/>
          </a:p>
          <a:p>
            <a:r>
              <a:rPr lang="vi-VN" dirty="0"/>
              <a:t>Danh mục kinh doanh chủ yếu gồm điện thoại, laptop, máy tính bảng, phụ kiện, SIM và các dịch vụ viễn thông.</a:t>
            </a:r>
          </a:p>
          <a:p>
            <a:endParaRPr lang="vi-VN" dirty="0"/>
          </a:p>
          <a:p>
            <a:r>
              <a:rPr lang="vi-VN" dirty="0"/>
              <a:t>Bên cạnh đó, những cửa hàng được chuyển đổi sang mô hình FPT Shop Điện Máy còn kinh doanh thêm điện máy và đồ gia dụng.</a:t>
            </a:r>
          </a:p>
          <a:p>
            <a:endParaRPr lang="vi-VN" dirty="0"/>
          </a:p>
          <a:p>
            <a:r>
              <a:rPr lang="vi-VN" dirty="0"/>
              <a:t>Chính sự đa dạng về sản phẩm và mô hình kinh doanh làm cho các quy trình phía sau như quản lý hàng hóa, bán hàng, hậu mãi và hỗ trợ vận hành trở nên quan trọng hơn.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FPT Shop đang vận hành theo mô hình bán lẻ đa kênh, có thể hình dung qua ba thành phần.</a:t>
            </a:r>
          </a:p>
          <a:p>
            <a:endParaRPr lang="vi-VN" dirty="0"/>
          </a:p>
          <a:p>
            <a:r>
              <a:rPr lang="vi-VN" dirty="0"/>
              <a:t>Thứ nhất là cửa hàng, nơi khách hàng trực tiếp trải nghiệm, được tư vấn, thanh toán và nhận hàng.</a:t>
            </a:r>
          </a:p>
          <a:p>
            <a:endParaRPr lang="vi-VN" dirty="0"/>
          </a:p>
          <a:p>
            <a:r>
              <a:rPr lang="vi-VN" dirty="0"/>
              <a:t>Thứ hai là kênh trực tuyến, nơi khách hàng đặt hàng và hệ thống tiếp nhận, xử lý đơn, đồng thời kết nối với kho và cửa hàng.</a:t>
            </a:r>
          </a:p>
          <a:p>
            <a:endParaRPr lang="vi-VN" dirty="0"/>
          </a:p>
          <a:p>
            <a:r>
              <a:rPr lang="vi-VN" dirty="0"/>
              <a:t>Cuối cùng là sau bán hàng, bao gồm bảo hành, đổi trả và hỗ trợ kỹ thuật.</a:t>
            </a:r>
          </a:p>
          <a:p>
            <a:endParaRPr lang="vi-VN" dirty="0"/>
          </a:p>
          <a:p>
            <a:r>
              <a:rPr lang="vi-VN" dirty="0"/>
              <a:t>Như vậy, chuỗi giá trị không kết thúc ở lúc bán được sản phẩm mà còn tiếp tục đến các hoạt động hậu mãi.</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là cơ cấu tổ chức của FPT Retail.</a:t>
            </a:r>
          </a:p>
          <a:p>
            <a:endParaRPr lang="vi-VN" dirty="0"/>
          </a:p>
          <a:p>
            <a:r>
              <a:rPr lang="vi-VN" dirty="0"/>
              <a:t>Ở cấp quản trị gồm Đại hội đồng cổ đông, Hội đồng quản trị, Ban Kiểm soát, Chủ tịch Hội đồng quản trị và Tổng Giám đốc cùng Ban Điều hành.</a:t>
            </a:r>
          </a:p>
          <a:p>
            <a:endParaRPr lang="vi-VN" dirty="0"/>
          </a:p>
          <a:p>
            <a:r>
              <a:rPr lang="vi-VN" dirty="0"/>
              <a:t>Bên dưới là các khối chức năng như Phát triển kinh doanh, Tài chính kế toán, Công nghệ thông tin, Nhân sự và Vận hành.</a:t>
            </a:r>
          </a:p>
          <a:p>
            <a:endParaRPr lang="vi-VN" dirty="0"/>
          </a:p>
          <a:p>
            <a:r>
              <a:rPr lang="vi-VN" dirty="0"/>
              <a:t>Trong phạm vi đề tài, các khối này có liên quan trực tiếp đến việc xây dựng và vận hành hệ thống quy trình của FPT Shop.</a:t>
            </a:r>
          </a:p>
          <a:p>
            <a:endParaRPr lang="vi-VN" dirty="0"/>
          </a:p>
          <a:p>
            <a:r>
              <a:rPr lang="vi-VN" dirty="0"/>
              <a:t>Ví dụ, Nhân sự liên quan đến tuyển dụng, CNTT liên quan đến hệ thống, còn Vận hành liên quan trực tiếp đến hoạt động của chuỗi cửa hàng.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Từ hoạt động của doanh nghiệp, nhóm xây dựng kiến trúc một số quy trình và chia thành ba nhóm.</a:t>
            </a:r>
          </a:p>
          <a:p>
            <a:endParaRPr lang="vi-VN" dirty="0"/>
          </a:p>
          <a:p>
            <a:r>
              <a:rPr lang="vi-VN" dirty="0"/>
              <a:t>Management Processes gồm các quy trình có vai trò định hướng, kiểm soát và đánh giá hoạt động.</a:t>
            </a:r>
          </a:p>
          <a:p>
            <a:endParaRPr lang="vi-VN" dirty="0"/>
          </a:p>
          <a:p>
            <a:r>
              <a:rPr lang="vi-VN" dirty="0"/>
              <a:t>Core Processes gồm các quy trình trực tiếp tạo ra giá trị cho khách hàng, ví dụ như nhập hàng, bán hàng và các hoạt động liên quan.</a:t>
            </a:r>
          </a:p>
          <a:p>
            <a:endParaRPr lang="vi-VN" dirty="0"/>
          </a:p>
          <a:p>
            <a:r>
              <a:rPr lang="vi-VN" dirty="0"/>
              <a:t>Support Processes gồm các quy trình cung cấp nguồn lực và hỗ trợ cho toàn bộ hệ thống, chẳng hạn như nhân sự, CNTT và tài chính kế toán.</a:t>
            </a:r>
          </a:p>
          <a:p>
            <a:endParaRPr lang="vi-VN" dirty="0"/>
          </a:p>
          <a:p>
            <a:r>
              <a:rPr lang="vi-VN" dirty="0"/>
              <a:t>Điểm quan trọng ở đây là ba nhóm không hoạt động độc lập mà liên kết với nhau: quản lý định hướng, quy trình cốt lõi tạo giá trị, còn quy trình hỗ trợ cung cấp nguồn lực.</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Từ hệ thống quy trình, nhóm lựa chọn 6 quy trình tiêu biểu để nghiên cứu và mô hình hóa.</a:t>
            </a:r>
          </a:p>
          <a:p>
            <a:endParaRPr lang="vi-VN" dirty="0"/>
          </a:p>
          <a:p>
            <a:r>
              <a:rPr lang="vi-VN" dirty="0"/>
              <a:t>Gồm hai quy trình quản lý là quản lý nhà cung cấp và quản lý tồn kho; hai quy trình cốt lõi là bán hàng trực tuyến và bảo hành sản phẩm; và hai quy trình hỗ trợ là tuyển dụng nhân sự và hỗ trợ công nghệ thông tin.</a:t>
            </a:r>
          </a:p>
          <a:p>
            <a:endParaRPr lang="vi-VN" dirty="0"/>
          </a:p>
          <a:p>
            <a:r>
              <a:rPr lang="vi-VN" dirty="0"/>
              <a:t>Tuy nhiên, trong phần thuyết trình này, nhóm tập trung trình bày sâu ba quy trình là quản lý nhà cung cấp, bán hàng trực tuyến và tuyển dụng nhân sự.</a:t>
            </a:r>
          </a:p>
          <a:p>
            <a:endParaRPr lang="vi-VN" dirty="0"/>
          </a:p>
          <a:p>
            <a:r>
              <a:rPr lang="vi-VN" dirty="0"/>
              <a:t>Trong đó, bán hàng trực tuyến được phân tích sâu nhất vì đây là quy trình có nhiều tác nhân, nhiều nhánh xử lý và có thể đánh giá bằng cả định tính lẫn định lượng.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Về phương pháp, nhóm sử dụng nhiều nguồn khác nhau thay vì chỉ dựa vào một nguồn duy nhất.</a:t>
            </a:r>
          </a:p>
          <a:p>
            <a:endParaRPr lang="vi-VN" dirty="0"/>
          </a:p>
          <a:p>
            <a:r>
              <a:rPr lang="vi-VN" dirty="0"/>
              <a:t>Đầu tiên là tài liệu và bằng chứng để xác định hoạt động và thông tin về doanh nghiệp.</a:t>
            </a:r>
          </a:p>
          <a:p>
            <a:endParaRPr lang="vi-VN" dirty="0"/>
          </a:p>
          <a:p>
            <a:r>
              <a:rPr lang="vi-VN" dirty="0"/>
              <a:t>Tiếp theo là kế hoạch, thuật ngữ và các biểu mẫu nghiệp vụ để xác định công việc, người thực hiện và dữ liệu liên quan.</a:t>
            </a:r>
          </a:p>
          <a:p>
            <a:endParaRPr lang="vi-VN" dirty="0"/>
          </a:p>
          <a:p>
            <a:r>
              <a:rPr lang="vi-VN" dirty="0"/>
              <a:t>Nhóm cũng xây dựng bộ câu hỏi phỏng vấn gồm cả định tính và định lượng, với câu hỏi có cấu trúc và không cấu trúc.</a:t>
            </a:r>
          </a:p>
          <a:p>
            <a:endParaRPr lang="vi-VN" dirty="0"/>
          </a:p>
          <a:p>
            <a:r>
              <a:rPr lang="vi-VN" dirty="0"/>
              <a:t>Cuối cùng, các quy trình được mô hình hóa bằng BPMN và phân tích theo VA, BVA, NVA cũng như thời gian, chất lượng và chi phí.</a:t>
            </a:r>
            <a:endParaRPr lang="en-US" dirty="0"/>
          </a:p>
          <a:p>
            <a:endParaRPr lang="en-US" dirty="0"/>
          </a:p>
          <a:p>
            <a:r>
              <a:rPr lang="vi-VN" dirty="0"/>
              <a:t>Như vậy, nhóm đã giới thiệu tổng quan về FPT Shop, kiến trúc quy trình cũng như phương pháp thực hiện. Tiếp theo, em xin chuyển sang phần trình bày của bạn </a:t>
            </a:r>
            <a:r>
              <a:rPr lang="en-US" dirty="0"/>
              <a:t>Phương</a:t>
            </a:r>
            <a:r>
              <a:rPr lang="vi-VN" dirty="0"/>
              <a:t>, bắt đầu với quy trình quản lý nhà cung cấp.</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Đầu tiên trong phần này là quy trình quản lý nhà cung cấp.</a:t>
            </a:r>
          </a:p>
          <a:p>
            <a:endParaRPr lang="vi-VN" dirty="0"/>
          </a:p>
          <a:p>
            <a:r>
              <a:rPr lang="vi-VN" dirty="0"/>
              <a:t>Các tác nhân chính gồm đơn vị đề nghị hoặc ngành hàng, nhân viên mua hàng hoặc PM ngành hàng, cấp có thẩm quyền và nhà cung cấp.</a:t>
            </a:r>
          </a:p>
          <a:p>
            <a:endParaRPr lang="vi-VN" dirty="0"/>
          </a:p>
          <a:p>
            <a:r>
              <a:rPr lang="vi-VN" dirty="0"/>
              <a:t>Quy trình bắt đầu từ việc xác định nhu cầu mua sắm, sau đó tìm kiếm và đánh giá nhà cung cấp, đàm phán, xin thống nhất ký kết, theo dõi hợp đồng, thanh quyết toán và cuối cùng là đánh giá lại nhà cung cấp.</a:t>
            </a:r>
          </a:p>
          <a:p>
            <a:endParaRPr lang="vi-VN" dirty="0"/>
          </a:p>
          <a:p>
            <a:r>
              <a:rPr lang="vi-VN" dirty="0"/>
              <a:t>Giá trị chính của quy trình là đảm bảo doanh nghiệp lựa chọn được nhà cung cấp phù hợp và kiểm soát được quan hệ cũng như hợp đồng với nhà cung cấp.</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Đây là toàn bộ quy trình quản lý nhà cung cấp được nhóm mô hình hóa bằng BPMN.</a:t>
            </a:r>
          </a:p>
          <a:p>
            <a:endParaRPr lang="vi-VN" dirty="0"/>
          </a:p>
          <a:p>
            <a:r>
              <a:rPr lang="vi-VN" dirty="0"/>
              <a:t>Do sơ đồ khá lớn nên khi trình chiếu toàn bộ, một số bước sẽ khó quan sát. Vì vậy ở hai slide tiếp theo, nhóm phóng to hai khu vực quan trọng của chính quy trình này để làm rõ hơn luồng xử lý.</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Ở slide này, nhóm phóng to phần đầu của quy trình để dễ quan sát các bước xử lý.</a:t>
            </a:r>
          </a:p>
          <a:p>
            <a:endParaRPr lang="vi-VN" dirty="0"/>
          </a:p>
          <a:p>
            <a:r>
              <a:rPr lang="vi-VN" dirty="0"/>
              <a:t>Có thể thấy quy trình bắt đầu từ phát sinh nhu cầu mua sắm, sau đó tiến hành rà soát, tìm kiếm và đánh giá nhà cung cấp.</a:t>
            </a:r>
          </a:p>
          <a:p>
            <a:endParaRPr lang="vi-VN" dirty="0"/>
          </a:p>
          <a:p>
            <a:r>
              <a:rPr lang="vi-VN" dirty="0"/>
              <a:t>Tại các điểm quyết định, nếu nhà cung cấp chưa phù hợp thì quy trình có thể quay lại bước trước để tiếp tục tìm kiếm hoặc đánh giá.</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là phần còn lại của quy trình được phóng to.</a:t>
            </a:r>
          </a:p>
          <a:p>
            <a:endParaRPr lang="vi-VN" dirty="0"/>
          </a:p>
          <a:p>
            <a:r>
              <a:rPr lang="vi-VN" dirty="0"/>
              <a:t>Sau khi lựa chọn được nhà cung cấp phù hợp, quy trình tiếp tục qua các bước đàm phán, thống nhất và ký kết hợp đồng.</a:t>
            </a:r>
          </a:p>
          <a:p>
            <a:endParaRPr lang="vi-VN" dirty="0"/>
          </a:p>
          <a:p>
            <a:r>
              <a:rPr lang="vi-VN" dirty="0"/>
              <a:t>Sau đó doanh nghiệp theo dõi việc thực hiện hợp đồng, thanh quyết toán và đánh giá lại nhà cung cấp.</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Đối với quy trình quản lý nhà cung cấp, nhóm xây dựng các câu hỏi định tính có cấu trúc để làm rõ cách đánh giá nhà cung cấp, mức độ phối hợp giữa các bên và cách xử lý các trường hợp phát sinh.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a:t>
            </a:r>
            <a:r>
              <a:rPr lang="en-US" dirty="0" err="1"/>
              <a:t>câu</a:t>
            </a:r>
            <a:r>
              <a:rPr lang="en-US" dirty="0"/>
              <a:t> </a:t>
            </a:r>
            <a:r>
              <a:rPr lang="en-US" dirty="0" err="1"/>
              <a:t>hỏi</a:t>
            </a:r>
            <a:r>
              <a:rPr lang="en-US" dirty="0"/>
              <a:t> </a:t>
            </a:r>
            <a:r>
              <a:rPr lang="en-US" dirty="0" err="1"/>
              <a:t>tiếp</a:t>
            </a:r>
            <a:r>
              <a:rPr lang="en-US" dirty="0"/>
              <a:t> </a:t>
            </a:r>
            <a:r>
              <a:rPr lang="en-US" dirty="0" err="1"/>
              <a:t>tục</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việc</a:t>
            </a:r>
            <a:r>
              <a:rPr lang="en-US" dirty="0"/>
              <a:t> </a:t>
            </a:r>
            <a:r>
              <a:rPr lang="en-US" dirty="0" err="1"/>
              <a:t>đánh</a:t>
            </a:r>
            <a:r>
              <a:rPr lang="en-US" dirty="0"/>
              <a:t> </a:t>
            </a:r>
            <a:r>
              <a:rPr lang="en-US" dirty="0" err="1"/>
              <a:t>giá</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sự</a:t>
            </a:r>
            <a:r>
              <a:rPr lang="en-US" dirty="0"/>
              <a:t> </a:t>
            </a:r>
            <a:r>
              <a:rPr lang="en-US" dirty="0" err="1"/>
              <a:t>phối</a:t>
            </a:r>
            <a:r>
              <a:rPr lang="en-US" dirty="0"/>
              <a:t> </a:t>
            </a:r>
            <a:r>
              <a:rPr lang="en-US" dirty="0" err="1"/>
              <a:t>hợp</a:t>
            </a:r>
            <a:r>
              <a:rPr lang="en-US" dirty="0"/>
              <a:t> </a:t>
            </a:r>
            <a:r>
              <a:rPr lang="en-US" dirty="0" err="1"/>
              <a:t>và</a:t>
            </a:r>
            <a:r>
              <a:rPr lang="en-US" dirty="0"/>
              <a:t> </a:t>
            </a:r>
            <a:r>
              <a:rPr lang="en-US" dirty="0" err="1"/>
              <a:t>mức</a:t>
            </a:r>
            <a:r>
              <a:rPr lang="en-US" dirty="0"/>
              <a:t> </a:t>
            </a:r>
            <a:r>
              <a:rPr lang="en-US" dirty="0" err="1"/>
              <a:t>độ</a:t>
            </a:r>
            <a:r>
              <a:rPr lang="en-US" dirty="0"/>
              <a:t> </a:t>
            </a:r>
            <a:r>
              <a:rPr lang="en-US" dirty="0" err="1"/>
              <a:t>rõ</a:t>
            </a:r>
            <a:r>
              <a:rPr lang="en-US" dirty="0"/>
              <a:t> </a:t>
            </a:r>
            <a:r>
              <a:rPr lang="en-US" dirty="0" err="1"/>
              <a:t>ràng</a:t>
            </a:r>
            <a:r>
              <a:rPr lang="en-US" dirty="0"/>
              <a:t> </a:t>
            </a:r>
            <a:r>
              <a:rPr lang="en-US" dirty="0" err="1"/>
              <a:t>của</a:t>
            </a:r>
            <a:r>
              <a:rPr lang="en-US" dirty="0"/>
              <a:t> </a:t>
            </a:r>
            <a:r>
              <a:rPr lang="en-US" dirty="0" err="1"/>
              <a:t>quy</a:t>
            </a:r>
            <a:r>
              <a:rPr lang="en-US" dirty="0"/>
              <a:t> </a:t>
            </a:r>
            <a:r>
              <a:rPr lang="en-US" dirty="0" err="1"/>
              <a:t>trình</a:t>
            </a:r>
            <a:r>
              <a:rPr lang="en-US" dirty="0"/>
              <a:t> </a:t>
            </a:r>
            <a:r>
              <a:rPr lang="en-US" dirty="0" err="1"/>
              <a:t>trong</a:t>
            </a:r>
            <a:r>
              <a:rPr lang="en-US" dirty="0"/>
              <a:t> </a:t>
            </a:r>
            <a:r>
              <a:rPr lang="en-US" dirty="0" err="1"/>
              <a:t>thực</a:t>
            </a:r>
            <a:r>
              <a:rPr lang="en-US" dirty="0"/>
              <a:t> </a:t>
            </a:r>
            <a:r>
              <a:rPr lang="en-US" dirty="0" err="1"/>
              <a:t>tế</a:t>
            </a:r>
            <a:r>
              <a:rPr lang="en-US" dirty="0"/>
              <a: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10689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Với</a:t>
            </a:r>
            <a:r>
              <a:rPr lang="en-US" dirty="0"/>
              <a:t> </a:t>
            </a:r>
            <a:r>
              <a:rPr lang="en-US" dirty="0" err="1"/>
              <a:t>câu</a:t>
            </a:r>
            <a:r>
              <a:rPr lang="en-US" dirty="0"/>
              <a:t> </a:t>
            </a:r>
            <a:r>
              <a:rPr lang="en-US" dirty="0" err="1"/>
              <a:t>hỏi</a:t>
            </a:r>
            <a:r>
              <a:rPr lang="en-US" dirty="0"/>
              <a:t> </a:t>
            </a:r>
            <a:r>
              <a:rPr lang="en-US" dirty="0" err="1"/>
              <a:t>không</a:t>
            </a:r>
            <a:r>
              <a:rPr lang="en-US" dirty="0"/>
              <a:t> </a:t>
            </a:r>
            <a:r>
              <a:rPr lang="en-US" dirty="0" err="1"/>
              <a:t>cấu</a:t>
            </a:r>
            <a:r>
              <a:rPr lang="en-US" dirty="0"/>
              <a:t> </a:t>
            </a:r>
            <a:r>
              <a:rPr lang="en-US" dirty="0" err="1"/>
              <a:t>trúc</a:t>
            </a:r>
            <a:r>
              <a:rPr lang="en-US" dirty="0"/>
              <a:t>, </a:t>
            </a:r>
            <a:r>
              <a:rPr lang="en-US" dirty="0" err="1"/>
              <a:t>nhóm</a:t>
            </a:r>
            <a:r>
              <a:rPr lang="en-US" dirty="0"/>
              <a:t> </a:t>
            </a:r>
            <a:r>
              <a:rPr lang="en-US" dirty="0" err="1"/>
              <a:t>tập</a:t>
            </a:r>
            <a:r>
              <a:rPr lang="en-US" dirty="0"/>
              <a:t> </a:t>
            </a:r>
            <a:r>
              <a:rPr lang="en-US" dirty="0" err="1"/>
              <a:t>trung</a:t>
            </a:r>
            <a:r>
              <a:rPr lang="en-US" dirty="0"/>
              <a:t> </a:t>
            </a:r>
            <a:r>
              <a:rPr lang="en-US" dirty="0" err="1"/>
              <a:t>khai</a:t>
            </a:r>
            <a:r>
              <a:rPr lang="en-US" dirty="0"/>
              <a:t> </a:t>
            </a:r>
            <a:r>
              <a:rPr lang="en-US" dirty="0" err="1"/>
              <a:t>thác</a:t>
            </a:r>
            <a:r>
              <a:rPr lang="en-US" dirty="0"/>
              <a:t> </a:t>
            </a:r>
            <a:r>
              <a:rPr lang="en-US" dirty="0" err="1"/>
              <a:t>những</a:t>
            </a:r>
            <a:r>
              <a:rPr lang="en-US" dirty="0"/>
              <a:t> </a:t>
            </a:r>
            <a:r>
              <a:rPr lang="en-US" dirty="0" err="1"/>
              <a:t>khó</a:t>
            </a:r>
            <a:r>
              <a:rPr lang="en-US" dirty="0"/>
              <a:t> </a:t>
            </a:r>
            <a:r>
              <a:rPr lang="en-US" dirty="0" err="1"/>
              <a:t>khăn</a:t>
            </a:r>
            <a:r>
              <a:rPr lang="en-US" dirty="0"/>
              <a:t> </a:t>
            </a:r>
            <a:r>
              <a:rPr lang="en-US" dirty="0" err="1"/>
              <a:t>thực</a:t>
            </a:r>
            <a:r>
              <a:rPr lang="en-US" dirty="0"/>
              <a:t> </a:t>
            </a:r>
            <a:r>
              <a:rPr lang="en-US" dirty="0" err="1"/>
              <a:t>tế</a:t>
            </a:r>
            <a:r>
              <a:rPr lang="en-US" dirty="0"/>
              <a:t>, </a:t>
            </a:r>
            <a:r>
              <a:rPr lang="en-US" dirty="0" err="1"/>
              <a:t>nguyên</a:t>
            </a:r>
            <a:r>
              <a:rPr lang="en-US" dirty="0"/>
              <a:t> </a:t>
            </a:r>
            <a:r>
              <a:rPr lang="en-US" dirty="0" err="1"/>
              <a:t>nhân</a:t>
            </a:r>
            <a:r>
              <a:rPr lang="en-US" dirty="0"/>
              <a:t> </a:t>
            </a:r>
            <a:r>
              <a:rPr lang="en-US" dirty="0" err="1"/>
              <a:t>lựa</a:t>
            </a:r>
            <a:r>
              <a:rPr lang="en-US" dirty="0"/>
              <a:t> </a:t>
            </a:r>
            <a:r>
              <a:rPr lang="en-US" dirty="0" err="1"/>
              <a:t>chọn</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và</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phát</a:t>
            </a:r>
            <a:r>
              <a:rPr lang="en-US" dirty="0"/>
              <a:t> </a:t>
            </a:r>
            <a:r>
              <a:rPr lang="en-US" dirty="0" err="1"/>
              <a:t>sinh</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hợp</a:t>
            </a:r>
            <a:r>
              <a:rPr lang="en-US" dirty="0"/>
              <a:t> </a:t>
            </a:r>
            <a:r>
              <a:rPr lang="en-US" dirty="0" err="1"/>
              <a:t>đồng</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Đối với định lượng, nhóm xây dựng các câu hỏi để thu thập số liệu về thời gian xử lý, số lượng yêu cầu và tỷ lệ xử lý lại trong quy trình.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câu hỏi tiếp theo tập trung vào số lượng nhà cung cấp và đánh giá hiệu quả của quy trình theo thang điểm.</a:t>
            </a: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2831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Cuối</a:t>
            </a:r>
            <a:r>
              <a:rPr lang="en-US" dirty="0"/>
              <a:t> </a:t>
            </a:r>
            <a:r>
              <a:rPr lang="en-US" dirty="0" err="1"/>
              <a:t>cùng</a:t>
            </a:r>
            <a:r>
              <a:rPr lang="en-US" dirty="0"/>
              <a:t>, </a:t>
            </a:r>
            <a:r>
              <a:rPr lang="en-US" dirty="0" err="1"/>
              <a:t>nhóm</a:t>
            </a:r>
            <a:r>
              <a:rPr lang="en-US" dirty="0"/>
              <a:t> </a:t>
            </a:r>
            <a:r>
              <a:rPr lang="en-US" dirty="0" err="1"/>
              <a:t>đề</a:t>
            </a:r>
            <a:r>
              <a:rPr lang="en-US" dirty="0"/>
              <a:t> </a:t>
            </a:r>
            <a:r>
              <a:rPr lang="en-US" dirty="0" err="1"/>
              <a:t>xuất</a:t>
            </a:r>
            <a:r>
              <a:rPr lang="en-US" dirty="0"/>
              <a:t> </a:t>
            </a:r>
            <a:r>
              <a:rPr lang="en-US" dirty="0" err="1"/>
              <a:t>thu</a:t>
            </a:r>
            <a:r>
              <a:rPr lang="en-US" dirty="0"/>
              <a:t> </a:t>
            </a:r>
            <a:r>
              <a:rPr lang="en-US" dirty="0" err="1"/>
              <a:t>thập</a:t>
            </a:r>
            <a:r>
              <a:rPr lang="en-US" dirty="0"/>
              <a:t> </a:t>
            </a:r>
            <a:r>
              <a:rPr lang="en-US" dirty="0" err="1"/>
              <a:t>các</a:t>
            </a:r>
            <a:r>
              <a:rPr lang="en-US" dirty="0"/>
              <a:t> </a:t>
            </a:r>
            <a:r>
              <a:rPr lang="en-US" dirty="0" err="1"/>
              <a:t>số</a:t>
            </a:r>
            <a:r>
              <a:rPr lang="en-US" dirty="0"/>
              <a:t> </a:t>
            </a:r>
            <a:r>
              <a:rPr lang="en-US" dirty="0" err="1"/>
              <a:t>liệu</a:t>
            </a:r>
            <a:r>
              <a:rPr lang="en-US" dirty="0"/>
              <a:t> </a:t>
            </a:r>
            <a:r>
              <a:rPr lang="en-US" dirty="0" err="1"/>
              <a:t>thực</a:t>
            </a:r>
            <a:r>
              <a:rPr lang="en-US" dirty="0"/>
              <a:t> </a:t>
            </a:r>
            <a:r>
              <a:rPr lang="en-US" dirty="0" err="1"/>
              <a:t>tế</a:t>
            </a:r>
            <a:r>
              <a:rPr lang="en-US" dirty="0"/>
              <a:t> </a:t>
            </a:r>
            <a:r>
              <a:rPr lang="en-US" dirty="0" err="1"/>
              <a:t>về</a:t>
            </a:r>
            <a:r>
              <a:rPr lang="en-US" dirty="0"/>
              <a:t> </a:t>
            </a:r>
            <a:r>
              <a:rPr lang="en-US" dirty="0" err="1"/>
              <a:t>yêu</a:t>
            </a:r>
            <a:r>
              <a:rPr lang="en-US" dirty="0"/>
              <a:t> </a:t>
            </a:r>
            <a:r>
              <a:rPr lang="en-US" dirty="0" err="1"/>
              <a:t>cầu</a:t>
            </a:r>
            <a:r>
              <a:rPr lang="en-US" dirty="0"/>
              <a:t> </a:t>
            </a:r>
            <a:r>
              <a:rPr lang="en-US" dirty="0" err="1"/>
              <a:t>mua</a:t>
            </a:r>
            <a:r>
              <a:rPr lang="en-US" dirty="0"/>
              <a:t> </a:t>
            </a:r>
            <a:r>
              <a:rPr lang="en-US" dirty="0" err="1"/>
              <a:t>sắm</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và</a:t>
            </a:r>
            <a:r>
              <a:rPr lang="en-US" dirty="0"/>
              <a:t> </a:t>
            </a:r>
            <a:r>
              <a:rPr lang="en-US" dirty="0" err="1"/>
              <a:t>hợp</a:t>
            </a:r>
            <a:r>
              <a:rPr lang="en-US" dirty="0"/>
              <a:t> </a:t>
            </a:r>
            <a:r>
              <a:rPr lang="en-US" dirty="0" err="1"/>
              <a:t>đồng</a:t>
            </a:r>
            <a:r>
              <a:rPr lang="en-US" dirty="0"/>
              <a:t> </a:t>
            </a:r>
            <a:r>
              <a:rPr lang="en-US" dirty="0" err="1"/>
              <a:t>để</a:t>
            </a:r>
            <a:r>
              <a:rPr lang="en-US" dirty="0"/>
              <a:t> </a:t>
            </a:r>
            <a:r>
              <a:rPr lang="en-US" dirty="0" err="1"/>
              <a:t>phục</a:t>
            </a:r>
            <a:r>
              <a:rPr lang="en-US" dirty="0"/>
              <a:t> </a:t>
            </a:r>
            <a:r>
              <a:rPr lang="en-US" dirty="0" err="1"/>
              <a:t>vụ</a:t>
            </a:r>
            <a:r>
              <a:rPr lang="en-US" dirty="0"/>
              <a:t> </a:t>
            </a:r>
            <a:r>
              <a:rPr lang="en-US" dirty="0" err="1"/>
              <a:t>phân</a:t>
            </a:r>
            <a:r>
              <a:rPr lang="en-US" dirty="0"/>
              <a:t> </a:t>
            </a:r>
            <a:r>
              <a:rPr lang="en-US" dirty="0" err="1"/>
              <a:t>tích</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là quy trình bán hàng trực tuyến, đây là một trong những quy trình cốt lõi và hướng trực tiếp đến khách hàng.</a:t>
            </a:r>
          </a:p>
          <a:p>
            <a:endParaRPr lang="vi-VN" dirty="0"/>
          </a:p>
          <a:p>
            <a:r>
              <a:rPr lang="vi-VN" dirty="0"/>
              <a:t>Quy trình có nhiều tác nhân: khách hàng, hệ thống thương mại điện tử, OMS, Telesales, cửa hàng, kho, giao vận, kế toán, cổng thanh toán và công ty tài chính.</a:t>
            </a:r>
          </a:p>
          <a:p>
            <a:endParaRPr lang="vi-VN" dirty="0"/>
          </a:p>
          <a:p>
            <a:r>
              <a:rPr lang="vi-VN" dirty="0"/>
              <a:t>Luồng chính gồm tiếp nhận đơn, kiểm tra tồn kho, điều phối và xác nhận, thanh toán, soạn hàng, giao hàng và cuối cùng là hậu mãi.</a:t>
            </a:r>
          </a:p>
          <a:p>
            <a:endParaRPr lang="vi-VN" dirty="0"/>
          </a:p>
          <a:p>
            <a:r>
              <a:rPr lang="vi-VN" dirty="0"/>
              <a:t>Kết quả có thể là đơn hàng hoàn tất hoặc các trường hợp ngoại lệ như hủy đơn và hoàn hàng.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Đây là toàn bộ quy trình bán hàng trực tuyến của FPT Shop được nhóm mô hình hóa bằng BPMN.</a:t>
            </a:r>
          </a:p>
          <a:p>
            <a:endParaRPr lang="vi-VN" dirty="0"/>
          </a:p>
          <a:p>
            <a:r>
              <a:rPr lang="vi-VN" dirty="0"/>
              <a:t>Sơ đồ khá lớn vì có nhiều tác nhân tham gia, từ khách hàng, hệ thống thương mại điện tử, OMS, Telesales, cửa hàng, giao vận cho đến kế toán và các đối tác bên ngoài.</a:t>
            </a:r>
          </a:p>
          <a:p>
            <a:endParaRPr lang="vi-VN" dirty="0"/>
          </a:p>
          <a:p>
            <a:r>
              <a:rPr lang="vi-VN" dirty="0"/>
              <a:t>Vì vậy, để dễ theo dõi khi trình chiếu, các slide tiếp theo sẽ phóng to những khu vực quan trọng trong sơ đồ này.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Ở đây nhóm phóng to phần đầu của quy trình bán hàng trực tuyến.</a:t>
            </a:r>
          </a:p>
          <a:p>
            <a:endParaRPr lang="vi-VN" dirty="0"/>
          </a:p>
          <a:p>
            <a:r>
              <a:rPr lang="vi-VN" dirty="0"/>
              <a:t>Quy trình bắt đầu khi khách hàng đặt hàng trên website hoặc ứng dụng. Hệ thống tiếp nhận đơn, kiểm tra tồn kho và điều phối đơn đến cửa hàng phù hợp.</a:t>
            </a:r>
          </a:p>
          <a:p>
            <a:endParaRPr lang="vi-VN" dirty="0"/>
          </a:p>
          <a:p>
            <a:r>
              <a:rPr lang="vi-VN" dirty="0"/>
              <a:t>Sau đó Telesales thực hiện xác nhận đơn. Đây là một bước đáng chú ý vì nếu không liên lạc được với khách hàng thì đơn có thể phải gọi lại hoặc bị hủy.</a:t>
            </a:r>
          </a:p>
          <a:p>
            <a:endParaRPr lang="vi-VN" dirty="0"/>
          </a:p>
          <a:p>
            <a:r>
              <a:rPr lang="vi-VN" dirty="0"/>
              <a:t>Tiếp theo, quy trình phân nhánh theo phương thức thanh toán như COD, thanh toán trực tuyến và trả góp.</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tiếp tục phóng to phần sau của cùng quy trình.</a:t>
            </a:r>
          </a:p>
          <a:p>
            <a:endParaRPr lang="vi-VN" dirty="0"/>
          </a:p>
          <a:p>
            <a:r>
              <a:rPr lang="vi-VN" dirty="0"/>
              <a:t>Sau khi đơn được xác nhận và thanh toán đáp ứng điều kiện, cửa hàng tiến hành soạn hàng, kiểm tra sản phẩm và IMEI, đóng gói rồi chuyển sang giao hàng.</a:t>
            </a:r>
          </a:p>
          <a:p>
            <a:endParaRPr lang="vi-VN" dirty="0"/>
          </a:p>
          <a:p>
            <a:r>
              <a:rPr lang="vi-VN" dirty="0"/>
              <a:t>Khi giao hàng, nếu thành công thì đơn tiếp tục hoàn tất. Nếu giao không thành công thì phát sinh nhánh giao lại hoặc hoàn hàng.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Với quy trình bán hàng trực tuyến, nhóm tập trung vào các vấn đề như xác nhận đơn, xử lý đơn tại cửa hàng và sai lệch tồn kho.</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a:t>
            </a:r>
            <a:r>
              <a:rPr lang="en-US" dirty="0" err="1"/>
              <a:t>câu</a:t>
            </a:r>
            <a:r>
              <a:rPr lang="en-US" dirty="0"/>
              <a:t> </a:t>
            </a:r>
            <a:r>
              <a:rPr lang="en-US" dirty="0" err="1"/>
              <a:t>hỏi</a:t>
            </a:r>
            <a:r>
              <a:rPr lang="en-US" dirty="0"/>
              <a:t> </a:t>
            </a:r>
            <a:r>
              <a:rPr lang="en-US" dirty="0" err="1"/>
              <a:t>tiếp</a:t>
            </a:r>
            <a:r>
              <a:rPr lang="en-US" dirty="0"/>
              <a:t> </a:t>
            </a:r>
            <a:r>
              <a:rPr lang="en-US" dirty="0" err="1"/>
              <a:t>tục</a:t>
            </a:r>
            <a:r>
              <a:rPr lang="en-US" dirty="0"/>
              <a:t> </a:t>
            </a:r>
            <a:r>
              <a:rPr lang="en-US" dirty="0" err="1"/>
              <a:t>khai</a:t>
            </a:r>
            <a:r>
              <a:rPr lang="en-US" dirty="0"/>
              <a:t> </a:t>
            </a:r>
            <a:r>
              <a:rPr lang="en-US" dirty="0" err="1"/>
              <a:t>thác</a:t>
            </a:r>
            <a:r>
              <a:rPr lang="en-US" dirty="0"/>
              <a:t> </a:t>
            </a:r>
            <a:r>
              <a:rPr lang="en-US" dirty="0" err="1"/>
              <a:t>thời</a:t>
            </a:r>
            <a:r>
              <a:rPr lang="en-US" dirty="0"/>
              <a:t> </a:t>
            </a:r>
            <a:r>
              <a:rPr lang="en-US" dirty="0" err="1"/>
              <a:t>gian</a:t>
            </a:r>
            <a:r>
              <a:rPr lang="en-US" dirty="0"/>
              <a:t> </a:t>
            </a:r>
            <a:r>
              <a:rPr lang="en-US" dirty="0" err="1"/>
              <a:t>xác</a:t>
            </a:r>
            <a:r>
              <a:rPr lang="en-US" dirty="0"/>
              <a:t> </a:t>
            </a:r>
            <a:r>
              <a:rPr lang="en-US" dirty="0" err="1"/>
              <a:t>nhận</a:t>
            </a:r>
            <a:r>
              <a:rPr lang="en-US" dirty="0"/>
              <a:t>, </a:t>
            </a:r>
            <a:r>
              <a:rPr lang="en-US" dirty="0" err="1"/>
              <a:t>cách</a:t>
            </a:r>
            <a:r>
              <a:rPr lang="en-US" dirty="0"/>
              <a:t> </a:t>
            </a:r>
            <a:r>
              <a:rPr lang="en-US" dirty="0" err="1"/>
              <a:t>phân</a:t>
            </a:r>
            <a:r>
              <a:rPr lang="en-US" dirty="0"/>
              <a:t> </a:t>
            </a:r>
            <a:r>
              <a:rPr lang="en-US" dirty="0" err="1"/>
              <a:t>tầng</a:t>
            </a:r>
            <a:r>
              <a:rPr lang="en-US" dirty="0"/>
              <a:t> </a:t>
            </a:r>
            <a:r>
              <a:rPr lang="en-US" dirty="0" err="1"/>
              <a:t>xác</a:t>
            </a:r>
            <a:r>
              <a:rPr lang="en-US" dirty="0"/>
              <a:t> </a:t>
            </a:r>
            <a:r>
              <a:rPr lang="en-US" dirty="0" err="1"/>
              <a:t>nhận</a:t>
            </a:r>
            <a:r>
              <a:rPr lang="en-US" dirty="0"/>
              <a:t> </a:t>
            </a:r>
            <a:r>
              <a:rPr lang="en-US" dirty="0" err="1"/>
              <a:t>và</a:t>
            </a:r>
            <a:r>
              <a:rPr lang="en-US" dirty="0"/>
              <a:t> </a:t>
            </a:r>
            <a:r>
              <a:rPr lang="en-US" dirty="0" err="1"/>
              <a:t>trải</a:t>
            </a:r>
            <a:r>
              <a:rPr lang="en-US" dirty="0"/>
              <a:t> </a:t>
            </a:r>
            <a:r>
              <a:rPr lang="en-US" dirty="0" err="1"/>
              <a:t>nghiệm</a:t>
            </a:r>
            <a:r>
              <a:rPr lang="en-US" dirty="0"/>
              <a:t> </a:t>
            </a:r>
            <a:r>
              <a:rPr lang="en-US" dirty="0" err="1"/>
              <a:t>của</a:t>
            </a:r>
            <a:r>
              <a:rPr lang="en-US" dirty="0"/>
              <a:t> </a:t>
            </a:r>
            <a:r>
              <a:rPr lang="en-US" dirty="0" err="1"/>
              <a:t>khách</a:t>
            </a:r>
            <a:r>
              <a:rPr lang="en-US" dirty="0"/>
              <a:t> </a:t>
            </a:r>
            <a:r>
              <a:rPr lang="en-US" dirty="0" err="1"/>
              <a:t>hàng</a:t>
            </a:r>
            <a:r>
              <a:rPr lang="en-US" dirty="0"/>
              <a: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790872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Nhóm mở rộng sang những khó khăn thực tế, các trường hợp đơn hàng nghiêm trọng và sự phối hợp giữa các bộ phận.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Nhóm thu thập các chỉ số về số lượng đơn hàng, phương thức thanh toán và thời gian xử lý đơn.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câu hỏi tiếp theo tập trung vào tỷ lệ hủy đơn và khối lượng công việc của bộ phận xác nhận đơn.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Cuối cùng là các số liệu thực tế về thời gian chờ, sai lệch tồn kho, giao lại, trả góp và tỷ lệ đơn hoàn tất.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Quy trình thứ ba nhóm trình bày là tuyển dụng nhân sự, thuộc nhóm Support Processes.</a:t>
            </a:r>
          </a:p>
          <a:p>
            <a:endParaRPr lang="vi-VN" dirty="0"/>
          </a:p>
          <a:p>
            <a:r>
              <a:rPr lang="vi-VN" dirty="0"/>
              <a:t>Quy trình có các tác nhân chính là ứng viên, quản lý đơn vị hoặc cửa hàng, Phòng Nhân sự và Ban Giám đốc.</a:t>
            </a:r>
          </a:p>
          <a:p>
            <a:endParaRPr lang="vi-VN" dirty="0"/>
          </a:p>
          <a:p>
            <a:r>
              <a:rPr lang="vi-VN" dirty="0"/>
              <a:t>Luồng chính bắt đầu từ đề xuất nhu cầu, phê duyệt, tìm kiếm và sàng lọc ứng viên, phỏng vấn, gửi đề nghị, tiếp nhận và thử việc, cuối cùng là đánh giá và ký hợp đồng.</a:t>
            </a:r>
          </a:p>
          <a:p>
            <a:endParaRPr lang="vi-VN" dirty="0"/>
          </a:p>
          <a:p>
            <a:r>
              <a:rPr lang="vi-VN" dirty="0"/>
              <a:t>Kết quả cuối cùng có thể là ứng viên không phù hợp, không tiếp tục nhận việc, thử việc không đạt hoặc ký hợp đồng chính thức.</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Đây là toàn bộ quy trình tuyển dụng nhân sự được nhóm mô hình hóa bằng BPMN.</a:t>
            </a:r>
          </a:p>
          <a:p>
            <a:endParaRPr lang="vi-VN" dirty="0"/>
          </a:p>
          <a:p>
            <a:r>
              <a:rPr lang="vi-VN" dirty="0"/>
              <a:t>Do sơ đồ có nhiều bước và các điểm quyết định nên khi thu nhỏ toàn bộ sơ đồ, một số nội dung sẽ khó quan sát.</a:t>
            </a:r>
          </a:p>
          <a:p>
            <a:endParaRPr lang="vi-VN" dirty="0"/>
          </a:p>
          <a:p>
            <a:r>
              <a:rPr lang="vi-VN" dirty="0"/>
              <a:t>Vì vậy, các slide tiếp theo sẽ tiếp tục phóng to những khu vực quan trọng của chính sơ đồ này.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Ở slide này, nhóm phóng to một số đoạn quan trọng trong quy trình tuyển dụng để dễ theo dõi.</a:t>
            </a:r>
          </a:p>
          <a:p>
            <a:endParaRPr lang="vi-VN" dirty="0"/>
          </a:p>
          <a:p>
            <a:r>
              <a:rPr lang="vi-VN" dirty="0"/>
              <a:t>Có thể thấy các điểm quyết định như sàng lọc CV và đánh giá kết quả thử việc có vai trò quyết định ứng viên có tiếp tục sang bước tiếp theo hay không.</a:t>
            </a:r>
          </a:p>
          <a:p>
            <a:endParaRPr lang="vi-VN" dirty="0"/>
          </a:p>
          <a:p>
            <a:r>
              <a:rPr lang="vi-VN" dirty="0"/>
              <a:t>Nếu ứng viên phù hợp thì tiếp tục phỏng vấn và tuyển dụng; nếu không phù hợp thì quy trình kết thúc hoặc chuyển sang hướng xử lý khác.</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Với quy trình tuyển dụng, nhóm xây dựng câu hỏi để kiểm tra mức độ rõ ràng của các bước từ đề xuất nhu cầu đến tuyển dụng.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a:t>
            </a:r>
            <a:r>
              <a:rPr lang="en-US" dirty="0" err="1"/>
              <a:t>câu</a:t>
            </a:r>
            <a:r>
              <a:rPr lang="en-US" dirty="0"/>
              <a:t> </a:t>
            </a:r>
            <a:r>
              <a:rPr lang="en-US" dirty="0" err="1"/>
              <a:t>hỏi</a:t>
            </a:r>
            <a:r>
              <a:rPr lang="en-US" dirty="0"/>
              <a:t> </a:t>
            </a:r>
            <a:r>
              <a:rPr lang="en-US" dirty="0" err="1"/>
              <a:t>tiếp</a:t>
            </a:r>
            <a:r>
              <a:rPr lang="en-US" dirty="0"/>
              <a:t> </a:t>
            </a:r>
            <a:r>
              <a:rPr lang="en-US" dirty="0" err="1"/>
              <a:t>tục</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việc</a:t>
            </a:r>
            <a:r>
              <a:rPr lang="en-US" dirty="0"/>
              <a:t> </a:t>
            </a:r>
            <a:r>
              <a:rPr lang="en-US" dirty="0" err="1"/>
              <a:t>sàng</a:t>
            </a:r>
            <a:r>
              <a:rPr lang="en-US" dirty="0"/>
              <a:t> </a:t>
            </a:r>
            <a:r>
              <a:rPr lang="en-US" dirty="0" err="1"/>
              <a:t>lọc</a:t>
            </a:r>
            <a:r>
              <a:rPr lang="en-US" dirty="0"/>
              <a:t> </a:t>
            </a:r>
            <a:r>
              <a:rPr lang="en-US" dirty="0" err="1"/>
              <a:t>ứng</a:t>
            </a:r>
            <a:r>
              <a:rPr lang="en-US" dirty="0"/>
              <a:t> </a:t>
            </a:r>
            <a:r>
              <a:rPr lang="en-US" dirty="0" err="1"/>
              <a:t>viên</a:t>
            </a:r>
            <a:r>
              <a:rPr lang="en-US" dirty="0"/>
              <a:t> </a:t>
            </a:r>
            <a:r>
              <a:rPr lang="en-US" dirty="0" err="1"/>
              <a:t>và</a:t>
            </a:r>
            <a:r>
              <a:rPr lang="en-US" dirty="0"/>
              <a:t> </a:t>
            </a:r>
            <a:r>
              <a:rPr lang="en-US" dirty="0" err="1"/>
              <a:t>đánh</a:t>
            </a:r>
            <a:r>
              <a:rPr lang="en-US" dirty="0"/>
              <a:t> </a:t>
            </a:r>
            <a:r>
              <a:rPr lang="en-US" dirty="0" err="1"/>
              <a:t>giá</a:t>
            </a:r>
            <a:r>
              <a:rPr lang="en-US" dirty="0"/>
              <a:t> </a:t>
            </a:r>
            <a:r>
              <a:rPr lang="en-US" dirty="0" err="1"/>
              <a:t>kết</a:t>
            </a:r>
            <a:r>
              <a:rPr lang="en-US" dirty="0"/>
              <a:t> </a:t>
            </a:r>
            <a:r>
              <a:rPr lang="en-US" dirty="0" err="1"/>
              <a:t>quả</a:t>
            </a:r>
            <a:r>
              <a:rPr lang="en-US" dirty="0"/>
              <a:t> </a:t>
            </a:r>
            <a:r>
              <a:rPr lang="en-US" dirty="0" err="1"/>
              <a:t>thử</a:t>
            </a:r>
            <a:r>
              <a:rPr lang="en-US" dirty="0"/>
              <a:t> </a:t>
            </a:r>
            <a:r>
              <a:rPr lang="en-US" dirty="0" err="1"/>
              <a:t>việc</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Nhóm</a:t>
            </a:r>
            <a:r>
              <a:rPr lang="en-US" dirty="0"/>
              <a:t> </a:t>
            </a:r>
            <a:r>
              <a:rPr lang="en-US" dirty="0" err="1"/>
              <a:t>khai</a:t>
            </a:r>
            <a:r>
              <a:rPr lang="en-US" dirty="0"/>
              <a:t> </a:t>
            </a:r>
            <a:r>
              <a:rPr lang="en-US" dirty="0" err="1"/>
              <a:t>thác</a:t>
            </a:r>
            <a:r>
              <a:rPr lang="en-US" dirty="0"/>
              <a:t> </a:t>
            </a:r>
            <a:r>
              <a:rPr lang="en-US" dirty="0" err="1"/>
              <a:t>thêm</a:t>
            </a:r>
            <a:r>
              <a:rPr lang="en-US" dirty="0"/>
              <a:t> </a:t>
            </a:r>
            <a:r>
              <a:rPr lang="en-US" dirty="0" err="1"/>
              <a:t>những</a:t>
            </a:r>
            <a:r>
              <a:rPr lang="en-US" dirty="0"/>
              <a:t> </a:t>
            </a:r>
            <a:r>
              <a:rPr lang="en-US" dirty="0" err="1"/>
              <a:t>khó</a:t>
            </a:r>
            <a:r>
              <a:rPr lang="en-US" dirty="0"/>
              <a:t> </a:t>
            </a:r>
            <a:r>
              <a:rPr lang="en-US" dirty="0" err="1"/>
              <a:t>khăn</a:t>
            </a:r>
            <a:r>
              <a:rPr lang="en-US" dirty="0"/>
              <a:t> </a:t>
            </a:r>
            <a:r>
              <a:rPr lang="en-US" dirty="0" err="1"/>
              <a:t>thực</a:t>
            </a:r>
            <a:r>
              <a:rPr lang="en-US" dirty="0"/>
              <a:t> </a:t>
            </a:r>
            <a:r>
              <a:rPr lang="en-US" dirty="0" err="1"/>
              <a:t>tế</a:t>
            </a:r>
            <a:r>
              <a:rPr lang="en-US" dirty="0"/>
              <a:t> </a:t>
            </a:r>
            <a:r>
              <a:rPr lang="en-US" dirty="0" err="1"/>
              <a:t>trong</a:t>
            </a:r>
            <a:r>
              <a:rPr lang="en-US" dirty="0"/>
              <a:t> </a:t>
            </a:r>
            <a:r>
              <a:rPr lang="en-US" dirty="0" err="1"/>
              <a:t>tuyển</a:t>
            </a:r>
            <a:r>
              <a:rPr lang="en-US" dirty="0"/>
              <a:t> </a:t>
            </a:r>
            <a:r>
              <a:rPr lang="en-US" dirty="0" err="1"/>
              <a:t>dụng</a:t>
            </a:r>
            <a:r>
              <a:rPr lang="en-US" dirty="0"/>
              <a:t>, </a:t>
            </a:r>
            <a:r>
              <a:rPr lang="en-US" dirty="0" err="1"/>
              <a:t>phỏng</a:t>
            </a:r>
            <a:r>
              <a:rPr lang="en-US" dirty="0"/>
              <a:t> </a:t>
            </a:r>
            <a:r>
              <a:rPr lang="en-US" dirty="0" err="1"/>
              <a:t>vấn</a:t>
            </a:r>
            <a:r>
              <a:rPr lang="en-US" dirty="0"/>
              <a:t> </a:t>
            </a:r>
            <a:r>
              <a:rPr lang="en-US" dirty="0" err="1"/>
              <a:t>và</a:t>
            </a:r>
            <a:r>
              <a:rPr lang="en-US" dirty="0"/>
              <a:t> </a:t>
            </a:r>
            <a:r>
              <a:rPr lang="en-US" dirty="0" err="1"/>
              <a:t>tiếp</a:t>
            </a:r>
            <a:r>
              <a:rPr lang="en-US" dirty="0"/>
              <a:t> </a:t>
            </a:r>
            <a:r>
              <a:rPr lang="en-US" dirty="0" err="1"/>
              <a:t>nhận</a:t>
            </a:r>
            <a:r>
              <a:rPr lang="en-US" dirty="0"/>
              <a:t> </a:t>
            </a:r>
            <a:r>
              <a:rPr lang="en-US" dirty="0" err="1"/>
              <a:t>nhân</a:t>
            </a:r>
            <a:r>
              <a:rPr lang="en-US" dirty="0"/>
              <a:t> </a:t>
            </a:r>
            <a:r>
              <a:rPr lang="en-US" dirty="0" err="1"/>
              <a:t>viên</a:t>
            </a:r>
            <a:r>
              <a:rPr lang="en-US" dirty="0"/>
              <a:t> </a:t>
            </a:r>
            <a:r>
              <a:rPr lang="en-US" dirty="0" err="1"/>
              <a:t>mới</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Đối với định lượng, nhóm thu thập các chỉ số về số lượng đề nghị, thời gian xử lý và số lượng CV.</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a:t>
            </a:r>
            <a:r>
              <a:rPr lang="en-US" dirty="0" err="1"/>
              <a:t>chỉ</a:t>
            </a:r>
            <a:r>
              <a:rPr lang="en-US" dirty="0"/>
              <a:t> </a:t>
            </a:r>
            <a:r>
              <a:rPr lang="en-US" dirty="0" err="1"/>
              <a:t>số</a:t>
            </a:r>
            <a:r>
              <a:rPr lang="en-US" dirty="0"/>
              <a:t> </a:t>
            </a:r>
            <a:r>
              <a:rPr lang="en-US" dirty="0" err="1"/>
              <a:t>tiếp</a:t>
            </a:r>
            <a:r>
              <a:rPr lang="en-US" dirty="0"/>
              <a:t> </a:t>
            </a:r>
            <a:r>
              <a:rPr lang="en-US" dirty="0" err="1"/>
              <a:t>theo</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tỷ</a:t>
            </a:r>
            <a:r>
              <a:rPr lang="en-US" dirty="0"/>
              <a:t> </a:t>
            </a:r>
            <a:r>
              <a:rPr lang="en-US" dirty="0" err="1"/>
              <a:t>lệ</a:t>
            </a:r>
            <a:r>
              <a:rPr lang="en-US" dirty="0"/>
              <a:t> </a:t>
            </a:r>
            <a:r>
              <a:rPr lang="en-US" dirty="0" err="1"/>
              <a:t>ứng</a:t>
            </a:r>
            <a:r>
              <a:rPr lang="en-US" dirty="0"/>
              <a:t> </a:t>
            </a:r>
            <a:r>
              <a:rPr lang="en-US" dirty="0" err="1"/>
              <a:t>viên</a:t>
            </a:r>
            <a:r>
              <a:rPr lang="en-US" dirty="0"/>
              <a:t> </a:t>
            </a:r>
            <a:r>
              <a:rPr lang="en-US" dirty="0" err="1"/>
              <a:t>đạt</a:t>
            </a:r>
            <a:r>
              <a:rPr lang="en-US" dirty="0"/>
              <a:t> </a:t>
            </a:r>
            <a:r>
              <a:rPr lang="en-US" dirty="0" err="1"/>
              <a:t>phỏng</a:t>
            </a:r>
            <a:r>
              <a:rPr lang="en-US" dirty="0"/>
              <a:t> </a:t>
            </a:r>
            <a:r>
              <a:rPr lang="en-US" dirty="0" err="1"/>
              <a:t>vấn</a:t>
            </a:r>
            <a:r>
              <a:rPr lang="en-US" dirty="0"/>
              <a:t> </a:t>
            </a:r>
            <a:r>
              <a:rPr lang="en-US" dirty="0" err="1"/>
              <a:t>và</a:t>
            </a:r>
            <a:r>
              <a:rPr lang="en-US" dirty="0"/>
              <a:t> </a:t>
            </a:r>
            <a:r>
              <a:rPr lang="en-US" dirty="0" err="1"/>
              <a:t>tỷ</a:t>
            </a:r>
            <a:r>
              <a:rPr lang="en-US" dirty="0"/>
              <a:t> </a:t>
            </a:r>
            <a:r>
              <a:rPr lang="en-US" dirty="0" err="1"/>
              <a:t>lệ</a:t>
            </a:r>
            <a:r>
              <a:rPr lang="en-US" dirty="0"/>
              <a:t> </a:t>
            </a:r>
            <a:r>
              <a:rPr lang="en-US" dirty="0" err="1"/>
              <a:t>nhân</a:t>
            </a:r>
            <a:r>
              <a:rPr lang="en-US" dirty="0"/>
              <a:t> </a:t>
            </a:r>
            <a:r>
              <a:rPr lang="en-US" dirty="0" err="1"/>
              <a:t>viên</a:t>
            </a:r>
            <a:r>
              <a:rPr lang="en-US" dirty="0"/>
              <a:t> </a:t>
            </a:r>
            <a:r>
              <a:rPr lang="en-US" dirty="0" err="1"/>
              <a:t>đạt</a:t>
            </a:r>
            <a:r>
              <a:rPr lang="en-US" dirty="0"/>
              <a:t> </a:t>
            </a:r>
            <a:r>
              <a:rPr lang="en-US" dirty="0" err="1"/>
              <a:t>thử</a:t>
            </a:r>
            <a:r>
              <a:rPr lang="en-US" dirty="0"/>
              <a:t> </a:t>
            </a:r>
            <a:r>
              <a:rPr lang="en-US" dirty="0" err="1"/>
              <a:t>việc</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Cuối</a:t>
            </a:r>
            <a:r>
              <a:rPr lang="en-US" dirty="0"/>
              <a:t> </a:t>
            </a:r>
            <a:r>
              <a:rPr lang="en-US" dirty="0" err="1"/>
              <a:t>cùng</a:t>
            </a:r>
            <a:r>
              <a:rPr lang="en-US" dirty="0"/>
              <a:t>, </a:t>
            </a:r>
            <a:r>
              <a:rPr lang="en-US" dirty="0" err="1"/>
              <a:t>nhóm</a:t>
            </a:r>
            <a:r>
              <a:rPr lang="en-US" dirty="0"/>
              <a:t> </a:t>
            </a:r>
            <a:r>
              <a:rPr lang="en-US" dirty="0" err="1"/>
              <a:t>đề</a:t>
            </a:r>
            <a:r>
              <a:rPr lang="en-US" dirty="0"/>
              <a:t> </a:t>
            </a:r>
            <a:r>
              <a:rPr lang="en-US" dirty="0" err="1"/>
              <a:t>xuất</a:t>
            </a:r>
            <a:r>
              <a:rPr lang="en-US" dirty="0"/>
              <a:t> </a:t>
            </a:r>
            <a:r>
              <a:rPr lang="en-US" dirty="0" err="1"/>
              <a:t>thu</a:t>
            </a:r>
            <a:r>
              <a:rPr lang="en-US" dirty="0"/>
              <a:t> </a:t>
            </a:r>
            <a:r>
              <a:rPr lang="en-US" dirty="0" err="1"/>
              <a:t>thập</a:t>
            </a:r>
            <a:r>
              <a:rPr lang="en-US" dirty="0"/>
              <a:t> </a:t>
            </a:r>
            <a:r>
              <a:rPr lang="en-US" dirty="0" err="1"/>
              <a:t>số</a:t>
            </a:r>
            <a:r>
              <a:rPr lang="en-US" dirty="0"/>
              <a:t> </a:t>
            </a:r>
            <a:r>
              <a:rPr lang="en-US" dirty="0" err="1"/>
              <a:t>liệu</a:t>
            </a:r>
            <a:r>
              <a:rPr lang="en-US" dirty="0"/>
              <a:t> </a:t>
            </a:r>
            <a:r>
              <a:rPr lang="en-US" dirty="0" err="1"/>
              <a:t>thực</a:t>
            </a:r>
            <a:r>
              <a:rPr lang="en-US" dirty="0"/>
              <a:t> </a:t>
            </a:r>
            <a:r>
              <a:rPr lang="en-US" dirty="0" err="1"/>
              <a:t>tế</a:t>
            </a:r>
            <a:r>
              <a:rPr lang="en-US" dirty="0"/>
              <a:t> </a:t>
            </a:r>
            <a:r>
              <a:rPr lang="en-US" dirty="0" err="1"/>
              <a:t>về</a:t>
            </a:r>
            <a:r>
              <a:rPr lang="en-US" dirty="0"/>
              <a:t> </a:t>
            </a:r>
            <a:r>
              <a:rPr lang="en-US" dirty="0" err="1"/>
              <a:t>thời</a:t>
            </a:r>
            <a:r>
              <a:rPr lang="en-US" dirty="0"/>
              <a:t> </a:t>
            </a:r>
            <a:r>
              <a:rPr lang="en-US" dirty="0" err="1"/>
              <a:t>gian</a:t>
            </a:r>
            <a:r>
              <a:rPr lang="en-US" dirty="0"/>
              <a:t> </a:t>
            </a:r>
            <a:r>
              <a:rPr lang="en-US" dirty="0" err="1"/>
              <a:t>tuyển</a:t>
            </a:r>
            <a:r>
              <a:rPr lang="en-US" dirty="0"/>
              <a:t> </a:t>
            </a:r>
            <a:r>
              <a:rPr lang="en-US" dirty="0" err="1"/>
              <a:t>dụng</a:t>
            </a:r>
            <a:r>
              <a:rPr lang="en-US" dirty="0"/>
              <a:t> </a:t>
            </a:r>
            <a:r>
              <a:rPr lang="en-US" dirty="0" err="1"/>
              <a:t>và</a:t>
            </a:r>
            <a:r>
              <a:rPr lang="en-US" dirty="0"/>
              <a:t> </a:t>
            </a:r>
            <a:r>
              <a:rPr lang="en-US" dirty="0" err="1"/>
              <a:t>kết</a:t>
            </a:r>
            <a:r>
              <a:rPr lang="en-US" dirty="0"/>
              <a:t> </a:t>
            </a:r>
            <a:r>
              <a:rPr lang="en-US" dirty="0" err="1"/>
              <a:t>quả</a:t>
            </a:r>
            <a:r>
              <a:rPr lang="en-US" dirty="0"/>
              <a:t> </a:t>
            </a:r>
            <a:r>
              <a:rPr lang="en-US" dirty="0" err="1"/>
              <a:t>tuyển</a:t>
            </a:r>
            <a:r>
              <a:rPr lang="en-US" dirty="0"/>
              <a:t> </a:t>
            </a:r>
            <a:r>
              <a:rPr lang="en-US" dirty="0" err="1"/>
              <a:t>dụng</a:t>
            </a:r>
            <a:r>
              <a:rPr lang="en-US" dirty="0"/>
              <a:t> </a:t>
            </a:r>
            <a:r>
              <a:rPr lang="en-US" dirty="0" err="1"/>
              <a:t>để</a:t>
            </a:r>
            <a:r>
              <a:rPr lang="en-US" dirty="0"/>
              <a:t> </a:t>
            </a:r>
            <a:r>
              <a:rPr lang="en-US" dirty="0" err="1"/>
              <a:t>phục</a:t>
            </a:r>
            <a:r>
              <a:rPr lang="en-US" dirty="0"/>
              <a:t> </a:t>
            </a:r>
            <a:r>
              <a:rPr lang="en-US" dirty="0" err="1"/>
              <a:t>vụ</a:t>
            </a:r>
            <a:r>
              <a:rPr lang="en-US" dirty="0"/>
              <a:t> </a:t>
            </a:r>
            <a:r>
              <a:rPr lang="en-US" dirty="0" err="1"/>
              <a:t>phân</a:t>
            </a:r>
            <a:r>
              <a:rPr lang="en-US" dirty="0"/>
              <a:t> </a:t>
            </a:r>
            <a:r>
              <a:rPr lang="en-US" dirty="0" err="1"/>
              <a:t>tích</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Từ những quy trình và dữ liệu cần thu thập ở trên, phần tiếp theo nhóm sẽ đi sâu vào phân tích quy trình bán hàng trực tuyến. Cụ thể, nhóm sẽ xem xét hoạt động nào tạo giá trị, hoạt động nào gây lãng phí, thời gian và chi phí của quy trình, cũng như các bên liên quan. Sau đây em xin chuyển phần trình bày cho bạn Hồ Phát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nhóm tiến hành phân tích giá trị gia tăng của quy trình bán hàng trực tuyến.</a:t>
            </a:r>
          </a:p>
          <a:p>
            <a:r>
              <a:rPr lang="vi-VN" dirty="0"/>
              <a:t>Dựa trên các hoạt động đã mô hình hóa, nhóm phân loại từng hoạt động thành ba nhóm gồm VA – hoạt động tạo giá trị, BVA – hoạt động cần thiết cho vận hành và NVA – hoạt động không tạo giá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Từ kết quả phân loại 24 hoạt động của quy trình bán hàng trực tuyến, nhóm tổng hợp được 8 hoạt động VA, 13 hoạt động BVA và 3 hoạt động NVA.</a:t>
            </a:r>
          </a:p>
          <a:p>
            <a:r>
              <a:rPr lang="vi-VN" dirty="0"/>
              <a:t>Trong đó, BVA chiếm tỷ trọng cao nhất với 54,2%, tiếp theo là VA với 33,3% và NVA là 12,5%.</a:t>
            </a:r>
          </a:p>
          <a:p>
            <a:r>
              <a:rPr lang="vi-VN" dirty="0"/>
              <a:t>Điều này cho thấy quy trình có khá nhiều hoạt động cần thiết cho vận hành nhưng không trực tiếp tạo giá trị cho khách hàng. Đây cũng là cơ sở để nhóm tiếp tục phân tích các dạng lãng phí và đề xuất cải tiến.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nhóm phân tích lãng phí theo ba biểu hiện chính.</a:t>
            </a:r>
          </a:p>
          <a:p>
            <a:endParaRPr lang="vi-VN" dirty="0"/>
          </a:p>
          <a:p>
            <a:r>
              <a:rPr lang="vi-VN" dirty="0"/>
              <a:t>Move là di chuyển không cần thiết, ví dụ giao lại hoặc vận chuyển hàng hoàn.</a:t>
            </a:r>
          </a:p>
          <a:p>
            <a:endParaRPr lang="vi-VN" dirty="0"/>
          </a:p>
          <a:p>
            <a:r>
              <a:rPr lang="vi-VN" dirty="0"/>
              <a:t>Hold là chờ hoặc lưu giữ, như chờ gọi xác nhận, chờ duyệt trả góp hoặc giữ hàng cho một đơn sau đó bị hủy.</a:t>
            </a:r>
          </a:p>
          <a:p>
            <a:endParaRPr lang="vi-VN" dirty="0"/>
          </a:p>
          <a:p>
            <a:r>
              <a:rPr lang="vi-VN" dirty="0"/>
              <a:t>Overdo là làm thừa, chẳng hạn xác nhận lại đơn đã thanh toán hoặc nhập liệu trùng.</a:t>
            </a:r>
          </a:p>
          <a:p>
            <a:endParaRPr lang="vi-VN" dirty="0"/>
          </a:p>
          <a:p>
            <a:r>
              <a:rPr lang="vi-VN" dirty="0"/>
              <a:t>Những lãng phí này làm tăng thời gian, nhân lực và chi phí. Vì vậy hướng xử lý là chuẩn hóa thông tin, tự động hóa dữ liệu và giảm những bước lặp lại.</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là phân tích thời gian.</a:t>
            </a:r>
          </a:p>
          <a:p>
            <a:endParaRPr lang="vi-VN" dirty="0"/>
          </a:p>
          <a:p>
            <a:r>
              <a:rPr lang="vi-VN" dirty="0"/>
              <a:t>Tổng thời gian xử lý thực tế chỉ khoảng 96,25 phút, trong khi thời gian chờ lên tới 2.679,6 phút.</a:t>
            </a:r>
          </a:p>
          <a:p>
            <a:endParaRPr lang="vi-VN" dirty="0"/>
          </a:p>
          <a:p>
            <a:r>
              <a:rPr lang="vi-VN" dirty="0"/>
              <a:t>Vì vậy tổng chu kỳ của một đơn theo mô hình là 2.775,85 phút, tương đương khoảng 46,26 giờ.</a:t>
            </a:r>
          </a:p>
          <a:p>
            <a:endParaRPr lang="vi-VN" dirty="0"/>
          </a:p>
          <a:p>
            <a:r>
              <a:rPr lang="vi-VN" dirty="0"/>
              <a:t>Khi lấy thời gian xử lý chia cho tổng chu kỳ, CTE chỉ đạt 3,47%.</a:t>
            </a:r>
          </a:p>
          <a:p>
            <a:endParaRPr lang="vi-VN" dirty="0"/>
          </a:p>
          <a:p>
            <a:r>
              <a:rPr lang="vi-VN" dirty="0"/>
              <a:t>Điều này cho thấy vấn đề lớn của quy trình không nằm ở thời gian nhân viên thực hiện công việc, mà nằm chủ yếu ở thời gian chờ giữa các bước.</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cho thấy các tỷ lệ tại những gateway của quy trình.</a:t>
            </a:r>
          </a:p>
          <a:p>
            <a:endParaRPr lang="vi-VN" dirty="0"/>
          </a:p>
          <a:p>
            <a:r>
              <a:rPr lang="vi-VN" dirty="0"/>
              <a:t>Theo mô hình, 95% đơn còn hàng và 5% hết hàng.</a:t>
            </a:r>
          </a:p>
          <a:p>
            <a:endParaRPr lang="vi-VN" dirty="0"/>
          </a:p>
          <a:p>
            <a:r>
              <a:rPr lang="vi-VN" dirty="0"/>
              <a:t>Trong số đó, 88% khách xác nhận và 12% không xác nhận.</a:t>
            </a:r>
          </a:p>
          <a:p>
            <a:endParaRPr lang="vi-VN" dirty="0"/>
          </a:p>
          <a:p>
            <a:r>
              <a:rPr lang="vi-VN" dirty="0"/>
              <a:t>Về phương thức thanh toán, COD chiếm 67%, thanh toán online 20% và trả góp 13%.</a:t>
            </a:r>
          </a:p>
          <a:p>
            <a:endParaRPr lang="vi-VN" dirty="0"/>
          </a:p>
          <a:p>
            <a:r>
              <a:rPr lang="vi-VN" dirty="0"/>
              <a:t>Những tỷ lệ này giúp nhóm mô phỏng được khả năng đơn hàng tiếp tục đi qua từng nhán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nhánh tiếp theo, với hồ sơ trả góp thì mô hình giả định 80% được duyệt và 20% bị từ chối.</a:t>
            </a:r>
          </a:p>
          <a:p>
            <a:endParaRPr lang="vi-VN" dirty="0"/>
          </a:p>
          <a:p>
            <a:r>
              <a:rPr lang="vi-VN" dirty="0"/>
              <a:t>Với thanh toán online, tỷ lệ thành công là 92%, thất bại 8%.</a:t>
            </a:r>
          </a:p>
          <a:p>
            <a:endParaRPr lang="vi-VN" dirty="0"/>
          </a:p>
          <a:p>
            <a:r>
              <a:rPr lang="vi-VN" dirty="0"/>
              <a:t>Về hình thức nhận hàng, 80% giao tại nhà và 20% nhận tại cửa hàng.</a:t>
            </a:r>
          </a:p>
          <a:p>
            <a:endParaRPr lang="vi-VN" dirty="0"/>
          </a:p>
          <a:p>
            <a:r>
              <a:rPr lang="vi-VN" dirty="0"/>
              <a:t>Cuối cùng, trong các đơn giao tận nơi, tỷ lệ giao thành công ngay lần đầu là 90%, còn 10% không thành công và có thể phát sinh giao lại.</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Từ các tỷ lệ phân nhánh trên, nhóm tính được một chuỗi kết quả.</a:t>
            </a:r>
          </a:p>
          <a:p>
            <a:endParaRPr lang="vi-VN" dirty="0"/>
          </a:p>
          <a:p>
            <a:r>
              <a:rPr lang="vi-VN" dirty="0"/>
              <a:t>Trên 100 đơn khởi tạo thì khoảng 95 đơn còn hàng.</a:t>
            </a:r>
          </a:p>
          <a:p>
            <a:endParaRPr lang="vi-VN" dirty="0"/>
          </a:p>
          <a:p>
            <a:r>
              <a:rPr lang="vi-VN" dirty="0"/>
              <a:t>Sau bước xác nhận còn khoảng 83,6 đơn, nghĩa là mất khoảng 11,4 đơn ở bước này.</a:t>
            </a:r>
          </a:p>
          <a:p>
            <a:endParaRPr lang="vi-VN" dirty="0"/>
          </a:p>
          <a:p>
            <a:r>
              <a:rPr lang="vi-VN" dirty="0"/>
              <a:t>Sau thanh toán còn khoảng 80,1 đơn, và cuối cùng tỷ lệ hoàn tất theo mô hình là khoảng 78,2%.</a:t>
            </a:r>
          </a:p>
          <a:p>
            <a:endParaRPr lang="vi-VN" dirty="0"/>
          </a:p>
          <a:p>
            <a:r>
              <a:rPr lang="vi-VN" dirty="0"/>
              <a:t>Vì vậy, nhóm xác định xác nhận đơn và giao hàng là hai khu vực nên ưu tiên cải tiến.</a:t>
            </a:r>
          </a:p>
          <a:p>
            <a:endParaRPr lang="vi-VN" dirty="0"/>
          </a:p>
          <a:p>
            <a:r>
              <a:rPr lang="vi-VN" dirty="0"/>
              <a:t>Hướng cải tiến là phân tầng xác nhận theo rủi ro, đồng thời chuẩn hóa địa chỉ và quy trình hẹn giao.</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là phân tích chi phí trên từng đơn hàng.</a:t>
            </a:r>
          </a:p>
          <a:p>
            <a:endParaRPr lang="vi-VN" dirty="0"/>
          </a:p>
          <a:p>
            <a:r>
              <a:rPr lang="vi-VN" dirty="0"/>
              <a:t>Một số khoản đáng chú ý gồm gọi điện xác nhận khoảng 9.800 đồng, phí cổng thanh toán online khoảng 19.800 đồng, soạn hàng 19.500 đồng, và đóng gói khoảng 28.000 đồng.</a:t>
            </a:r>
          </a:p>
          <a:p>
            <a:endParaRPr lang="vi-VN" dirty="0"/>
          </a:p>
          <a:p>
            <a:r>
              <a:rPr lang="vi-VN" dirty="0"/>
              <a:t>Trong đó, các hoạt động VA như soạn hàng, đóng gói và giao hàng tạo ra phần chi phí đáng kể vì đây là những hoạt động trực tiếp phục vụ khách hàng.</a:t>
            </a:r>
          </a:p>
          <a:p>
            <a:endParaRPr lang="vi-VN" dirty="0"/>
          </a:p>
          <a:p>
            <a:r>
              <a:rPr lang="vi-VN" dirty="0"/>
              <a:t>Ngoài ra còn có các chi phí BVA liên quan đến kiểm soát và xử lý hệ thống.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Tổng chi phí xử lý trên một đơn khởi tạo theo mô hình là 142.670 đồng.</a:t>
            </a:r>
          </a:p>
          <a:p>
            <a:endParaRPr lang="vi-VN" dirty="0"/>
          </a:p>
          <a:p>
            <a:r>
              <a:rPr lang="vi-VN" dirty="0"/>
              <a:t>Trong đó, chi phí VA là 85.800 đồng, BVA là 50.390 đồng và NVA là 6.480 đồng.</a:t>
            </a:r>
          </a:p>
          <a:p>
            <a:endParaRPr lang="vi-VN" dirty="0"/>
          </a:p>
          <a:p>
            <a:r>
              <a:rPr lang="vi-VN" dirty="0"/>
              <a:t>Tuy nhiên, không phải tất cả đơn khởi tạo đều hoàn tất. Khi quy đổi theo tỷ lệ hoàn tất khoảng 78,2%, chi phí trên một đơn hoàn tất tăng lên khoảng 182.442 đồng.</a:t>
            </a:r>
          </a:p>
          <a:p>
            <a:endParaRPr lang="vi-VN" dirty="0"/>
          </a:p>
          <a:p>
            <a:r>
              <a:rPr lang="vi-VN" dirty="0"/>
              <a:t>Điều này cho thấy những đơn thất bại làm chi phí của các đơn thành công tăng lên.</a:t>
            </a:r>
          </a:p>
          <a:p>
            <a:endParaRPr lang="vi-VN" dirty="0"/>
          </a:p>
          <a:p>
            <a:r>
              <a:rPr lang="vi-VN" dirty="0"/>
              <a:t>Vì vậy, cải thiện tỷ lệ hoàn tất không chỉ giúp tăng doanh thu mà còn giúp giảm chi phí bình quân trên một đơn thành công.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Tiếp theo là phân tích các bên liên quan.</a:t>
            </a:r>
          </a:p>
          <a:p>
            <a:endParaRPr lang="vi-VN" dirty="0"/>
          </a:p>
          <a:p>
            <a:r>
              <a:rPr lang="vi-VN" dirty="0"/>
              <a:t>Có ba nhóm có mức ảnh hưởng và quan tâm cao nổi bật là khách hàng, ban lãnh đạo và Telesales/CSKH.</a:t>
            </a:r>
          </a:p>
          <a:p>
            <a:endParaRPr lang="vi-VN" dirty="0"/>
          </a:p>
          <a:p>
            <a:r>
              <a:rPr lang="vi-VN" dirty="0"/>
              <a:t>Khách hàng quan tâm đến tốc độ xử lý, đúng hàng và đúng hẹn.</a:t>
            </a:r>
          </a:p>
          <a:p>
            <a:endParaRPr lang="vi-VN" dirty="0"/>
          </a:p>
          <a:p>
            <a:r>
              <a:rPr lang="vi-VN" dirty="0"/>
              <a:t>Ban lãnh đạo quan tâm đến tỷ lệ hoàn tất và hiệu quả vận hành.</a:t>
            </a:r>
          </a:p>
          <a:p>
            <a:endParaRPr lang="vi-VN" dirty="0"/>
          </a:p>
          <a:p>
            <a:r>
              <a:rPr lang="vi-VN" dirty="0"/>
              <a:t>Còn Telesales và CSKH mong muốn giảm các cuộc gọi lặp lại để tập trung vào tư vấn và xử lý ngoại lệ.</a:t>
            </a:r>
          </a:p>
          <a:p>
            <a:endParaRPr lang="vi-VN" dirty="0"/>
          </a:p>
          <a:p>
            <a:r>
              <a:rPr lang="vi-VN" dirty="0"/>
              <a:t>Ngoài ra còn có CNTT/OMS và công ty tài chính, đều có ảnh hưởng cao nhưng mức độ quan tâm được đánh giá ở mức trung bình.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Ở nhóm còn lại, cửa hàng và kho có mức quan tâm cao vì phải cân đối giữa khách tại quầy và đơn online.</a:t>
            </a:r>
          </a:p>
          <a:p>
            <a:endParaRPr lang="vi-VN" dirty="0"/>
          </a:p>
          <a:p>
            <a:r>
              <a:rPr lang="vi-VN" dirty="0"/>
              <a:t>Giao vận quan tâm đến tỷ lệ giao thành công lần đầu và tối ưu lộ trình.</a:t>
            </a:r>
          </a:p>
          <a:p>
            <a:endParaRPr lang="vi-VN" dirty="0"/>
          </a:p>
          <a:p>
            <a:r>
              <a:rPr lang="vi-VN" dirty="0"/>
              <a:t>Kế toán cần đối soát chính xác và kịp thời.</a:t>
            </a:r>
          </a:p>
          <a:p>
            <a:endParaRPr lang="vi-VN" dirty="0"/>
          </a:p>
          <a:p>
            <a:r>
              <a:rPr lang="vi-VN" dirty="0"/>
              <a:t>Đối tác vận chuyển quan tâm đến địa chỉ chính xác và sản lượng ổn định.</a:t>
            </a:r>
          </a:p>
          <a:p>
            <a:endParaRPr lang="vi-VN" dirty="0"/>
          </a:p>
          <a:p>
            <a:r>
              <a:rPr lang="vi-VN" dirty="0"/>
              <a:t>Qua đó có thể thấy một thay đổi trong quy trình bán hàng online không chỉ ảnh hưởng đến một bộ phận mà có thể tác động đến rất nhiều bên.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Cuối cùng, nhóm sử dụng biểu đồ Pareto để xác định nguyên nhân thất thoát đơn hàng cần ưu tiên xử lý.</a:t>
            </a:r>
          </a:p>
          <a:p>
            <a:endParaRPr lang="vi-VN" dirty="0"/>
          </a:p>
          <a:p>
            <a:r>
              <a:rPr lang="vi-VN" dirty="0"/>
              <a:t>Tổng cộng mô hình có 21,8 đơn thất thoát trên mỗi 100 đơn khởi tạo.</a:t>
            </a:r>
          </a:p>
          <a:p>
            <a:endParaRPr lang="vi-VN" dirty="0"/>
          </a:p>
          <a:p>
            <a:r>
              <a:rPr lang="vi-VN" dirty="0"/>
              <a:t>Nguyên nhân lớn nhất là không liên lạc được với khách khi gọi xác nhận, chiếm khoảng 52,3% số đơn thất thoát.</a:t>
            </a:r>
          </a:p>
          <a:p>
            <a:endParaRPr lang="vi-VN" dirty="0"/>
          </a:p>
          <a:p>
            <a:r>
              <a:rPr lang="vi-VN" dirty="0"/>
              <a:t>Tiếp theo là hết hàng do lệch tồn kho, khoảng 22,9%.</a:t>
            </a:r>
          </a:p>
          <a:p>
            <a:endParaRPr lang="vi-VN" dirty="0"/>
          </a:p>
          <a:p>
            <a:r>
              <a:rPr lang="vi-VN" dirty="0"/>
              <a:t>Chỉ riêng hai nguyên nhân đầu đã đưa tỷ lệ tích lũy lên khoảng 75,2%.</a:t>
            </a:r>
          </a:p>
          <a:p>
            <a:endParaRPr lang="vi-VN" dirty="0"/>
          </a:p>
          <a:p>
            <a:r>
              <a:rPr lang="vi-VN" dirty="0"/>
              <a:t>Khi cộng thêm nguyên nhân hồ sơ trả góp bị từ chối thì tỷ lệ tích lũy đạt khoảng 85,3%.</a:t>
            </a:r>
          </a:p>
          <a:p>
            <a:endParaRPr lang="vi-VN" dirty="0"/>
          </a:p>
          <a:p>
            <a:r>
              <a:rPr lang="vi-VN" dirty="0"/>
              <a:t>Vì vậy, nếu nguồn lực cải tiến có hạn, nhóm nên ưu tiên trước cho bước xác nhận đơn và vấn đề tồn kho.</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Qua quá trình nghiên cứu, nhóm đã xây dựng kiến trúc gồm 17 quy trình, chia thành 5 quy trình quản lý, 8 quy trình cốt lõi và 4 quy trình hỗ trợ.</a:t>
            </a:r>
          </a:p>
          <a:p>
            <a:endParaRPr lang="vi-VN" dirty="0"/>
          </a:p>
          <a:p>
            <a:r>
              <a:rPr lang="vi-VN" dirty="0"/>
              <a:t>Đối với quy trình bán hàng trực tuyến, nhóm đã phân tích 24 hoạt động, trong đó có 8 VA, 13 BVA và 3 NVA.</a:t>
            </a:r>
          </a:p>
          <a:p>
            <a:endParaRPr lang="vi-VN" dirty="0"/>
          </a:p>
          <a:p>
            <a:r>
              <a:rPr lang="vi-VN" dirty="0"/>
              <a:t>Về định lượng, chu kỳ của quy trình theo mô hình khoảng 46,26 giờ, nhưng CTE chỉ đạt 3,47%, cho thấy thời gian chờ là vấn đề rất đáng chú ý.</a:t>
            </a:r>
          </a:p>
          <a:p>
            <a:endParaRPr lang="vi-VN" dirty="0"/>
          </a:p>
          <a:p>
            <a:r>
              <a:rPr lang="vi-VN" dirty="0"/>
              <a:t>Tỷ lệ hoàn tất theo mô hình khoảng 78,2%.</a:t>
            </a:r>
          </a:p>
          <a:p>
            <a:endParaRPr lang="vi-VN" dirty="0"/>
          </a:p>
          <a:p>
            <a:r>
              <a:rPr lang="vi-VN" dirty="0"/>
              <a:t>Từ đó, nhóm đề xuất các hướng chính gồm phân tầng xác nhận đơn, giảm thời gian chờ, chuẩn hóa thông tin và hẹn giao, đồng thời tăng mức độ tích hợp dữ liệu.</a:t>
            </a:r>
          </a:p>
          <a:p>
            <a:endParaRPr lang="vi-VN" dirty="0"/>
          </a:p>
          <a:p>
            <a:r>
              <a:rPr lang="vi-VN" dirty="0"/>
              <a:t>Nhìn chung, mục tiêu của các cải tiến là vừa nâng cao trải nghiệm khách hàng, vừa giảm chi phí và nâng cao hiệu quả vận hành.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Trên đây là toàn bộ phần trình bày của nhóm 8 về hệ thống quy trình nghiệp vụ tại FPT Shop.</a:t>
            </a:r>
          </a:p>
          <a:p>
            <a:endParaRPr lang="vi-VN" dirty="0"/>
          </a:p>
          <a:p>
            <a:r>
              <a:rPr lang="vi-VN" dirty="0"/>
              <a:t>Nhóm xin cảm ơn </a:t>
            </a:r>
            <a:r>
              <a:rPr lang="en-US" dirty="0" err="1"/>
              <a:t>thầy</a:t>
            </a:r>
            <a:r>
              <a:rPr lang="vi-VN" dirty="0"/>
              <a:t> và các bạn đã lắng nghe.</a:t>
            </a:r>
          </a:p>
          <a:p>
            <a:endParaRPr lang="vi-VN" dirty="0"/>
          </a:p>
          <a:p>
            <a:r>
              <a:rPr lang="vi-VN" dirty="0"/>
              <a:t>Nhóm rất mong nhận được câu hỏi, nhận xét và góp ý từ cô và các bạn. Nhóm xin phép được trả lời phần Q&amp;A.</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5CC11C-9F3C-4801-A5B8-1EB217EB9A3A}"/>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036D439-0E73-4392-A9D1-DB40D6A1D843}"/>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AED8D72-39BA-4813-BE9A-5896B83C2C1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3574399-47D7-4DFE-841F-7CBC1D185DA3}"/>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63A1E588-873C-49E4-A7B4-C071921A31F0}"/>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271C43D6-2330-42E7-B7B5-7400A7FA4873}"/>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CF8A0900-F5E1-4D59-A602-AB1E03354068}"/>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75A24BE-7317-4DD6-81AF-C3D9A22C2390}"/>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9BE8A7C2-3867-4E64-B9BA-2969AABE627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BA8BF9B7-B58D-4A1E-B783-E2C5DE9BA49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B79444E-2FEF-457A-B9A8-5DB6F9015EAF}"/>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5A54038-D365-4073-9E33-FE7D4FC106DE}"/>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A6349F5B-B8DE-4F73-AD5D-4EE4A5157851}"/>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6384A8-3645-4409-97CD-214A1F577CD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E67814AE-C778-44B3-874E-734AA82C69D7}"/>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EA007EB5-A087-4079-8D0A-CC1711AEF46A}"/>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CCF1187D-22E6-476B-8232-89860501D41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92207862-5C10-4EC6-ACDA-5F590A006E2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8462D05-CCAD-4D78-A04E-CD858C17C332}"/>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E3202425-D841-46E9-B743-2A5CD5469D55}"/>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3C480BB1-7A5A-4EA9-9FFA-AF398F1B3B58}"/>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2BD954FB-597A-47E3-9084-321EF22D1C2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EBDB9D8-6335-4462-885E-260CB94BAD31}"/>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F098F66B-8E04-4B20-91D8-694E3F9E7C8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B266D2B-4EA7-4140-85DD-4E5DDBF47C5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75575F64-6AFF-42B2-8BCA-F255C6E350CD}"/>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A3D82C0E-E6F8-4BBE-8DD1-D59A3A499870}"/>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3BBAEA0-C484-4F3B-8586-B35BC61323D7}"/>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04998151-1E82-4B41-92E2-359CDEB20B7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CF18467F-5A25-42FF-BAD4-22293F1A5D54}"/>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0C3FB8E-36B3-4877-908E-E248DEF9A22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F1BE9BD3-9958-4803-9DCC-1F21F76C95E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57A7F0A8-5AB7-4F59-B55D-3AA405035D87}"/>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176F6BA3-9A04-4715-B065-EDD40C5AC44C}"/>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FED2EFED-A076-45F8-9EEA-A0E7F947BC7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3EFAFA65-725E-44A6-BAAA-0A23F747953D}"/>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8C50E4F-F5CE-4418-83BC-758110F9E70E}"/>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0DB5F52-9B78-4BD4-8279-E5199A3350EE}"/>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8C251EE7-B0CA-4D19-BA4D-4CBCFCEDF4FA}"/>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7307CBA-4C5A-4599-8903-AF15BEA22CC5}"/>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953831D1-ADEE-4D37-8904-386C0634E1F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0AF42F2-2DC5-4514-AAF3-C433C4DAED57}"/>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5B28F3F4-F236-4F2C-A089-18E8CD36A13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7FFEA110-EC4E-458B-99D9-B3538DC373E9}"/>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D311505-5119-4998-A9F8-67EE39C20A1A}"/>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C6B9823A-FA75-46F5-8859-0C42C1D8DE8E}"/>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FA847331-BE75-472F-9F64-51484B74675C}"/>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8DEBE1CA-A31B-4C3D-BBD6-73DFF0D3C96E}"/>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7" name="Shape 55">
            <a:extLst>
              <a:ext uri="{FF2B5EF4-FFF2-40B4-BE49-F238E27FC236}">
                <a16:creationId xmlns:a16="http://schemas.microsoft.com/office/drawing/2014/main" id="{D4D1E4F3-D27D-4EC2-8CBB-BB8CA0F3CE4A}"/>
              </a:ext>
            </a:extLst>
          </p:cNvPr>
          <p:cNvSpPr>
            <a:spLocks noGrp="1"/>
          </p:cNvSpPr>
          <p:nvPr/>
        </p:nvSpPr>
        <p:spPr>
          <a:xfrm>
            <a:off x="9829800" y="6144768"/>
            <a:ext cx="1783080" cy="713232"/>
          </a:xfrm>
          <a:prstGeom prst="parallelogram">
            <a:avLst/>
          </a:prstGeom>
          <a:solidFill>
            <a:srgbClr val="0A4FC5">
              <a:alpha val="90000"/>
            </a:srgbClr>
          </a:solidFill>
          <a:ln w="12700">
            <a:solidFill>
              <a:srgbClr val="0A4FC5">
                <a:alpha val="0"/>
              </a:srgbClr>
            </a:solidFill>
            <a:prstDash val="solid"/>
          </a:ln>
        </p:spPr>
        <p:txBody>
          <a:bodyPr/>
          <a:lstStyle/>
          <a:p>
            <a:endParaRPr/>
          </a:p>
        </p:txBody>
      </p:sp>
      <p:sp>
        <p:nvSpPr>
          <p:cNvPr id="59" name="Text 57">
            <a:extLst>
              <a:ext uri="{FF2B5EF4-FFF2-40B4-BE49-F238E27FC236}">
                <a16:creationId xmlns:a16="http://schemas.microsoft.com/office/drawing/2014/main" id="{8F8336FF-426C-4552-B77C-AC482F27F556}"/>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61" name="Text 58">
            <a:extLst>
              <a:ext uri="{FF2B5EF4-FFF2-40B4-BE49-F238E27FC236}">
                <a16:creationId xmlns:a16="http://schemas.microsoft.com/office/drawing/2014/main" id="{D89536DE-EE89-4482-B153-B080F067CFD9}"/>
              </a:ext>
            </a:extLst>
          </p:cNvPr>
          <p:cNvSpPr>
            <a:spLocks noGrp="1"/>
          </p:cNvSpPr>
          <p:nvPr/>
        </p:nvSpPr>
        <p:spPr>
          <a:xfrm>
            <a:off x="594360" y="1572768"/>
            <a:ext cx="10789920" cy="640080"/>
          </a:xfrm>
          <a:prstGeom prst="rect">
            <a:avLst/>
          </a:prstGeom>
          <a:noFill/>
        </p:spPr>
        <p:txBody>
          <a:bodyPr wrap="square" lIns="0" tIns="0" rIns="0" bIns="0" anchor="ctr">
            <a:noAutofit/>
          </a:bodyPr>
          <a:lstStyle/>
          <a:p>
            <a:pPr algn="ctr">
              <a:lnSpc>
                <a:spcPct val="104000"/>
              </a:lnSpc>
              <a:buNone/>
              <a:defRPr sz="2400" b="1">
                <a:solidFill>
                  <a:srgbClr val="062B8D"/>
                </a:solidFill>
                <a:latin typeface="Arial"/>
                <a:ea typeface="Arial"/>
                <a:cs typeface="Arial"/>
              </a:defRPr>
            </a:pPr>
            <a:r>
              <a:rPr sz="2400" b="1">
                <a:solidFill>
                  <a:srgbClr val="062B8D"/>
                </a:solidFill>
                <a:latin typeface="Arial"/>
                <a:ea typeface="Arial"/>
                <a:cs typeface="Arial"/>
              </a:rPr>
              <a:t>HỆ THỐNG QUẢN TRỊ QUY TRÌNH NGHIỆP VỤ</a:t>
            </a:r>
          </a:p>
        </p:txBody>
      </p:sp>
      <p:sp>
        <p:nvSpPr>
          <p:cNvPr id="62" name="Text 59">
            <a:extLst>
              <a:ext uri="{FF2B5EF4-FFF2-40B4-BE49-F238E27FC236}">
                <a16:creationId xmlns:a16="http://schemas.microsoft.com/office/drawing/2014/main" id="{EEE0C576-477A-4AC5-A906-33F82448012F}"/>
              </a:ext>
            </a:extLst>
          </p:cNvPr>
          <p:cNvSpPr>
            <a:spLocks noGrp="1"/>
          </p:cNvSpPr>
          <p:nvPr/>
        </p:nvSpPr>
        <p:spPr>
          <a:xfrm>
            <a:off x="868680" y="2514600"/>
            <a:ext cx="914400" cy="292608"/>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Đề tài:</a:t>
            </a:r>
          </a:p>
        </p:txBody>
      </p:sp>
      <p:sp>
        <p:nvSpPr>
          <p:cNvPr id="63" name="Text 60">
            <a:extLst>
              <a:ext uri="{FF2B5EF4-FFF2-40B4-BE49-F238E27FC236}">
                <a16:creationId xmlns:a16="http://schemas.microsoft.com/office/drawing/2014/main" id="{2E09BB53-ECA0-4944-8046-5064EA327A31}"/>
              </a:ext>
            </a:extLst>
          </p:cNvPr>
          <p:cNvSpPr>
            <a:spLocks noGrp="1"/>
          </p:cNvSpPr>
          <p:nvPr/>
        </p:nvSpPr>
        <p:spPr>
          <a:xfrm>
            <a:off x="2143124" y="2465440"/>
            <a:ext cx="6750153" cy="552968"/>
          </a:xfrm>
          <a:prstGeom prst="rect">
            <a:avLst/>
          </a:prstGeom>
          <a:noFill/>
        </p:spPr>
        <p:txBody>
          <a:bodyPr wrap="square" lIns="0" tIns="0" rIns="0" bIns="0" anchor="t">
            <a:noAutofit/>
          </a:bodyPr>
          <a:lstStyle/>
          <a:p>
            <a:pPr>
              <a:lnSpc>
                <a:spcPct val="104000"/>
              </a:lnSpc>
              <a:buNone/>
              <a:defRPr sz="1650" b="1">
                <a:solidFill>
                  <a:srgbClr val="17325C"/>
                </a:solidFill>
                <a:latin typeface="Arial"/>
                <a:ea typeface="Arial"/>
                <a:cs typeface="Arial"/>
              </a:defRPr>
            </a:pPr>
            <a:r>
              <a:rPr sz="1650" b="1" dirty="0" err="1">
                <a:solidFill>
                  <a:srgbClr val="17325C"/>
                </a:solidFill>
                <a:latin typeface="Arial"/>
                <a:ea typeface="Arial"/>
                <a:cs typeface="Arial"/>
              </a:rPr>
              <a:t>Tìm</a:t>
            </a:r>
            <a:r>
              <a:rPr sz="1650" b="1" dirty="0">
                <a:solidFill>
                  <a:srgbClr val="17325C"/>
                </a:solidFill>
                <a:latin typeface="Arial"/>
                <a:ea typeface="Arial"/>
                <a:cs typeface="Arial"/>
              </a:rPr>
              <a:t> </a:t>
            </a:r>
            <a:r>
              <a:rPr sz="1650" b="1" dirty="0" err="1">
                <a:solidFill>
                  <a:srgbClr val="17325C"/>
                </a:solidFill>
                <a:latin typeface="Arial"/>
                <a:ea typeface="Arial"/>
                <a:cs typeface="Arial"/>
              </a:rPr>
              <a:t>hiểu</a:t>
            </a:r>
            <a:r>
              <a:rPr sz="1650" b="1" dirty="0">
                <a:solidFill>
                  <a:srgbClr val="17325C"/>
                </a:solidFill>
                <a:latin typeface="Arial"/>
                <a:ea typeface="Arial"/>
                <a:cs typeface="Arial"/>
              </a:rPr>
              <a:t> </a:t>
            </a:r>
            <a:r>
              <a:rPr sz="1650" b="1" dirty="0" err="1">
                <a:solidFill>
                  <a:srgbClr val="17325C"/>
                </a:solidFill>
                <a:latin typeface="Arial"/>
                <a:ea typeface="Arial"/>
                <a:cs typeface="Arial"/>
              </a:rPr>
              <a:t>hệ</a:t>
            </a:r>
            <a:r>
              <a:rPr sz="1650" b="1" dirty="0">
                <a:solidFill>
                  <a:srgbClr val="17325C"/>
                </a:solidFill>
                <a:latin typeface="Arial"/>
                <a:ea typeface="Arial"/>
                <a:cs typeface="Arial"/>
              </a:rPr>
              <a:t> </a:t>
            </a:r>
            <a:r>
              <a:rPr sz="1650" b="1" dirty="0" err="1">
                <a:solidFill>
                  <a:srgbClr val="17325C"/>
                </a:solidFill>
                <a:latin typeface="Arial"/>
                <a:ea typeface="Arial"/>
                <a:cs typeface="Arial"/>
              </a:rPr>
              <a:t>thống</a:t>
            </a:r>
            <a:r>
              <a:rPr sz="1650" b="1" dirty="0">
                <a:solidFill>
                  <a:srgbClr val="17325C"/>
                </a:solidFill>
                <a:latin typeface="Arial"/>
                <a:ea typeface="Arial"/>
                <a:cs typeface="Arial"/>
              </a:rPr>
              <a:t> </a:t>
            </a:r>
            <a:r>
              <a:rPr sz="1650" b="1" dirty="0" err="1">
                <a:solidFill>
                  <a:srgbClr val="17325C"/>
                </a:solidFill>
                <a:latin typeface="Arial"/>
                <a:ea typeface="Arial"/>
                <a:cs typeface="Arial"/>
              </a:rPr>
              <a:t>quy</a:t>
            </a:r>
            <a:r>
              <a:rPr sz="1650" b="1" dirty="0">
                <a:solidFill>
                  <a:srgbClr val="17325C"/>
                </a:solidFill>
                <a:latin typeface="Arial"/>
                <a:ea typeface="Arial"/>
                <a:cs typeface="Arial"/>
              </a:rPr>
              <a:t> </a:t>
            </a:r>
            <a:r>
              <a:rPr sz="1650" b="1" dirty="0" err="1">
                <a:solidFill>
                  <a:srgbClr val="17325C"/>
                </a:solidFill>
                <a:latin typeface="Arial"/>
                <a:ea typeface="Arial"/>
                <a:cs typeface="Arial"/>
              </a:rPr>
              <a:t>trình</a:t>
            </a:r>
            <a:r>
              <a:rPr sz="1650" b="1" dirty="0">
                <a:solidFill>
                  <a:srgbClr val="17325C"/>
                </a:solidFill>
                <a:latin typeface="Arial"/>
                <a:ea typeface="Arial"/>
                <a:cs typeface="Arial"/>
              </a:rPr>
              <a:t> </a:t>
            </a:r>
            <a:r>
              <a:rPr sz="1650" b="1" dirty="0" err="1">
                <a:solidFill>
                  <a:srgbClr val="17325C"/>
                </a:solidFill>
                <a:latin typeface="Arial"/>
                <a:ea typeface="Arial"/>
                <a:cs typeface="Arial"/>
              </a:rPr>
              <a:t>nghiệp</a:t>
            </a:r>
            <a:r>
              <a:rPr sz="1650" b="1" dirty="0">
                <a:solidFill>
                  <a:srgbClr val="17325C"/>
                </a:solidFill>
                <a:latin typeface="Arial"/>
                <a:ea typeface="Arial"/>
                <a:cs typeface="Arial"/>
              </a:rPr>
              <a:t> </a:t>
            </a:r>
            <a:r>
              <a:rPr sz="1650" b="1" dirty="0" err="1">
                <a:solidFill>
                  <a:srgbClr val="17325C"/>
                </a:solidFill>
                <a:latin typeface="Arial"/>
                <a:ea typeface="Arial"/>
                <a:cs typeface="Arial"/>
              </a:rPr>
              <a:t>vụ</a:t>
            </a:r>
            <a:r>
              <a:rPr sz="1650" b="1" dirty="0">
                <a:solidFill>
                  <a:srgbClr val="17325C"/>
                </a:solidFill>
                <a:latin typeface="Arial"/>
                <a:ea typeface="Arial"/>
                <a:cs typeface="Arial"/>
              </a:rPr>
              <a:t> </a:t>
            </a:r>
            <a:r>
              <a:rPr sz="1650" b="1" dirty="0" err="1">
                <a:solidFill>
                  <a:srgbClr val="17325C"/>
                </a:solidFill>
                <a:latin typeface="Arial"/>
                <a:ea typeface="Arial"/>
                <a:cs typeface="Arial"/>
              </a:rPr>
              <a:t>tại</a:t>
            </a:r>
            <a:r>
              <a:rPr sz="1650" b="1" dirty="0">
                <a:solidFill>
                  <a:srgbClr val="17325C"/>
                </a:solidFill>
                <a:latin typeface="Arial"/>
                <a:ea typeface="Arial"/>
                <a:cs typeface="Arial"/>
              </a:rPr>
              <a:t> </a:t>
            </a:r>
            <a:r>
              <a:rPr sz="1650" b="1" dirty="0" err="1">
                <a:solidFill>
                  <a:srgbClr val="17325C"/>
                </a:solidFill>
                <a:latin typeface="Arial"/>
                <a:ea typeface="Arial"/>
                <a:cs typeface="Arial"/>
              </a:rPr>
              <a:t>công</a:t>
            </a:r>
            <a:r>
              <a:rPr sz="1650" b="1" dirty="0">
                <a:solidFill>
                  <a:srgbClr val="17325C"/>
                </a:solidFill>
                <a:latin typeface="Arial"/>
                <a:ea typeface="Arial"/>
                <a:cs typeface="Arial"/>
              </a:rPr>
              <a:t> ty </a:t>
            </a:r>
            <a:r>
              <a:rPr sz="1650" b="1" dirty="0" err="1">
                <a:solidFill>
                  <a:srgbClr val="17325C"/>
                </a:solidFill>
                <a:latin typeface="Arial"/>
                <a:ea typeface="Arial"/>
                <a:cs typeface="Arial"/>
              </a:rPr>
              <a:t>cổ</a:t>
            </a:r>
            <a:r>
              <a:rPr sz="1650" b="1" dirty="0">
                <a:solidFill>
                  <a:srgbClr val="17325C"/>
                </a:solidFill>
                <a:latin typeface="Arial"/>
                <a:ea typeface="Arial"/>
                <a:cs typeface="Arial"/>
              </a:rPr>
              <a:t> </a:t>
            </a:r>
            <a:r>
              <a:rPr sz="1650" b="1" dirty="0" err="1">
                <a:solidFill>
                  <a:srgbClr val="17325C"/>
                </a:solidFill>
                <a:latin typeface="Arial"/>
                <a:ea typeface="Arial"/>
                <a:cs typeface="Arial"/>
              </a:rPr>
              <a:t>phần</a:t>
            </a:r>
            <a:r>
              <a:rPr sz="1650" b="1" dirty="0">
                <a:solidFill>
                  <a:srgbClr val="17325C"/>
                </a:solidFill>
                <a:latin typeface="Arial"/>
                <a:ea typeface="Arial"/>
                <a:cs typeface="Arial"/>
              </a:rPr>
              <a:t> </a:t>
            </a:r>
            <a:r>
              <a:rPr sz="1650" b="1" dirty="0" err="1">
                <a:solidFill>
                  <a:srgbClr val="17325C"/>
                </a:solidFill>
                <a:latin typeface="Arial"/>
                <a:ea typeface="Arial"/>
                <a:cs typeface="Arial"/>
              </a:rPr>
              <a:t>bán</a:t>
            </a:r>
            <a:r>
              <a:rPr sz="1650" b="1" dirty="0">
                <a:solidFill>
                  <a:srgbClr val="17325C"/>
                </a:solidFill>
                <a:latin typeface="Arial"/>
                <a:ea typeface="Arial"/>
                <a:cs typeface="Arial"/>
              </a:rPr>
              <a:t> </a:t>
            </a:r>
            <a:r>
              <a:rPr sz="1650" b="1" dirty="0" err="1">
                <a:solidFill>
                  <a:srgbClr val="17325C"/>
                </a:solidFill>
                <a:latin typeface="Arial"/>
                <a:ea typeface="Arial"/>
                <a:cs typeface="Arial"/>
              </a:rPr>
              <a:t>lẻ</a:t>
            </a:r>
            <a:r>
              <a:rPr sz="1650" b="1" dirty="0">
                <a:solidFill>
                  <a:srgbClr val="17325C"/>
                </a:solidFill>
                <a:latin typeface="Arial"/>
                <a:ea typeface="Arial"/>
                <a:cs typeface="Arial"/>
              </a:rPr>
              <a:t> </a:t>
            </a:r>
            <a:r>
              <a:rPr sz="1650" b="1" dirty="0" err="1">
                <a:solidFill>
                  <a:srgbClr val="17325C"/>
                </a:solidFill>
                <a:latin typeface="Arial"/>
                <a:ea typeface="Arial"/>
                <a:cs typeface="Arial"/>
              </a:rPr>
              <a:t>kỹ</a:t>
            </a:r>
            <a:r>
              <a:rPr sz="1650" b="1" dirty="0">
                <a:solidFill>
                  <a:srgbClr val="17325C"/>
                </a:solidFill>
                <a:latin typeface="Arial"/>
                <a:ea typeface="Arial"/>
                <a:cs typeface="Arial"/>
              </a:rPr>
              <a:t> </a:t>
            </a:r>
            <a:r>
              <a:rPr sz="1650" b="1" dirty="0" err="1">
                <a:solidFill>
                  <a:srgbClr val="17325C"/>
                </a:solidFill>
                <a:latin typeface="Arial"/>
                <a:ea typeface="Arial"/>
                <a:cs typeface="Arial"/>
              </a:rPr>
              <a:t>thuật</a:t>
            </a:r>
            <a:r>
              <a:rPr sz="1650" b="1" dirty="0">
                <a:solidFill>
                  <a:srgbClr val="17325C"/>
                </a:solidFill>
                <a:latin typeface="Arial"/>
                <a:ea typeface="Arial"/>
                <a:cs typeface="Arial"/>
              </a:rPr>
              <a:t> </a:t>
            </a:r>
            <a:r>
              <a:rPr sz="1650" b="1" dirty="0" err="1">
                <a:solidFill>
                  <a:srgbClr val="17325C"/>
                </a:solidFill>
                <a:latin typeface="Arial"/>
                <a:ea typeface="Arial"/>
                <a:cs typeface="Arial"/>
              </a:rPr>
              <a:t>số</a:t>
            </a:r>
            <a:r>
              <a:rPr sz="1650" b="1" dirty="0">
                <a:solidFill>
                  <a:srgbClr val="17325C"/>
                </a:solidFill>
                <a:latin typeface="Arial"/>
                <a:ea typeface="Arial"/>
                <a:cs typeface="Arial"/>
              </a:rPr>
              <a:t> FPT (FPT SHOP)</a:t>
            </a:r>
          </a:p>
        </p:txBody>
      </p:sp>
      <p:sp>
        <p:nvSpPr>
          <p:cNvPr id="64" name="Text 61">
            <a:extLst>
              <a:ext uri="{FF2B5EF4-FFF2-40B4-BE49-F238E27FC236}">
                <a16:creationId xmlns:a16="http://schemas.microsoft.com/office/drawing/2014/main" id="{D5357761-6E17-4C2D-B2D0-FF513C5D7A9D}"/>
              </a:ext>
            </a:extLst>
          </p:cNvPr>
          <p:cNvSpPr>
            <a:spLocks noGrp="1"/>
          </p:cNvSpPr>
          <p:nvPr/>
        </p:nvSpPr>
        <p:spPr>
          <a:xfrm>
            <a:off x="868680" y="3145536"/>
            <a:ext cx="10668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Môn học:</a:t>
            </a:r>
          </a:p>
        </p:txBody>
      </p:sp>
      <p:sp>
        <p:nvSpPr>
          <p:cNvPr id="65" name="Text 62">
            <a:extLst>
              <a:ext uri="{FF2B5EF4-FFF2-40B4-BE49-F238E27FC236}">
                <a16:creationId xmlns:a16="http://schemas.microsoft.com/office/drawing/2014/main" id="{2ED13856-5A71-4C01-B492-D7E562452C90}"/>
              </a:ext>
            </a:extLst>
          </p:cNvPr>
          <p:cNvSpPr>
            <a:spLocks noGrp="1"/>
          </p:cNvSpPr>
          <p:nvPr/>
        </p:nvSpPr>
        <p:spPr>
          <a:xfrm>
            <a:off x="2047875" y="3145536"/>
            <a:ext cx="49530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quản trị quy trình nghiệp vụ</a:t>
            </a:r>
          </a:p>
        </p:txBody>
      </p:sp>
      <p:sp>
        <p:nvSpPr>
          <p:cNvPr id="66" name="Text 63">
            <a:extLst>
              <a:ext uri="{FF2B5EF4-FFF2-40B4-BE49-F238E27FC236}">
                <a16:creationId xmlns:a16="http://schemas.microsoft.com/office/drawing/2014/main" id="{64143891-2621-465C-B0D0-9B423B2AD7F9}"/>
              </a:ext>
            </a:extLst>
          </p:cNvPr>
          <p:cNvSpPr>
            <a:spLocks noGrp="1"/>
          </p:cNvSpPr>
          <p:nvPr/>
        </p:nvSpPr>
        <p:spPr>
          <a:xfrm>
            <a:off x="868680" y="3611880"/>
            <a:ext cx="1381125"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Giảng viên:</a:t>
            </a:r>
          </a:p>
        </p:txBody>
      </p:sp>
      <p:sp>
        <p:nvSpPr>
          <p:cNvPr id="67" name="Text 64">
            <a:extLst>
              <a:ext uri="{FF2B5EF4-FFF2-40B4-BE49-F238E27FC236}">
                <a16:creationId xmlns:a16="http://schemas.microsoft.com/office/drawing/2014/main" id="{E6515D3F-22B4-4CF6-87ED-05C5E78E625C}"/>
              </a:ext>
            </a:extLst>
          </p:cNvPr>
          <p:cNvSpPr>
            <a:spLocks noGrp="1"/>
          </p:cNvSpPr>
          <p:nvPr/>
        </p:nvSpPr>
        <p:spPr>
          <a:xfrm>
            <a:off x="2047875" y="3611880"/>
            <a:ext cx="34290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ThS. Hà Lê Hoài Trung</a:t>
            </a:r>
          </a:p>
        </p:txBody>
      </p:sp>
      <p:sp>
        <p:nvSpPr>
          <p:cNvPr id="69" name="Shape 65">
            <a:extLst>
              <a:ext uri="{FF2B5EF4-FFF2-40B4-BE49-F238E27FC236}">
                <a16:creationId xmlns:a16="http://schemas.microsoft.com/office/drawing/2014/main" id="{E4D5CDA3-37B9-4E99-8AD6-F48D7DCFA046}"/>
              </a:ext>
            </a:extLst>
          </p:cNvPr>
          <p:cNvSpPr>
            <a:spLocks noGrp="1"/>
          </p:cNvSpPr>
          <p:nvPr/>
        </p:nvSpPr>
        <p:spPr>
          <a:xfrm>
            <a:off x="640080" y="4343400"/>
            <a:ext cx="10698480" cy="1600200"/>
          </a:xfrm>
          <a:prstGeom prst="roundRect">
            <a:avLst>
              <a:gd name="adj" fmla="val 5714"/>
            </a:avLst>
          </a:prstGeom>
          <a:solidFill>
            <a:srgbClr val="FFFFFF"/>
          </a:solidFill>
          <a:ln w="15240">
            <a:solidFill>
              <a:srgbClr val="7DA9F5"/>
            </a:solidFill>
            <a:prstDash val="solid"/>
          </a:ln>
        </p:spPr>
        <p:txBody>
          <a:bodyPr/>
          <a:lstStyle/>
          <a:p>
            <a:endParaRPr/>
          </a:p>
        </p:txBody>
      </p:sp>
      <p:sp>
        <p:nvSpPr>
          <p:cNvPr id="70" name="Shape 66">
            <a:extLst>
              <a:ext uri="{FF2B5EF4-FFF2-40B4-BE49-F238E27FC236}">
                <a16:creationId xmlns:a16="http://schemas.microsoft.com/office/drawing/2014/main" id="{247E44C5-2946-4617-AC35-08144D0753E1}"/>
              </a:ext>
            </a:extLst>
          </p:cNvPr>
          <p:cNvSpPr>
            <a:spLocks noGrp="1"/>
          </p:cNvSpPr>
          <p:nvPr/>
        </p:nvSpPr>
        <p:spPr>
          <a:xfrm>
            <a:off x="640080" y="4133088"/>
            <a:ext cx="2971800" cy="384048"/>
          </a:xfrm>
          <a:prstGeom prst="roundRect">
            <a:avLst>
              <a:gd name="adj" fmla="val 19048"/>
            </a:avLst>
          </a:prstGeom>
          <a:solidFill>
            <a:srgbClr val="063EAE"/>
          </a:solidFill>
          <a:ln w="12700">
            <a:solidFill>
              <a:srgbClr val="063EAE">
                <a:alpha val="0"/>
              </a:srgbClr>
            </a:solidFill>
            <a:prstDash val="solid"/>
          </a:ln>
        </p:spPr>
        <p:txBody>
          <a:bodyPr/>
          <a:lstStyle/>
          <a:p>
            <a:endParaRPr/>
          </a:p>
        </p:txBody>
      </p:sp>
      <p:sp>
        <p:nvSpPr>
          <p:cNvPr id="71" name="Text 67">
            <a:extLst>
              <a:ext uri="{FF2B5EF4-FFF2-40B4-BE49-F238E27FC236}">
                <a16:creationId xmlns:a16="http://schemas.microsoft.com/office/drawing/2014/main" id="{955EB119-3F4B-4BA4-8100-95337E47AEA8}"/>
              </a:ext>
            </a:extLst>
          </p:cNvPr>
          <p:cNvSpPr>
            <a:spLocks noGrp="1"/>
          </p:cNvSpPr>
          <p:nvPr/>
        </p:nvSpPr>
        <p:spPr>
          <a:xfrm>
            <a:off x="866775" y="4171950"/>
            <a:ext cx="2857500" cy="285750"/>
          </a:xfrm>
          <a:prstGeom prst="rect">
            <a:avLst/>
          </a:prstGeom>
          <a:noFill/>
        </p:spPr>
        <p:txBody>
          <a:bodyPr wrap="square" lIns="0" tIns="0" rIns="0" bIns="0" anchor="t">
            <a:noAutofit/>
          </a:bodyPr>
          <a:lstStyle/>
          <a:p>
            <a:pPr algn="l">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DANH SÁCH SINH VIÊN</a:t>
            </a:r>
          </a:p>
        </p:txBody>
      </p:sp>
      <p:sp>
        <p:nvSpPr>
          <p:cNvPr id="72" name="Text 68">
            <a:extLst>
              <a:ext uri="{FF2B5EF4-FFF2-40B4-BE49-F238E27FC236}">
                <a16:creationId xmlns:a16="http://schemas.microsoft.com/office/drawing/2014/main" id="{876DA200-6282-45EF-A10E-5E44FA27706C}"/>
              </a:ext>
            </a:extLst>
          </p:cNvPr>
          <p:cNvSpPr>
            <a:spLocks noGrp="1"/>
          </p:cNvSpPr>
          <p:nvPr/>
        </p:nvSpPr>
        <p:spPr>
          <a:xfrm>
            <a:off x="895350" y="46386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3" name="Text 69">
            <a:extLst>
              <a:ext uri="{FF2B5EF4-FFF2-40B4-BE49-F238E27FC236}">
                <a16:creationId xmlns:a16="http://schemas.microsoft.com/office/drawing/2014/main" id="{8CFEFFD1-A6F0-4135-BFFF-1ABB68435D2A}"/>
              </a:ext>
            </a:extLst>
          </p:cNvPr>
          <p:cNvSpPr>
            <a:spLocks noGrp="1"/>
          </p:cNvSpPr>
          <p:nvPr/>
        </p:nvSpPr>
        <p:spPr>
          <a:xfrm>
            <a:off x="1143000" y="45910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Phạm Quang Phát</a:t>
            </a:r>
          </a:p>
        </p:txBody>
      </p:sp>
      <p:sp>
        <p:nvSpPr>
          <p:cNvPr id="74" name="Text 70">
            <a:extLst>
              <a:ext uri="{FF2B5EF4-FFF2-40B4-BE49-F238E27FC236}">
                <a16:creationId xmlns:a16="http://schemas.microsoft.com/office/drawing/2014/main" id="{38822B66-560B-4A13-9F96-EB00BF8611E3}"/>
              </a:ext>
            </a:extLst>
          </p:cNvPr>
          <p:cNvSpPr>
            <a:spLocks noGrp="1"/>
          </p:cNvSpPr>
          <p:nvPr/>
        </p:nvSpPr>
        <p:spPr>
          <a:xfrm>
            <a:off x="3714750" y="45910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25410278</a:t>
            </a:r>
          </a:p>
        </p:txBody>
      </p:sp>
      <p:sp>
        <p:nvSpPr>
          <p:cNvPr id="75" name="Text 71">
            <a:extLst>
              <a:ext uri="{FF2B5EF4-FFF2-40B4-BE49-F238E27FC236}">
                <a16:creationId xmlns:a16="http://schemas.microsoft.com/office/drawing/2014/main" id="{D7B62FC6-9DE2-4402-87A7-EDF2C0C3E218}"/>
              </a:ext>
            </a:extLst>
          </p:cNvPr>
          <p:cNvSpPr>
            <a:spLocks noGrp="1"/>
          </p:cNvSpPr>
          <p:nvPr/>
        </p:nvSpPr>
        <p:spPr>
          <a:xfrm>
            <a:off x="895350" y="49434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6" name="Text 72">
            <a:extLst>
              <a:ext uri="{FF2B5EF4-FFF2-40B4-BE49-F238E27FC236}">
                <a16:creationId xmlns:a16="http://schemas.microsoft.com/office/drawing/2014/main" id="{1A18F4A4-2D8B-40E3-9653-59DEC2EA7A3B}"/>
              </a:ext>
            </a:extLst>
          </p:cNvPr>
          <p:cNvSpPr>
            <a:spLocks noGrp="1"/>
          </p:cNvSpPr>
          <p:nvPr/>
        </p:nvSpPr>
        <p:spPr>
          <a:xfrm>
            <a:off x="1143000" y="48958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Nguyễn Hồ Phát</a:t>
            </a:r>
          </a:p>
        </p:txBody>
      </p:sp>
      <p:sp>
        <p:nvSpPr>
          <p:cNvPr id="77" name="Text 73">
            <a:extLst>
              <a:ext uri="{FF2B5EF4-FFF2-40B4-BE49-F238E27FC236}">
                <a16:creationId xmlns:a16="http://schemas.microsoft.com/office/drawing/2014/main" id="{D4716127-A0F1-4B0A-81CA-9DA69D9E5EC1}"/>
              </a:ext>
            </a:extLst>
          </p:cNvPr>
          <p:cNvSpPr>
            <a:spLocks noGrp="1"/>
          </p:cNvSpPr>
          <p:nvPr/>
        </p:nvSpPr>
        <p:spPr>
          <a:xfrm>
            <a:off x="3714750" y="48958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25410277</a:t>
            </a:r>
          </a:p>
        </p:txBody>
      </p:sp>
      <p:sp>
        <p:nvSpPr>
          <p:cNvPr id="78" name="Text 74">
            <a:extLst>
              <a:ext uri="{FF2B5EF4-FFF2-40B4-BE49-F238E27FC236}">
                <a16:creationId xmlns:a16="http://schemas.microsoft.com/office/drawing/2014/main" id="{E881CF17-34D0-4B6F-BAC0-6F52CE5D61F6}"/>
              </a:ext>
            </a:extLst>
          </p:cNvPr>
          <p:cNvSpPr>
            <a:spLocks noGrp="1"/>
          </p:cNvSpPr>
          <p:nvPr/>
        </p:nvSpPr>
        <p:spPr>
          <a:xfrm>
            <a:off x="895350" y="52482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9" name="Text 75">
            <a:extLst>
              <a:ext uri="{FF2B5EF4-FFF2-40B4-BE49-F238E27FC236}">
                <a16:creationId xmlns:a16="http://schemas.microsoft.com/office/drawing/2014/main" id="{F631BA41-0B39-42B0-B302-EA547FB2C458}"/>
              </a:ext>
            </a:extLst>
          </p:cNvPr>
          <p:cNvSpPr>
            <a:spLocks noGrp="1"/>
          </p:cNvSpPr>
          <p:nvPr/>
        </p:nvSpPr>
        <p:spPr>
          <a:xfrm>
            <a:off x="1143000" y="52006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Phùng Châu Phát</a:t>
            </a:r>
          </a:p>
        </p:txBody>
      </p:sp>
      <p:sp>
        <p:nvSpPr>
          <p:cNvPr id="80" name="Text 76">
            <a:extLst>
              <a:ext uri="{FF2B5EF4-FFF2-40B4-BE49-F238E27FC236}">
                <a16:creationId xmlns:a16="http://schemas.microsoft.com/office/drawing/2014/main" id="{DA3AC6E3-3ADA-490A-ACFC-24DA15BFEC2C}"/>
              </a:ext>
            </a:extLst>
          </p:cNvPr>
          <p:cNvSpPr>
            <a:spLocks noGrp="1"/>
          </p:cNvSpPr>
          <p:nvPr/>
        </p:nvSpPr>
        <p:spPr>
          <a:xfrm>
            <a:off x="3714750" y="52006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25410279</a:t>
            </a:r>
          </a:p>
        </p:txBody>
      </p:sp>
      <p:sp>
        <p:nvSpPr>
          <p:cNvPr id="81" name="Shape 77">
            <a:extLst>
              <a:ext uri="{FF2B5EF4-FFF2-40B4-BE49-F238E27FC236}">
                <a16:creationId xmlns:a16="http://schemas.microsoft.com/office/drawing/2014/main" id="{7666A999-845D-4A1B-A367-525512D26AD3}"/>
              </a:ext>
            </a:extLst>
          </p:cNvPr>
          <p:cNvSpPr>
            <a:spLocks noGrp="1"/>
          </p:cNvSpPr>
          <p:nvPr/>
        </p:nvSpPr>
        <p:spPr>
          <a:xfrm>
            <a:off x="5334000" y="4572000"/>
            <a:ext cx="0" cy="1181100"/>
          </a:xfrm>
          <a:prstGeom prst="line">
            <a:avLst/>
          </a:prstGeom>
          <a:noFill/>
          <a:ln w="12700">
            <a:solidFill>
              <a:srgbClr val="7DA9F5"/>
            </a:solidFill>
            <a:prstDash val="solid"/>
          </a:ln>
        </p:spPr>
        <p:txBody>
          <a:bodyPr/>
          <a:lstStyle/>
          <a:p>
            <a:endParaRPr/>
          </a:p>
        </p:txBody>
      </p:sp>
      <p:sp>
        <p:nvSpPr>
          <p:cNvPr id="82" name="Text 78">
            <a:extLst>
              <a:ext uri="{FF2B5EF4-FFF2-40B4-BE49-F238E27FC236}">
                <a16:creationId xmlns:a16="http://schemas.microsoft.com/office/drawing/2014/main" id="{071B392B-217F-4FD0-BD82-4EE4C28B3853}"/>
              </a:ext>
            </a:extLst>
          </p:cNvPr>
          <p:cNvSpPr>
            <a:spLocks noGrp="1"/>
          </p:cNvSpPr>
          <p:nvPr/>
        </p:nvSpPr>
        <p:spPr>
          <a:xfrm>
            <a:off x="895350" y="55530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3" name="Text 79">
            <a:extLst>
              <a:ext uri="{FF2B5EF4-FFF2-40B4-BE49-F238E27FC236}">
                <a16:creationId xmlns:a16="http://schemas.microsoft.com/office/drawing/2014/main" id="{8ACBC5AA-CD5F-4F24-9CAB-1BF69777869A}"/>
              </a:ext>
            </a:extLst>
          </p:cNvPr>
          <p:cNvSpPr>
            <a:spLocks noGrp="1"/>
          </p:cNvSpPr>
          <p:nvPr/>
        </p:nvSpPr>
        <p:spPr>
          <a:xfrm>
            <a:off x="1143000" y="55054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Lê Dương Nhựt Minh</a:t>
            </a:r>
          </a:p>
        </p:txBody>
      </p:sp>
      <p:sp>
        <p:nvSpPr>
          <p:cNvPr id="84" name="Text 80">
            <a:extLst>
              <a:ext uri="{FF2B5EF4-FFF2-40B4-BE49-F238E27FC236}">
                <a16:creationId xmlns:a16="http://schemas.microsoft.com/office/drawing/2014/main" id="{38E7B4DE-A9BB-4090-ACBE-85E30A14C406}"/>
              </a:ext>
            </a:extLst>
          </p:cNvPr>
          <p:cNvSpPr>
            <a:spLocks noGrp="1"/>
          </p:cNvSpPr>
          <p:nvPr/>
        </p:nvSpPr>
        <p:spPr>
          <a:xfrm>
            <a:off x="3714750" y="55054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25410255</a:t>
            </a:r>
          </a:p>
        </p:txBody>
      </p:sp>
      <p:sp>
        <p:nvSpPr>
          <p:cNvPr id="85" name="Text 81">
            <a:extLst>
              <a:ext uri="{FF2B5EF4-FFF2-40B4-BE49-F238E27FC236}">
                <a16:creationId xmlns:a16="http://schemas.microsoft.com/office/drawing/2014/main" id="{A61B3FFF-C880-49BF-87E8-1A998C43516A}"/>
              </a:ext>
            </a:extLst>
          </p:cNvPr>
          <p:cNvSpPr>
            <a:spLocks noGrp="1"/>
          </p:cNvSpPr>
          <p:nvPr/>
        </p:nvSpPr>
        <p:spPr>
          <a:xfrm>
            <a:off x="5715000" y="46386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6" name="Text 82">
            <a:extLst>
              <a:ext uri="{FF2B5EF4-FFF2-40B4-BE49-F238E27FC236}">
                <a16:creationId xmlns:a16="http://schemas.microsoft.com/office/drawing/2014/main" id="{81447B21-FB0C-4CF5-B923-C48FBA23FE9B}"/>
              </a:ext>
            </a:extLst>
          </p:cNvPr>
          <p:cNvSpPr>
            <a:spLocks noGrp="1"/>
          </p:cNvSpPr>
          <p:nvPr/>
        </p:nvSpPr>
        <p:spPr>
          <a:xfrm>
            <a:off x="5962650" y="45910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Lê Nguyễn Phương</a:t>
            </a:r>
          </a:p>
        </p:txBody>
      </p:sp>
      <p:sp>
        <p:nvSpPr>
          <p:cNvPr id="87" name="Text 83">
            <a:extLst>
              <a:ext uri="{FF2B5EF4-FFF2-40B4-BE49-F238E27FC236}">
                <a16:creationId xmlns:a16="http://schemas.microsoft.com/office/drawing/2014/main" id="{0EBDB2FF-4BB1-49DA-890A-E47B09FB4E72}"/>
              </a:ext>
            </a:extLst>
          </p:cNvPr>
          <p:cNvSpPr>
            <a:spLocks noGrp="1"/>
          </p:cNvSpPr>
          <p:nvPr/>
        </p:nvSpPr>
        <p:spPr>
          <a:xfrm>
            <a:off x="9677400" y="45910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25410287</a:t>
            </a:r>
          </a:p>
        </p:txBody>
      </p:sp>
      <p:sp>
        <p:nvSpPr>
          <p:cNvPr id="88" name="Text 84">
            <a:extLst>
              <a:ext uri="{FF2B5EF4-FFF2-40B4-BE49-F238E27FC236}">
                <a16:creationId xmlns:a16="http://schemas.microsoft.com/office/drawing/2014/main" id="{9A394B37-583A-48A0-A88A-AD5061464F80}"/>
              </a:ext>
            </a:extLst>
          </p:cNvPr>
          <p:cNvSpPr>
            <a:spLocks noGrp="1"/>
          </p:cNvSpPr>
          <p:nvPr/>
        </p:nvSpPr>
        <p:spPr>
          <a:xfrm>
            <a:off x="5715000" y="49434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9" name="Text 85">
            <a:extLst>
              <a:ext uri="{FF2B5EF4-FFF2-40B4-BE49-F238E27FC236}">
                <a16:creationId xmlns:a16="http://schemas.microsoft.com/office/drawing/2014/main" id="{7908E1F2-AD58-48DC-8B8C-C4D833C0D516}"/>
              </a:ext>
            </a:extLst>
          </p:cNvPr>
          <p:cNvSpPr>
            <a:spLocks noGrp="1"/>
          </p:cNvSpPr>
          <p:nvPr/>
        </p:nvSpPr>
        <p:spPr>
          <a:xfrm>
            <a:off x="5962650" y="48958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Phạm Xuân Thân</a:t>
            </a:r>
          </a:p>
        </p:txBody>
      </p:sp>
      <p:sp>
        <p:nvSpPr>
          <p:cNvPr id="90" name="Text 86">
            <a:extLst>
              <a:ext uri="{FF2B5EF4-FFF2-40B4-BE49-F238E27FC236}">
                <a16:creationId xmlns:a16="http://schemas.microsoft.com/office/drawing/2014/main" id="{62522FEE-533D-4516-9001-F58059A1E258}"/>
              </a:ext>
            </a:extLst>
          </p:cNvPr>
          <p:cNvSpPr>
            <a:spLocks noGrp="1"/>
          </p:cNvSpPr>
          <p:nvPr/>
        </p:nvSpPr>
        <p:spPr>
          <a:xfrm>
            <a:off x="9677400" y="48958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25410303</a:t>
            </a:r>
          </a:p>
        </p:txBody>
      </p:sp>
      <p:sp>
        <p:nvSpPr>
          <p:cNvPr id="92" name="Text 88">
            <a:extLst>
              <a:ext uri="{FF2B5EF4-FFF2-40B4-BE49-F238E27FC236}">
                <a16:creationId xmlns:a16="http://schemas.microsoft.com/office/drawing/2014/main" id="{2AE1B891-6815-4D7F-8BF1-1E6D37FAA21F}"/>
              </a:ext>
            </a:extLst>
          </p:cNvPr>
          <p:cNvSpPr>
            <a:spLocks noGrp="1"/>
          </p:cNvSpPr>
          <p:nvPr/>
        </p:nvSpPr>
        <p:spPr>
          <a:xfrm>
            <a:off x="5715000" y="52482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93" name="Text 89">
            <a:extLst>
              <a:ext uri="{FF2B5EF4-FFF2-40B4-BE49-F238E27FC236}">
                <a16:creationId xmlns:a16="http://schemas.microsoft.com/office/drawing/2014/main" id="{BCA6F949-2586-4A8E-BD7D-B7115C30DA03}"/>
              </a:ext>
            </a:extLst>
          </p:cNvPr>
          <p:cNvSpPr>
            <a:spLocks noGrp="1"/>
          </p:cNvSpPr>
          <p:nvPr/>
        </p:nvSpPr>
        <p:spPr>
          <a:xfrm>
            <a:off x="5962650" y="52006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Nguyễn Hữu Trí</a:t>
            </a:r>
          </a:p>
        </p:txBody>
      </p:sp>
      <p:sp>
        <p:nvSpPr>
          <p:cNvPr id="94" name="Text 90">
            <a:extLst>
              <a:ext uri="{FF2B5EF4-FFF2-40B4-BE49-F238E27FC236}">
                <a16:creationId xmlns:a16="http://schemas.microsoft.com/office/drawing/2014/main" id="{06153899-4F4D-43E9-A9F2-A754414FEBFF}"/>
              </a:ext>
            </a:extLst>
          </p:cNvPr>
          <p:cNvSpPr>
            <a:spLocks noGrp="1"/>
          </p:cNvSpPr>
          <p:nvPr/>
        </p:nvSpPr>
        <p:spPr>
          <a:xfrm>
            <a:off x="9677400" y="52006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25410320</a:t>
            </a:r>
          </a:p>
        </p:txBody>
      </p:sp>
      <p:pic>
        <p:nvPicPr>
          <p:cNvPr id="179" name="Picture 187"/>
          <p:cNvPicPr>
            <a:picLocks noChangeAspect="1"/>
          </p:cNvPicPr>
          <p:nvPr/>
        </p:nvPicPr>
        <p:blipFill>
          <a:blip r:embed="rId3"/>
          <a:stretch/>
        </p:blipFill>
        <p:spPr>
          <a:xfrm>
            <a:off x="8893278" y="2102362"/>
            <a:ext cx="2047875" cy="1365250"/>
          </a:xfrm>
          <a:prstGeom prst="rect">
            <a:avLst/>
          </a:prstGeom>
        </p:spPr>
      </p:pic>
      <p:pic>
        <p:nvPicPr>
          <p:cNvPr id="180" name="Picture 179"/>
          <p:cNvPicPr>
            <a:picLocks noChangeAspect="1"/>
          </p:cNvPicPr>
          <p:nvPr/>
        </p:nvPicPr>
        <p:blipFill>
          <a:blip r:embed="rId4"/>
          <a:stretch/>
        </p:blipFill>
        <p:spPr>
          <a:xfrm>
            <a:off x="8825284" y="333375"/>
            <a:ext cx="2580532" cy="952500"/>
          </a:xfrm>
          <a:prstGeom prst="rect">
            <a:avLst/>
          </a:prstGeom>
        </p:spPr>
      </p:pic>
    </p:spTree>
    <p:extLst>
      <p:ext uri="{BB962C8B-B14F-4D97-AF65-F5344CB8AC3E}">
        <p14:creationId xmlns:p14="http://schemas.microsoft.com/office/powerpoint/2010/main" val="52387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23B4C9A-C7CF-4DCC-8B08-71147D274B8F}"/>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39B40766-6014-496E-9A9A-7BFB6D662318}"/>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7542A48-BF66-4E66-B91B-1272F554DAE7}"/>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006020C7-4794-4834-93F8-7CCEDFC5DB06}"/>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B4892738-5C06-4200-98EE-DD876838B172}"/>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8E0626E7-5D1F-460E-BC4C-35376AFA4B84}"/>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442691E0-DD93-432B-8723-4B44C6B0F57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9874480B-26A4-4239-918E-6B3820D72984}"/>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A8BA6CC5-3086-4332-8556-FBE1740B2CAA}"/>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6807F45D-8655-4763-8C45-48312E317AD7}"/>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C54DBB3-5DF8-4991-8893-4674C4F034B3}"/>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661461E6-9284-4058-ACB4-2827FF187E51}"/>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1E8377A9-6789-4947-AAE9-88A8A21EC513}"/>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AFB3E5-FD78-4157-B3F5-291DB4706524}"/>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22EC5D8-D423-4EDE-9F4E-2383B074AE1C}"/>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10D14E7D-A1CC-4CB7-BE22-3F19302E0E97}"/>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EC8F2AA8-1154-426C-838A-8640D2C9BCBA}"/>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D28AD4AE-D359-46AC-8691-FF235276F3F6}"/>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66C576BA-DA4C-4AFD-8F33-E66A40B80E25}"/>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9D372882-47BF-4F5A-AB93-3092520C9CE7}"/>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EEC52A70-3298-445C-9EF3-DC28E18B36B6}"/>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3ADDBE18-D978-4345-A066-932E10D006EE}"/>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F00AC59-A807-42B3-AA26-8D7B010BE469}"/>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6DFAAE5A-C75D-4AD7-8305-2EDD53A4969A}"/>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C33FB77C-3D8C-44D2-8FF7-84891FD7D7A3}"/>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A44765A9-999B-4C85-8410-BD5361BB3508}"/>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48CCD97E-C9F1-487F-8A86-D02728EFEA8E}"/>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F565FBBD-0CE3-44DE-B926-4329F1E20F9F}"/>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4426C4C2-7FCB-4B20-9805-5182CF7C243C}"/>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0955D863-F57A-41C7-8534-150B0A89EE78}"/>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BEC178D3-00C4-4E75-98E1-C42DA4855587}"/>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74F1D288-28A6-40D8-8B9F-72B97E7A3C05}"/>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0DCBBC72-E662-4FE3-B0B2-55211303C1EB}"/>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DC5A62E7-0238-475A-BFB3-5A9903183302}"/>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6E306549-9F8E-4697-88FB-813AD7B0E0E0}"/>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E28B9EE6-DDE6-4113-BE99-3841BF104887}"/>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C4EAF715-353F-42DB-88F0-76BF5062F5BD}"/>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38B9C90-442A-49B5-8409-A77C4E491BB6}"/>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7102CB9B-770E-4A6E-9CCC-EA97F617551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CF0E49CA-22E2-4D42-81BA-15B5A319335A}"/>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AF1B0BA1-9DA7-4033-B571-DB96992EF56D}"/>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ED12E10C-8E60-4490-9E68-822467A0F102}"/>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38DCEE3C-7DF8-48F9-BB9D-4C5A23B93BE8}"/>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1AD2B5C-EDF3-481E-9ED7-8F1A65BDE2D1}"/>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2CD60AFE-8D7B-40D6-8B89-37A764CA26BB}"/>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D838D4B8-E8DA-4C00-991C-B030E71C5C43}"/>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B9E518D5-28D5-47D2-A951-C11202F05DD4}"/>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C8FA1AB-73F8-40E0-BDBA-CF271E5042B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0767108-7CF4-43C3-BF6A-72A4363D216A}"/>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60" name="Rectangle 59">
            <a:extLst>
              <a:ext uri="{FF2B5EF4-FFF2-40B4-BE49-F238E27FC236}">
                <a16:creationId xmlns:a16="http://schemas.microsoft.com/office/drawing/2014/main" id="{6145EF7C-A9F9-4AA7-8E65-D241241D33A6}"/>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MỤC LỤC</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1047750">
                  <a:extLst>
                    <a:ext uri="{9D8B030D-6E8A-4147-A177-3AD203B41FA5}">
                      <a16:colId xmlns:a16="http://schemas.microsoft.com/office/drawing/2014/main" val="20000"/>
                    </a:ext>
                  </a:extLst>
                </a:gridCol>
                <a:gridCol w="971550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Phần</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extLst>
                  <a:ext uri="{0D108BD9-81ED-4DB2-BD59-A6C34878D82A}">
                    <a16:rowId xmlns:a16="http://schemas.microsoft.com/office/drawing/2014/main" val="10000"/>
                  </a:ext>
                </a:extLst>
              </a:tr>
              <a:tr h="476250">
                <a:tc>
                  <a:txBody>
                    <a:bodyPr/>
                    <a:lstStyle/>
                    <a:p>
                      <a:pPr algn="l">
                        <a:lnSpc>
                          <a:spcPct val="104000"/>
                        </a:lnSpc>
                        <a:buNone/>
                      </a:pPr>
                      <a:r>
                        <a:rPr sz="1650" b="0">
                          <a:solidFill>
                            <a:srgbClr val="17325C"/>
                          </a:solidFill>
                          <a:latin typeface="Arial"/>
                          <a:ea typeface="Arial"/>
                          <a:cs typeface="Arial"/>
                        </a:rPr>
                        <a:t>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Giới thiệu FPT Shop, cơ cấu tổ chức và kiến trúc quy trình</a:t>
                      </a:r>
                    </a:p>
                  </a:txBody>
                  <a:tcPr anchor="ctr">
                    <a:solidFill>
                      <a:srgbClr val="FFFFFF"/>
                    </a:solidFill>
                  </a:tcPr>
                </a:tc>
                <a:extLst>
                  <a:ext uri="{0D108BD9-81ED-4DB2-BD59-A6C34878D82A}">
                    <a16:rowId xmlns:a16="http://schemas.microsoft.com/office/drawing/2014/main" val="10001"/>
                  </a:ext>
                </a:extLst>
              </a:tr>
              <a:tr h="476250">
                <a:tc>
                  <a:txBody>
                    <a:bodyPr/>
                    <a:lstStyle/>
                    <a:p>
                      <a:pPr algn="l">
                        <a:lnSpc>
                          <a:spcPct val="104000"/>
                        </a:lnSpc>
                        <a:buNone/>
                      </a:pPr>
                      <a:r>
                        <a:rPr sz="1650" b="0">
                          <a:solidFill>
                            <a:srgbClr val="17325C"/>
                          </a:solidFill>
                          <a:latin typeface="Arial"/>
                          <a:ea typeface="Arial"/>
                          <a:cs typeface="Arial"/>
                        </a:rPr>
                        <a:t>II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Phương pháp thực hiện</a:t>
                      </a:r>
                    </a:p>
                  </a:txBody>
                  <a:tcPr anchor="ctr">
                    <a:solidFill>
                      <a:srgbClr val="F1F6FC"/>
                    </a:solidFill>
                  </a:tcPr>
                </a:tc>
                <a:extLst>
                  <a:ext uri="{0D108BD9-81ED-4DB2-BD59-A6C34878D82A}">
                    <a16:rowId xmlns:a16="http://schemas.microsoft.com/office/drawing/2014/main" val="10002"/>
                  </a:ext>
                </a:extLst>
              </a:tr>
              <a:tr h="476250">
                <a:tc>
                  <a:txBody>
                    <a:bodyPr/>
                    <a:lstStyle/>
                    <a:p>
                      <a:pPr algn="l">
                        <a:lnSpc>
                          <a:spcPct val="104000"/>
                        </a:lnSpc>
                        <a:buNone/>
                      </a:pPr>
                      <a:r>
                        <a:rPr sz="1650" b="0">
                          <a:solidFill>
                            <a:srgbClr val="17325C"/>
                          </a:solidFill>
                          <a:latin typeface="Arial"/>
                          <a:ea typeface="Arial"/>
                          <a:cs typeface="Arial"/>
                        </a:rPr>
                        <a:t>III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nhà cung cấp và câu hỏi phỏng vấn</a:t>
                      </a:r>
                    </a:p>
                  </a:txBody>
                  <a:tcPr anchor="ctr">
                    <a:solidFill>
                      <a:srgbClr val="FFFFFF"/>
                    </a:solidFill>
                  </a:tcPr>
                </a:tc>
                <a:extLst>
                  <a:ext uri="{0D108BD9-81ED-4DB2-BD59-A6C34878D82A}">
                    <a16:rowId xmlns:a16="http://schemas.microsoft.com/office/drawing/2014/main" val="10003"/>
                  </a:ext>
                </a:extLst>
              </a:tr>
              <a:tr h="476250">
                <a:tc>
                  <a:txBody>
                    <a:bodyPr/>
                    <a:lstStyle/>
                    <a:p>
                      <a:pPr algn="l">
                        <a:lnSpc>
                          <a:spcPct val="104000"/>
                        </a:lnSpc>
                        <a:buNone/>
                      </a:pPr>
                      <a:r>
                        <a:rPr sz="1650" b="0">
                          <a:solidFill>
                            <a:srgbClr val="17325C"/>
                          </a:solidFill>
                          <a:latin typeface="Arial"/>
                          <a:ea typeface="Arial"/>
                          <a:cs typeface="Arial"/>
                        </a:rPr>
                        <a:t>IV</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Bán hàng trực tuyến và câu hỏi phỏng vấn</a:t>
                      </a:r>
                    </a:p>
                  </a:txBody>
                  <a:tcPr anchor="ctr">
                    <a:solidFill>
                      <a:srgbClr val="F1F6FC"/>
                    </a:solidFill>
                  </a:tcPr>
                </a:tc>
                <a:extLst>
                  <a:ext uri="{0D108BD9-81ED-4DB2-BD59-A6C34878D82A}">
                    <a16:rowId xmlns:a16="http://schemas.microsoft.com/office/drawing/2014/main" val="10004"/>
                  </a:ext>
                </a:extLst>
              </a:tr>
              <a:tr h="476250">
                <a:tc>
                  <a:txBody>
                    <a:bodyPr/>
                    <a:lstStyle/>
                    <a:p>
                      <a:pPr algn="l">
                        <a:lnSpc>
                          <a:spcPct val="104000"/>
                        </a:lnSpc>
                        <a:buNone/>
                      </a:pPr>
                      <a:r>
                        <a:rPr sz="1650" b="0">
                          <a:solidFill>
                            <a:srgbClr val="17325C"/>
                          </a:solidFill>
                          <a:latin typeface="Arial"/>
                          <a:ea typeface="Arial"/>
                          <a:cs typeface="Arial"/>
                        </a:rPr>
                        <a:t>V</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Tuyển dụng nhân sự và câu hỏi phỏng vấn</a:t>
                      </a:r>
                    </a:p>
                  </a:txBody>
                  <a:tcPr anchor="ctr">
                    <a:solidFill>
                      <a:srgbClr val="FFFFFF"/>
                    </a:solidFill>
                  </a:tcPr>
                </a:tc>
                <a:extLst>
                  <a:ext uri="{0D108BD9-81ED-4DB2-BD59-A6C34878D82A}">
                    <a16:rowId xmlns:a16="http://schemas.microsoft.com/office/drawing/2014/main" val="10005"/>
                  </a:ext>
                </a:extLst>
              </a:tr>
              <a:tr h="476250">
                <a:tc>
                  <a:txBody>
                    <a:bodyPr/>
                    <a:lstStyle/>
                    <a:p>
                      <a:pPr algn="l">
                        <a:lnSpc>
                          <a:spcPct val="104000"/>
                        </a:lnSpc>
                        <a:buNone/>
                      </a:pPr>
                      <a:r>
                        <a:rPr sz="1650" b="0">
                          <a:solidFill>
                            <a:srgbClr val="17325C"/>
                          </a:solidFill>
                          <a:latin typeface="Arial"/>
                          <a:ea typeface="Arial"/>
                          <a:cs typeface="Arial"/>
                        </a:rPr>
                        <a:t>VI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Phân tích định tính: giá trị gia tăng, lãng phí</a:t>
                      </a:r>
                    </a:p>
                  </a:txBody>
                  <a:tcPr anchor="ctr">
                    <a:solidFill>
                      <a:srgbClr val="F1F6FC"/>
                    </a:solidFill>
                  </a:tcPr>
                </a:tc>
                <a:extLst>
                  <a:ext uri="{0D108BD9-81ED-4DB2-BD59-A6C34878D82A}">
                    <a16:rowId xmlns:a16="http://schemas.microsoft.com/office/drawing/2014/main" val="10006"/>
                  </a:ext>
                </a:extLst>
              </a:tr>
              <a:tr h="476250">
                <a:tc>
                  <a:txBody>
                    <a:bodyPr/>
                    <a:lstStyle/>
                    <a:p>
                      <a:pPr algn="l">
                        <a:lnSpc>
                          <a:spcPct val="104000"/>
                        </a:lnSpc>
                        <a:buNone/>
                      </a:pPr>
                      <a:r>
                        <a:rPr sz="1650" b="0">
                          <a:solidFill>
                            <a:srgbClr val="17325C"/>
                          </a:solidFill>
                          <a:latin typeface="Arial"/>
                          <a:ea typeface="Arial"/>
                          <a:cs typeface="Arial"/>
                        </a:rPr>
                        <a:t>VII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tích định lượng: thời gian, chất lượng, chi phí</a:t>
                      </a:r>
                    </a:p>
                  </a:txBody>
                  <a:tcPr anchor="ctr">
                    <a:solidFill>
                      <a:srgbClr val="FFFFFF"/>
                    </a:solidFill>
                  </a:tcPr>
                </a:tc>
                <a:extLst>
                  <a:ext uri="{0D108BD9-81ED-4DB2-BD59-A6C34878D82A}">
                    <a16:rowId xmlns:a16="http://schemas.microsoft.com/office/drawing/2014/main" val="10007"/>
                  </a:ext>
                </a:extLst>
              </a:tr>
              <a:tr h="476250">
                <a:tc>
                  <a:txBody>
                    <a:bodyPr/>
                    <a:lstStyle/>
                    <a:p>
                      <a:pPr algn="l">
                        <a:lnSpc>
                          <a:spcPct val="104000"/>
                        </a:lnSpc>
                        <a:buNone/>
                      </a:pPr>
                      <a:r>
                        <a:rPr sz="1650" b="0">
                          <a:solidFill>
                            <a:srgbClr val="17325C"/>
                          </a:solidFill>
                          <a:latin typeface="Arial"/>
                          <a:ea typeface="Arial"/>
                          <a:cs typeface="Arial"/>
                        </a:rPr>
                        <a:t>VIII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Các bên liên quan, Pareto/Why–why và kết luận</a:t>
                      </a:r>
                    </a:p>
                  </a:txBody>
                  <a:tcPr anchor="ctr">
                    <a:solidFill>
                      <a:srgbClr val="F1F6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58392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60" name="Rectangle 59">
            <a:extLst>
              <a:ext uri="{FF2B5EF4-FFF2-40B4-BE49-F238E27FC236}">
                <a16:creationId xmlns:a16="http://schemas.microsoft.com/office/drawing/2014/main" id="{280C399F-528F-451F-ADF0-D76D5DC63225}"/>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 GIỚI THIỆU FPT SHOP</a:t>
            </a:r>
          </a:p>
        </p:txBody>
      </p:sp>
      <p:sp>
        <p:nvSpPr>
          <p:cNvPr id="61" name="Card FPT SHOP">
            <a:extLst>
              <a:ext uri="{FF2B5EF4-FFF2-40B4-BE49-F238E27FC236}">
                <a16:creationId xmlns:a16="http://schemas.microsoft.com/office/drawing/2014/main" id="{4F470106-8047-43AF-A9F3-CBE16FDDDAFC}"/>
              </a:ext>
            </a:extLst>
          </p:cNvPr>
          <p:cNvSpPr>
            <a:spLocks noGrp="1"/>
          </p:cNvSpPr>
          <p:nvPr/>
        </p:nvSpPr>
        <p:spPr>
          <a:xfrm>
            <a:off x="571500" y="1733550"/>
            <a:ext cx="34480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2" name="Accent FPT SHOP">
            <a:extLst>
              <a:ext uri="{FF2B5EF4-FFF2-40B4-BE49-F238E27FC236}">
                <a16:creationId xmlns:a16="http://schemas.microsoft.com/office/drawing/2014/main" id="{7A99EEB0-F313-4A84-A50C-728D4CF104E1}"/>
              </a:ext>
            </a:extLst>
          </p:cNvPr>
          <p:cNvSpPr>
            <a:spLocks noGrp="1"/>
          </p:cNvSpPr>
          <p:nvPr/>
        </p:nvSpPr>
        <p:spPr>
          <a:xfrm>
            <a:off x="571500" y="1733550"/>
            <a:ext cx="3448050" cy="104775"/>
          </a:xfrm>
          <a:prstGeom prst="roundRect">
            <a:avLst>
              <a:gd name="adj" fmla="val 50000"/>
            </a:avLst>
          </a:prstGeom>
          <a:solidFill>
            <a:srgbClr val="0B54C7"/>
          </a:solidFill>
          <a:ln w="0">
            <a:solidFill>
              <a:srgbClr val="0B54C7"/>
            </a:solidFill>
            <a:prstDash val="solid"/>
          </a:ln>
        </p:spPr>
        <p:txBody>
          <a:bodyPr/>
          <a:lstStyle/>
          <a:p>
            <a:endParaRPr/>
          </a:p>
        </p:txBody>
      </p:sp>
      <p:sp>
        <p:nvSpPr>
          <p:cNvPr id="63" name="Rectangle 62">
            <a:extLst>
              <a:ext uri="{FF2B5EF4-FFF2-40B4-BE49-F238E27FC236}">
                <a16:creationId xmlns:a16="http://schemas.microsoft.com/office/drawing/2014/main" id="{8C297FD5-275F-444E-97A5-4165A4AC7A7C}"/>
              </a:ext>
            </a:extLst>
          </p:cNvPr>
          <p:cNvSpPr>
            <a:spLocks noGrp="1"/>
          </p:cNvSpPr>
          <p:nvPr/>
        </p:nvSpPr>
        <p:spPr>
          <a:xfrm>
            <a:off x="742950" y="192405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FPT SHOP</a:t>
            </a:r>
          </a:p>
        </p:txBody>
      </p:sp>
      <p:sp>
        <p:nvSpPr>
          <p:cNvPr id="64" name="Rectangle 63">
            <a:extLst>
              <a:ext uri="{FF2B5EF4-FFF2-40B4-BE49-F238E27FC236}">
                <a16:creationId xmlns:a16="http://schemas.microsoft.com/office/drawing/2014/main" id="{77137E4C-FE52-4A52-AD5C-AAEFE36CEABF}"/>
              </a:ext>
            </a:extLst>
          </p:cNvPr>
          <p:cNvSpPr>
            <a:spLocks noGrp="1"/>
          </p:cNvSpPr>
          <p:nvPr/>
        </p:nvSpPr>
        <p:spPr>
          <a:xfrm>
            <a:off x="723900" y="2400300"/>
            <a:ext cx="31432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Chuỗi bán lẻ công nghệ thuộc FPT Retail.
Thành lập: 08/2007.
Kết hợp cửa hàng vật lý và bán hàng trực tuyến.</a:t>
            </a:r>
          </a:p>
        </p:txBody>
      </p:sp>
      <p:sp>
        <p:nvSpPr>
          <p:cNvPr id="65" name="Card PHẠM VI NGHIÊN CỨU">
            <a:extLst>
              <a:ext uri="{FF2B5EF4-FFF2-40B4-BE49-F238E27FC236}">
                <a16:creationId xmlns:a16="http://schemas.microsoft.com/office/drawing/2014/main" id="{905B7F85-4078-4845-91A3-4353977BFFB1}"/>
              </a:ext>
            </a:extLst>
          </p:cNvPr>
          <p:cNvSpPr>
            <a:spLocks noGrp="1"/>
          </p:cNvSpPr>
          <p:nvPr/>
        </p:nvSpPr>
        <p:spPr>
          <a:xfrm>
            <a:off x="4362450" y="1733550"/>
            <a:ext cx="34480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6" name="Accent PHẠM VI NGHIÊN CỨU">
            <a:extLst>
              <a:ext uri="{FF2B5EF4-FFF2-40B4-BE49-F238E27FC236}">
                <a16:creationId xmlns:a16="http://schemas.microsoft.com/office/drawing/2014/main" id="{51452EBF-45D4-4AC3-BA20-A818BDB5D012}"/>
              </a:ext>
            </a:extLst>
          </p:cNvPr>
          <p:cNvSpPr>
            <a:spLocks noGrp="1"/>
          </p:cNvSpPr>
          <p:nvPr/>
        </p:nvSpPr>
        <p:spPr>
          <a:xfrm>
            <a:off x="4362450" y="1733550"/>
            <a:ext cx="3448050" cy="104775"/>
          </a:xfrm>
          <a:prstGeom prst="roundRect">
            <a:avLst>
              <a:gd name="adj" fmla="val 50000"/>
            </a:avLst>
          </a:prstGeom>
          <a:solidFill>
            <a:srgbClr val="009B91"/>
          </a:solidFill>
          <a:ln w="0">
            <a:solidFill>
              <a:srgbClr val="009B91"/>
            </a:solidFill>
            <a:prstDash val="solid"/>
          </a:ln>
        </p:spPr>
        <p:txBody>
          <a:bodyPr/>
          <a:lstStyle/>
          <a:p>
            <a:endParaRPr/>
          </a:p>
        </p:txBody>
      </p:sp>
      <p:sp>
        <p:nvSpPr>
          <p:cNvPr id="67" name="Rectangle 66">
            <a:extLst>
              <a:ext uri="{FF2B5EF4-FFF2-40B4-BE49-F238E27FC236}">
                <a16:creationId xmlns:a16="http://schemas.microsoft.com/office/drawing/2014/main" id="{DC8F5928-3EEF-4B12-89F9-CDE462687AC9}"/>
              </a:ext>
            </a:extLst>
          </p:cNvPr>
          <p:cNvSpPr>
            <a:spLocks noGrp="1"/>
          </p:cNvSpPr>
          <p:nvPr/>
        </p:nvSpPr>
        <p:spPr>
          <a:xfrm>
            <a:off x="4533900" y="192405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PHẠM VI NGHIÊN CỨU</a:t>
            </a:r>
          </a:p>
        </p:txBody>
      </p:sp>
      <p:sp>
        <p:nvSpPr>
          <p:cNvPr id="68" name="Rectangle 67">
            <a:extLst>
              <a:ext uri="{FF2B5EF4-FFF2-40B4-BE49-F238E27FC236}">
                <a16:creationId xmlns:a16="http://schemas.microsoft.com/office/drawing/2014/main" id="{02F48212-AC80-4989-8404-BA537741A8C3}"/>
              </a:ext>
            </a:extLst>
          </p:cNvPr>
          <p:cNvSpPr>
            <a:spLocks noGrp="1"/>
          </p:cNvSpPr>
          <p:nvPr/>
        </p:nvSpPr>
        <p:spPr>
          <a:xfrm>
            <a:off x="4514850" y="2400300"/>
            <a:ext cx="31432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quy trình của FPT Shop.
Ba nhóm: Management, Core, Support.
Kiến trúc gồm 17 quy trình nghiệp vụ.</a:t>
            </a:r>
          </a:p>
        </p:txBody>
      </p:sp>
      <p:sp>
        <p:nvSpPr>
          <p:cNvPr id="69" name="Card MỤC TIÊU ĐỒ ÁN">
            <a:extLst>
              <a:ext uri="{FF2B5EF4-FFF2-40B4-BE49-F238E27FC236}">
                <a16:creationId xmlns:a16="http://schemas.microsoft.com/office/drawing/2014/main" id="{AFDF7000-0572-443A-B113-95B4F168CAE6}"/>
              </a:ext>
            </a:extLst>
          </p:cNvPr>
          <p:cNvSpPr>
            <a:spLocks noGrp="1"/>
          </p:cNvSpPr>
          <p:nvPr/>
        </p:nvSpPr>
        <p:spPr>
          <a:xfrm>
            <a:off x="8153400" y="1733550"/>
            <a:ext cx="33718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70" name="Accent MỤC TIÊU ĐỒ ÁN">
            <a:extLst>
              <a:ext uri="{FF2B5EF4-FFF2-40B4-BE49-F238E27FC236}">
                <a16:creationId xmlns:a16="http://schemas.microsoft.com/office/drawing/2014/main" id="{3F806A61-2A42-4AAB-95B8-FE618D9F950A}"/>
              </a:ext>
            </a:extLst>
          </p:cNvPr>
          <p:cNvSpPr>
            <a:spLocks noGrp="1"/>
          </p:cNvSpPr>
          <p:nvPr/>
        </p:nvSpPr>
        <p:spPr>
          <a:xfrm>
            <a:off x="8153400" y="1733550"/>
            <a:ext cx="337185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1" name="Rectangle 70">
            <a:extLst>
              <a:ext uri="{FF2B5EF4-FFF2-40B4-BE49-F238E27FC236}">
                <a16:creationId xmlns:a16="http://schemas.microsoft.com/office/drawing/2014/main" id="{B966AF27-82B0-46EB-BCAC-29C7F19D2E60}"/>
              </a:ext>
            </a:extLst>
          </p:cNvPr>
          <p:cNvSpPr>
            <a:spLocks noGrp="1"/>
          </p:cNvSpPr>
          <p:nvPr/>
        </p:nvSpPr>
        <p:spPr>
          <a:xfrm>
            <a:off x="8324850" y="1924050"/>
            <a:ext cx="30289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MỤC TIÊU ĐỒ ÁN</a:t>
            </a:r>
          </a:p>
        </p:txBody>
      </p:sp>
      <p:sp>
        <p:nvSpPr>
          <p:cNvPr id="72" name="Rectangle 71">
            <a:extLst>
              <a:ext uri="{FF2B5EF4-FFF2-40B4-BE49-F238E27FC236}">
                <a16:creationId xmlns:a16="http://schemas.microsoft.com/office/drawing/2014/main" id="{B1F38FAF-44E9-4250-BEC2-92CDC622D80C}"/>
              </a:ext>
            </a:extLst>
          </p:cNvPr>
          <p:cNvSpPr>
            <a:spLocks noGrp="1"/>
          </p:cNvSpPr>
          <p:nvPr/>
        </p:nvSpPr>
        <p:spPr>
          <a:xfrm>
            <a:off x="8305800" y="2400300"/>
            <a:ext cx="30670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hóa hoạt động bán lẻ đa kênh.
Làm rõ quan hệ giữa quản lý, tạo giá trị và hỗ trợ.
Tạo nền tảng cho mô hình hóa và phân tích cải tiến.</a:t>
            </a:r>
          </a:p>
        </p:txBody>
      </p:sp>
      <p:sp>
        <p:nvSpPr>
          <p:cNvPr id="73" name="Rectangle: Rounded Corners 72">
            <a:extLst>
              <a:ext uri="{FF2B5EF4-FFF2-40B4-BE49-F238E27FC236}">
                <a16:creationId xmlns:a16="http://schemas.microsoft.com/office/drawing/2014/main" id="{4B7C27B2-9CE1-45A8-A3D1-4F2537A52E2A}"/>
              </a:ext>
            </a:extLst>
          </p:cNvPr>
          <p:cNvSpPr>
            <a:spLocks noGrp="1"/>
          </p:cNvSpPr>
          <p:nvPr/>
        </p:nvSpPr>
        <p:spPr>
          <a:xfrm>
            <a:off x="571500" y="5314950"/>
            <a:ext cx="10953750" cy="552450"/>
          </a:xfrm>
          <a:prstGeom prst="roundRect">
            <a:avLst>
              <a:gd name="adj" fmla="val 25862"/>
            </a:avLst>
          </a:prstGeom>
          <a:solidFill>
            <a:srgbClr val="0B54C7">
              <a:alpha val="6275"/>
            </a:srgbClr>
          </a:solidFill>
          <a:ln w="10478">
            <a:solidFill>
              <a:srgbClr val="0B54C7">
                <a:alpha val="33333"/>
              </a:srgbClr>
            </a:solid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Khối liên quan: Phát triển kinh doanh • Vận hành • CNTT • Nhân sự • Tài chính – kế toán</a:t>
            </a:r>
          </a:p>
        </p:txBody>
      </p:sp>
    </p:spTree>
    <p:extLst>
      <p:ext uri="{BB962C8B-B14F-4D97-AF65-F5344CB8AC3E}">
        <p14:creationId xmlns:p14="http://schemas.microsoft.com/office/powerpoint/2010/main" val="98523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04</a:t>
            </a:r>
          </a:p>
        </p:txBody>
      </p:sp>
      <p:sp>
        <p:nvSpPr>
          <p:cNvPr id="60" name="Rectangle 59">
            <a:extLst>
              <a:ext uri="{FF2B5EF4-FFF2-40B4-BE49-F238E27FC236}">
                <a16:creationId xmlns:a16="http://schemas.microsoft.com/office/drawing/2014/main" id="{0C27330C-58CA-47F3-ABAD-24A5D5F8A49D}"/>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LỊCH SỬ HÌNH THÀNH VÀ PHÁT TRIỂN</a:t>
            </a:r>
          </a:p>
        </p:txBody>
      </p:sp>
      <p:sp>
        <p:nvSpPr>
          <p:cNvPr id="61" name="Rectangle: Rounded Corners 60">
            <a:extLst>
              <a:ext uri="{FF2B5EF4-FFF2-40B4-BE49-F238E27FC236}">
                <a16:creationId xmlns:a16="http://schemas.microsoft.com/office/drawing/2014/main" id="{9FA1628E-FB42-4B70-90B3-FB3FDAF5570D}"/>
              </a:ext>
            </a:extLst>
          </p:cNvPr>
          <p:cNvSpPr>
            <a:spLocks noGrp="1"/>
          </p:cNvSpPr>
          <p:nvPr/>
        </p:nvSpPr>
        <p:spPr>
          <a:xfrm>
            <a:off x="571500" y="1695450"/>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2" name="Rectangle: Rounded Corners 61">
            <a:extLst>
              <a:ext uri="{FF2B5EF4-FFF2-40B4-BE49-F238E27FC236}">
                <a16:creationId xmlns:a16="http://schemas.microsoft.com/office/drawing/2014/main" id="{7CA69DE6-000E-466E-B7FD-5DB97100AFDB}"/>
              </a:ext>
            </a:extLst>
          </p:cNvPr>
          <p:cNvSpPr>
            <a:spLocks noGrp="1"/>
          </p:cNvSpPr>
          <p:nvPr/>
        </p:nvSpPr>
        <p:spPr>
          <a:xfrm>
            <a:off x="723900" y="1905000"/>
            <a:ext cx="1381125" cy="733425"/>
          </a:xfrm>
          <a:prstGeom prst="roundRect">
            <a:avLst>
              <a:gd name="adj" fmla="val 22078"/>
            </a:avLst>
          </a:prstGeom>
          <a:solidFill>
            <a:srgbClr val="0B54C7"/>
          </a:solidFill>
          <a:ln w="0">
            <a:solidFill>
              <a:srgbClr val="0B54C7"/>
            </a:solidFill>
            <a:prstDash val="solid"/>
          </a:ln>
        </p:spPr>
        <p:txBody>
          <a:bodyPr wrap="square" lIns="38100" tIns="0" rIns="38100" bIns="0"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2007–2012</a:t>
            </a:r>
          </a:p>
        </p:txBody>
      </p:sp>
      <p:sp>
        <p:nvSpPr>
          <p:cNvPr id="63" name="Rectangle 62">
            <a:extLst>
              <a:ext uri="{FF2B5EF4-FFF2-40B4-BE49-F238E27FC236}">
                <a16:creationId xmlns:a16="http://schemas.microsoft.com/office/drawing/2014/main" id="{88B71EF9-2216-4F00-9B7F-7A1F44065ABC}"/>
              </a:ext>
            </a:extLst>
          </p:cNvPr>
          <p:cNvSpPr>
            <a:spLocks noGrp="1"/>
          </p:cNvSpPr>
          <p:nvPr/>
        </p:nvSpPr>
        <p:spPr>
          <a:xfrm>
            <a:off x="2286000" y="1695450"/>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2007: FPT Shop ra đời.
2012: FPT Retail chuyển đổi thành công ty cổ phần.</a:t>
            </a:r>
          </a:p>
        </p:txBody>
      </p:sp>
      <p:sp>
        <p:nvSpPr>
          <p:cNvPr id="64" name="Rectangle: Rounded Corners 63">
            <a:extLst>
              <a:ext uri="{FF2B5EF4-FFF2-40B4-BE49-F238E27FC236}">
                <a16:creationId xmlns:a16="http://schemas.microsoft.com/office/drawing/2014/main" id="{D082D0AE-A2A4-40E0-A33D-54E8B83C04C8}"/>
              </a:ext>
            </a:extLst>
          </p:cNvPr>
          <p:cNvSpPr>
            <a:spLocks noGrp="1"/>
          </p:cNvSpPr>
          <p:nvPr/>
        </p:nvSpPr>
        <p:spPr>
          <a:xfrm>
            <a:off x="571500" y="3019425"/>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5" name="Rectangle: Rounded Corners 64">
            <a:extLst>
              <a:ext uri="{FF2B5EF4-FFF2-40B4-BE49-F238E27FC236}">
                <a16:creationId xmlns:a16="http://schemas.microsoft.com/office/drawing/2014/main" id="{60A1C5AC-A102-46B6-A62C-07F073780D6F}"/>
              </a:ext>
            </a:extLst>
          </p:cNvPr>
          <p:cNvSpPr>
            <a:spLocks noGrp="1"/>
          </p:cNvSpPr>
          <p:nvPr/>
        </p:nvSpPr>
        <p:spPr>
          <a:xfrm>
            <a:off x="723900" y="3228975"/>
            <a:ext cx="1381125" cy="733425"/>
          </a:xfrm>
          <a:prstGeom prst="roundRect">
            <a:avLst>
              <a:gd name="adj" fmla="val 22078"/>
            </a:avLst>
          </a:prstGeom>
          <a:solidFill>
            <a:srgbClr val="009B91"/>
          </a:solidFill>
          <a:ln w="0">
            <a:solidFill>
              <a:srgbClr val="009B91"/>
            </a:solidFill>
            <a:prstDash val="solid"/>
          </a:ln>
        </p:spPr>
        <p:txBody>
          <a:bodyPr wrap="square" lIns="38100" tIns="0" rIns="38100" bIns="0"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2013–2023</a:t>
            </a:r>
          </a:p>
        </p:txBody>
      </p:sp>
      <p:sp>
        <p:nvSpPr>
          <p:cNvPr id="66" name="Rectangle 65">
            <a:extLst>
              <a:ext uri="{FF2B5EF4-FFF2-40B4-BE49-F238E27FC236}">
                <a16:creationId xmlns:a16="http://schemas.microsoft.com/office/drawing/2014/main" id="{76A27543-DD81-4C58-B10E-62D0C62C51DE}"/>
              </a:ext>
            </a:extLst>
          </p:cNvPr>
          <p:cNvSpPr>
            <a:spLocks noGrp="1"/>
          </p:cNvSpPr>
          <p:nvPr/>
        </p:nvSpPr>
        <p:spPr>
          <a:xfrm>
            <a:off x="2286000" y="3019425"/>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2013: đạt 100 cửa hàng.
2014: 160; 2015: 200 cửa hàng. Mở rộng bán hàng đa kênh.</a:t>
            </a:r>
          </a:p>
        </p:txBody>
      </p:sp>
      <p:sp>
        <p:nvSpPr>
          <p:cNvPr id="67" name="Rectangle: Rounded Corners 66">
            <a:extLst>
              <a:ext uri="{FF2B5EF4-FFF2-40B4-BE49-F238E27FC236}">
                <a16:creationId xmlns:a16="http://schemas.microsoft.com/office/drawing/2014/main" id="{942BEF4F-9018-4A96-8E66-276F863C363B}"/>
              </a:ext>
            </a:extLst>
          </p:cNvPr>
          <p:cNvSpPr>
            <a:spLocks noGrp="1"/>
          </p:cNvSpPr>
          <p:nvPr/>
        </p:nvSpPr>
        <p:spPr>
          <a:xfrm>
            <a:off x="571500" y="4343400"/>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8" name="Rectangle: Rounded Corners 67">
            <a:extLst>
              <a:ext uri="{FF2B5EF4-FFF2-40B4-BE49-F238E27FC236}">
                <a16:creationId xmlns:a16="http://schemas.microsoft.com/office/drawing/2014/main" id="{7FDDF189-0600-4987-8CA5-66704FB5D75C}"/>
              </a:ext>
            </a:extLst>
          </p:cNvPr>
          <p:cNvSpPr>
            <a:spLocks noGrp="1"/>
          </p:cNvSpPr>
          <p:nvPr/>
        </p:nvSpPr>
        <p:spPr>
          <a:xfrm>
            <a:off x="723900" y="4552950"/>
            <a:ext cx="1381125" cy="733425"/>
          </a:xfrm>
          <a:prstGeom prst="roundRect">
            <a:avLst>
              <a:gd name="adj" fmla="val 22078"/>
            </a:avLst>
          </a:prstGeom>
          <a:solidFill>
            <a:srgbClr val="F28C28"/>
          </a:solidFill>
          <a:ln w="0">
            <a:solidFill>
              <a:srgbClr val="F28C28"/>
            </a:solidFill>
            <a:prstDash val="solid"/>
          </a:ln>
        </p:spPr>
        <p:txBody>
          <a:bodyPr wrap="square" lIns="95250" tIns="66675" rIns="95250" bIns="66675"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2024</a:t>
            </a:r>
          </a:p>
        </p:txBody>
      </p:sp>
      <p:sp>
        <p:nvSpPr>
          <p:cNvPr id="69" name="Rectangle 68">
            <a:extLst>
              <a:ext uri="{FF2B5EF4-FFF2-40B4-BE49-F238E27FC236}">
                <a16:creationId xmlns:a16="http://schemas.microsoft.com/office/drawing/2014/main" id="{D4FF794C-EC62-4898-A4DC-8364D47ECC12}"/>
              </a:ext>
            </a:extLst>
          </p:cNvPr>
          <p:cNvSpPr>
            <a:spLocks noGrp="1"/>
          </p:cNvSpPr>
          <p:nvPr/>
        </p:nvSpPr>
        <p:spPr>
          <a:xfrm>
            <a:off x="2286000" y="4343400"/>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634 cửa hàng; 54 cửa hàng chuyển sang FPT Shop Điện Máy. Tái cơ cấu mạng lưới bán lẻ.</a:t>
            </a:r>
          </a:p>
        </p:txBody>
      </p:sp>
      <p:pic>
        <p:nvPicPr>
          <p:cNvPr id="130" name="Picture 129"/>
          <p:cNvPicPr>
            <a:picLocks noChangeAspect="1"/>
          </p:cNvPicPr>
          <p:nvPr/>
        </p:nvPicPr>
        <p:blipFill>
          <a:blip r:embed="rId3"/>
          <a:stretch/>
        </p:blipFill>
        <p:spPr>
          <a:xfrm>
            <a:off x="5848350" y="2295525"/>
            <a:ext cx="5676900" cy="2838450"/>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05</a:t>
            </a:r>
          </a:p>
        </p:txBody>
      </p:sp>
      <p:sp>
        <p:nvSpPr>
          <p:cNvPr id="60" name="Rectangle 59">
            <a:extLst>
              <a:ext uri="{FF2B5EF4-FFF2-40B4-BE49-F238E27FC236}">
                <a16:creationId xmlns:a16="http://schemas.microsoft.com/office/drawing/2014/main" id="{228AC48F-16B6-4277-80B8-F05516F03993}"/>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MÔ VÀ DANH MỤC KINH DOANH</a:t>
            </a:r>
          </a:p>
        </p:txBody>
      </p:sp>
      <p:sp>
        <p:nvSpPr>
          <p:cNvPr id="61" name="Rectangle: Rounded Corners 60">
            <a:extLst>
              <a:ext uri="{FF2B5EF4-FFF2-40B4-BE49-F238E27FC236}">
                <a16:creationId xmlns:a16="http://schemas.microsoft.com/office/drawing/2014/main" id="{4F4D7989-D953-444F-9037-C0DA444C785A}"/>
              </a:ext>
            </a:extLst>
          </p:cNvPr>
          <p:cNvSpPr>
            <a:spLocks noGrp="1"/>
          </p:cNvSpPr>
          <p:nvPr/>
        </p:nvSpPr>
        <p:spPr>
          <a:xfrm>
            <a:off x="571500" y="1695450"/>
            <a:ext cx="3429000" cy="1295400"/>
          </a:xfrm>
          <a:prstGeom prst="roundRect">
            <a:avLst>
              <a:gd name="adj" fmla="val 13971"/>
            </a:avLst>
          </a:prstGeom>
          <a:solidFill>
            <a:srgbClr val="0B54C7">
              <a:alpha val="6275"/>
            </a:srgbClr>
          </a:solidFill>
          <a:ln w="12383">
            <a:solidFill>
              <a:srgbClr val="0B54C7">
                <a:alpha val="40000"/>
              </a:srgbClr>
            </a:solidFill>
            <a:prstDash val="solid"/>
          </a:ln>
        </p:spPr>
        <p:txBody>
          <a:bodyPr wrap="square" lIns="95250" tIns="66675" rIns="95250" bIns="66675" anchor="ctr">
            <a:noAutofit/>
          </a:bodyPr>
          <a:lstStyle/>
          <a:p>
            <a:pPr algn="ctr">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634
CỬA HÀNG (2024)</a:t>
            </a:r>
          </a:p>
        </p:txBody>
      </p:sp>
      <p:sp>
        <p:nvSpPr>
          <p:cNvPr id="62" name="Rectangle: Rounded Corners 61">
            <a:extLst>
              <a:ext uri="{FF2B5EF4-FFF2-40B4-BE49-F238E27FC236}">
                <a16:creationId xmlns:a16="http://schemas.microsoft.com/office/drawing/2014/main" id="{DDD02DEA-6BE3-469C-B857-DF0B7A749207}"/>
              </a:ext>
            </a:extLst>
          </p:cNvPr>
          <p:cNvSpPr>
            <a:spLocks noGrp="1"/>
          </p:cNvSpPr>
          <p:nvPr/>
        </p:nvSpPr>
        <p:spPr>
          <a:xfrm>
            <a:off x="4381500" y="1695450"/>
            <a:ext cx="3429000" cy="1295400"/>
          </a:xfrm>
          <a:prstGeom prst="roundRect">
            <a:avLst>
              <a:gd name="adj" fmla="val 13971"/>
            </a:avLst>
          </a:prstGeom>
          <a:solidFill>
            <a:srgbClr val="009B91">
              <a:alpha val="6275"/>
            </a:srgbClr>
          </a:solidFill>
          <a:ln w="12383">
            <a:solidFill>
              <a:srgbClr val="009B91">
                <a:alpha val="40000"/>
              </a:srgbClr>
            </a:solidFill>
            <a:prstDash val="solid"/>
          </a:ln>
        </p:spPr>
        <p:txBody>
          <a:bodyPr wrap="square" lIns="95250" tIns="66675" rIns="95250" bIns="66675" anchor="ctr">
            <a:noAutofit/>
          </a:bodyPr>
          <a:lstStyle/>
          <a:p>
            <a:pPr algn="ctr">
              <a:lnSpc>
                <a:spcPct val="104000"/>
              </a:lnSpc>
              <a:buNone/>
              <a:defRPr sz="1650" b="1">
                <a:solidFill>
                  <a:srgbClr val="009D9E"/>
                </a:solidFill>
                <a:latin typeface="Arial"/>
                <a:ea typeface="Arial"/>
                <a:cs typeface="Arial"/>
              </a:defRPr>
            </a:pPr>
            <a:r>
              <a:rPr sz="1650" b="1">
                <a:solidFill>
                  <a:srgbClr val="009D9E"/>
                </a:solidFill>
                <a:latin typeface="Arial"/>
                <a:ea typeface="Arial"/>
                <a:cs typeface="Arial"/>
              </a:rPr>
              <a:t>63
TỈNH/THÀNH (2024)</a:t>
            </a:r>
          </a:p>
        </p:txBody>
      </p:sp>
      <p:sp>
        <p:nvSpPr>
          <p:cNvPr id="63" name="Rectangle: Rounded Corners 62">
            <a:extLst>
              <a:ext uri="{FF2B5EF4-FFF2-40B4-BE49-F238E27FC236}">
                <a16:creationId xmlns:a16="http://schemas.microsoft.com/office/drawing/2014/main" id="{61108417-F907-4774-9EBA-6A599AF82774}"/>
              </a:ext>
            </a:extLst>
          </p:cNvPr>
          <p:cNvSpPr>
            <a:spLocks noGrp="1"/>
          </p:cNvSpPr>
          <p:nvPr/>
        </p:nvSpPr>
        <p:spPr>
          <a:xfrm>
            <a:off x="8191500" y="1695450"/>
            <a:ext cx="3429000" cy="1295400"/>
          </a:xfrm>
          <a:prstGeom prst="roundRect">
            <a:avLst>
              <a:gd name="adj" fmla="val 13971"/>
            </a:avLst>
          </a:prstGeom>
          <a:solidFill>
            <a:srgbClr val="F28C28">
              <a:alpha val="6275"/>
            </a:srgbClr>
          </a:solidFill>
          <a:ln w="12383">
            <a:solidFill>
              <a:srgbClr val="F28C28">
                <a:alpha val="40000"/>
              </a:srgbClr>
            </a:solidFill>
            <a:prstDash val="solid"/>
          </a:ln>
        </p:spPr>
        <p:txBody>
          <a:bodyPr wrap="square" lIns="95250" tIns="66675" rIns="95250" bIns="66675" anchor="ctr">
            <a:noAutofit/>
          </a:bodyPr>
          <a:lstStyle/>
          <a:p>
            <a:pPr algn="ctr">
              <a:lnSpc>
                <a:spcPct val="104000"/>
              </a:lnSpc>
              <a:buNone/>
              <a:defRPr sz="1650" b="1">
                <a:solidFill>
                  <a:srgbClr val="EF8B22"/>
                </a:solidFill>
                <a:latin typeface="Arial"/>
                <a:ea typeface="Arial"/>
                <a:cs typeface="Arial"/>
              </a:defRPr>
            </a:pPr>
            <a:r>
              <a:rPr sz="1650" b="1">
                <a:solidFill>
                  <a:srgbClr val="EF8B22"/>
                </a:solidFill>
                <a:latin typeface="Arial"/>
                <a:ea typeface="Arial"/>
                <a:cs typeface="Arial"/>
              </a:rPr>
              <a:t>54
CỬA HÀNG ĐIỆN MÁY (2024)</a:t>
            </a:r>
          </a:p>
        </p:txBody>
      </p:sp>
      <p:sp>
        <p:nvSpPr>
          <p:cNvPr id="64" name="Card NHÓM SẢN PHẨM CÔNG NGHỆ">
            <a:extLst>
              <a:ext uri="{FF2B5EF4-FFF2-40B4-BE49-F238E27FC236}">
                <a16:creationId xmlns:a16="http://schemas.microsoft.com/office/drawing/2014/main" id="{3859BCBD-9F24-44C0-9C50-A37B70CACA77}"/>
              </a:ext>
            </a:extLst>
          </p:cNvPr>
          <p:cNvSpPr>
            <a:spLocks noGrp="1"/>
          </p:cNvSpPr>
          <p:nvPr/>
        </p:nvSpPr>
        <p:spPr>
          <a:xfrm>
            <a:off x="571500" y="3314700"/>
            <a:ext cx="533400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5" name="Accent NHÓM SẢN PHẨM CÔNG NGHỆ">
            <a:extLst>
              <a:ext uri="{FF2B5EF4-FFF2-40B4-BE49-F238E27FC236}">
                <a16:creationId xmlns:a16="http://schemas.microsoft.com/office/drawing/2014/main" id="{272B1763-2E7C-401F-93AD-CD8E9B28FFCE}"/>
              </a:ext>
            </a:extLst>
          </p:cNvPr>
          <p:cNvSpPr>
            <a:spLocks noGrp="1"/>
          </p:cNvSpPr>
          <p:nvPr/>
        </p:nvSpPr>
        <p:spPr>
          <a:xfrm>
            <a:off x="571500" y="3314700"/>
            <a:ext cx="5334000" cy="104775"/>
          </a:xfrm>
          <a:prstGeom prst="roundRect">
            <a:avLst>
              <a:gd name="adj" fmla="val 50000"/>
            </a:avLst>
          </a:prstGeom>
          <a:solidFill>
            <a:srgbClr val="00A7D8"/>
          </a:solidFill>
          <a:ln w="0">
            <a:solidFill>
              <a:srgbClr val="00A7D8"/>
            </a:solidFill>
            <a:prstDash val="solid"/>
          </a:ln>
        </p:spPr>
        <p:txBody>
          <a:bodyPr/>
          <a:lstStyle/>
          <a:p>
            <a:endParaRPr/>
          </a:p>
        </p:txBody>
      </p:sp>
      <p:sp>
        <p:nvSpPr>
          <p:cNvPr id="66" name="Rectangle 65">
            <a:extLst>
              <a:ext uri="{FF2B5EF4-FFF2-40B4-BE49-F238E27FC236}">
                <a16:creationId xmlns:a16="http://schemas.microsoft.com/office/drawing/2014/main" id="{DFF6F815-85FD-48B2-91BB-47CBB727F417}"/>
              </a:ext>
            </a:extLst>
          </p:cNvPr>
          <p:cNvSpPr>
            <a:spLocks noGrp="1"/>
          </p:cNvSpPr>
          <p:nvPr/>
        </p:nvSpPr>
        <p:spPr>
          <a:xfrm>
            <a:off x="742950" y="3505200"/>
            <a:ext cx="499110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NHÓM SẢN PHẨM CÔNG NGHỆ</a:t>
            </a:r>
          </a:p>
        </p:txBody>
      </p:sp>
      <p:sp>
        <p:nvSpPr>
          <p:cNvPr id="67" name="Rectangle 66">
            <a:extLst>
              <a:ext uri="{FF2B5EF4-FFF2-40B4-BE49-F238E27FC236}">
                <a16:creationId xmlns:a16="http://schemas.microsoft.com/office/drawing/2014/main" id="{806A1D5C-A16A-417C-B0B5-5B0287CB7B9C}"/>
              </a:ext>
            </a:extLst>
          </p:cNvPr>
          <p:cNvSpPr>
            <a:spLocks noGrp="1"/>
          </p:cNvSpPr>
          <p:nvPr/>
        </p:nvSpPr>
        <p:spPr>
          <a:xfrm>
            <a:off x="723900" y="3981450"/>
            <a:ext cx="502920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Điện thoại, laptop, máy tính bảng.
Phụ kiện, SIM và dịch vụ viễn thông.</a:t>
            </a:r>
          </a:p>
        </p:txBody>
      </p:sp>
      <p:sp>
        <p:nvSpPr>
          <p:cNvPr id="68" name="Card ĐIỆN MÁY &amp; DỊCH VỤ">
            <a:extLst>
              <a:ext uri="{FF2B5EF4-FFF2-40B4-BE49-F238E27FC236}">
                <a16:creationId xmlns:a16="http://schemas.microsoft.com/office/drawing/2014/main" id="{B46B9A9B-D44F-4565-9449-02DC2AE447EE}"/>
              </a:ext>
            </a:extLst>
          </p:cNvPr>
          <p:cNvSpPr>
            <a:spLocks noGrp="1"/>
          </p:cNvSpPr>
          <p:nvPr/>
        </p:nvSpPr>
        <p:spPr>
          <a:xfrm>
            <a:off x="6191250" y="3314700"/>
            <a:ext cx="533400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9" name="Accent ĐIỆN MÁY &amp; DỊCH VỤ">
            <a:extLst>
              <a:ext uri="{FF2B5EF4-FFF2-40B4-BE49-F238E27FC236}">
                <a16:creationId xmlns:a16="http://schemas.microsoft.com/office/drawing/2014/main" id="{D66C9426-9D65-4F8C-B193-8A677BD9B6D6}"/>
              </a:ext>
            </a:extLst>
          </p:cNvPr>
          <p:cNvSpPr>
            <a:spLocks noGrp="1"/>
          </p:cNvSpPr>
          <p:nvPr/>
        </p:nvSpPr>
        <p:spPr>
          <a:xfrm>
            <a:off x="6191250" y="3314700"/>
            <a:ext cx="533400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0" name="Rectangle 69">
            <a:extLst>
              <a:ext uri="{FF2B5EF4-FFF2-40B4-BE49-F238E27FC236}">
                <a16:creationId xmlns:a16="http://schemas.microsoft.com/office/drawing/2014/main" id="{50BD1417-9C14-4484-BE49-A5590E38C67D}"/>
              </a:ext>
            </a:extLst>
          </p:cNvPr>
          <p:cNvSpPr>
            <a:spLocks noGrp="1"/>
          </p:cNvSpPr>
          <p:nvPr/>
        </p:nvSpPr>
        <p:spPr>
          <a:xfrm>
            <a:off x="6362700" y="3505200"/>
            <a:ext cx="499110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ĐIỆN MÁY &amp; DỊCH VỤ</a:t>
            </a:r>
          </a:p>
        </p:txBody>
      </p:sp>
      <p:sp>
        <p:nvSpPr>
          <p:cNvPr id="71" name="Rectangle 70">
            <a:extLst>
              <a:ext uri="{FF2B5EF4-FFF2-40B4-BE49-F238E27FC236}">
                <a16:creationId xmlns:a16="http://schemas.microsoft.com/office/drawing/2014/main" id="{E976C986-5885-48C3-85FF-A5A55CDD1A63}"/>
              </a:ext>
            </a:extLst>
          </p:cNvPr>
          <p:cNvSpPr>
            <a:spLocks noGrp="1"/>
          </p:cNvSpPr>
          <p:nvPr/>
        </p:nvSpPr>
        <p:spPr>
          <a:xfrm>
            <a:off x="6343650" y="3981450"/>
            <a:ext cx="502920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Điện máy, đồ gia dụng tại cửa hàng chuyển đổi.
Dịch vụ công nghệ và hỗ trợ liên quan.</a:t>
            </a:r>
          </a:p>
        </p:txBody>
      </p:sp>
    </p:spTree>
    <p:extLst>
      <p:ext uri="{BB962C8B-B14F-4D97-AF65-F5344CB8AC3E}">
        <p14:creationId xmlns:p14="http://schemas.microsoft.com/office/powerpoint/2010/main" val="985234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06</a:t>
            </a:r>
          </a:p>
        </p:txBody>
      </p:sp>
      <p:sp>
        <p:nvSpPr>
          <p:cNvPr id="60" name="Rectangle 59">
            <a:extLst>
              <a:ext uri="{FF2B5EF4-FFF2-40B4-BE49-F238E27FC236}">
                <a16:creationId xmlns:a16="http://schemas.microsoft.com/office/drawing/2014/main" id="{43E4CB85-5179-49A3-A9AB-0C754E884EFD}"/>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MÔ HÌNH KINH DOANH ĐA KÊNH</a:t>
            </a:r>
          </a:p>
        </p:txBody>
      </p:sp>
      <p:sp>
        <p:nvSpPr>
          <p:cNvPr id="61" name="Card 01  CỬA HÀNG">
            <a:extLst>
              <a:ext uri="{FF2B5EF4-FFF2-40B4-BE49-F238E27FC236}">
                <a16:creationId xmlns:a16="http://schemas.microsoft.com/office/drawing/2014/main" id="{1AB0A62A-3617-4AF8-A396-468F064FCA97}"/>
              </a:ext>
            </a:extLst>
          </p:cNvPr>
          <p:cNvSpPr>
            <a:spLocks noGrp="1"/>
          </p:cNvSpPr>
          <p:nvPr/>
        </p:nvSpPr>
        <p:spPr>
          <a:xfrm>
            <a:off x="571500" y="1714500"/>
            <a:ext cx="34480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2" name="Accent 01  CỬA HÀNG">
            <a:extLst>
              <a:ext uri="{FF2B5EF4-FFF2-40B4-BE49-F238E27FC236}">
                <a16:creationId xmlns:a16="http://schemas.microsoft.com/office/drawing/2014/main" id="{A4B29715-4741-48C1-851C-97DAD64346FE}"/>
              </a:ext>
            </a:extLst>
          </p:cNvPr>
          <p:cNvSpPr>
            <a:spLocks noGrp="1"/>
          </p:cNvSpPr>
          <p:nvPr/>
        </p:nvSpPr>
        <p:spPr>
          <a:xfrm>
            <a:off x="571500" y="1714500"/>
            <a:ext cx="3448050" cy="104775"/>
          </a:xfrm>
          <a:prstGeom prst="roundRect">
            <a:avLst>
              <a:gd name="adj" fmla="val 50000"/>
            </a:avLst>
          </a:prstGeom>
          <a:solidFill>
            <a:srgbClr val="0B54C7"/>
          </a:solidFill>
          <a:ln w="0">
            <a:solidFill>
              <a:srgbClr val="0B54C7"/>
            </a:solidFill>
            <a:prstDash val="solid"/>
          </a:ln>
        </p:spPr>
        <p:txBody>
          <a:bodyPr/>
          <a:lstStyle/>
          <a:p>
            <a:endParaRPr/>
          </a:p>
        </p:txBody>
      </p:sp>
      <p:sp>
        <p:nvSpPr>
          <p:cNvPr id="63" name="Rectangle 62">
            <a:extLst>
              <a:ext uri="{FF2B5EF4-FFF2-40B4-BE49-F238E27FC236}">
                <a16:creationId xmlns:a16="http://schemas.microsoft.com/office/drawing/2014/main" id="{41EDE035-E168-47CF-903A-1E3A331CF276}"/>
              </a:ext>
            </a:extLst>
          </p:cNvPr>
          <p:cNvSpPr>
            <a:spLocks noGrp="1"/>
          </p:cNvSpPr>
          <p:nvPr/>
        </p:nvSpPr>
        <p:spPr>
          <a:xfrm>
            <a:off x="742950" y="190500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01  CỬA HÀNG</a:t>
            </a:r>
          </a:p>
        </p:txBody>
      </p:sp>
      <p:sp>
        <p:nvSpPr>
          <p:cNvPr id="64" name="Rectangle 63">
            <a:extLst>
              <a:ext uri="{FF2B5EF4-FFF2-40B4-BE49-F238E27FC236}">
                <a16:creationId xmlns:a16="http://schemas.microsoft.com/office/drawing/2014/main" id="{2720D313-1588-48FA-A74B-AEC9D83E1A81}"/>
              </a:ext>
            </a:extLst>
          </p:cNvPr>
          <p:cNvSpPr>
            <a:spLocks noGrp="1"/>
          </p:cNvSpPr>
          <p:nvPr/>
        </p:nvSpPr>
        <p:spPr>
          <a:xfrm>
            <a:off x="723900" y="2381250"/>
            <a:ext cx="31432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Tư vấn trực tiếp, trải nghiệm sản phẩm, thanh toán và bàn giao tại điểm bán.</a:t>
            </a:r>
          </a:p>
        </p:txBody>
      </p:sp>
      <p:sp>
        <p:nvSpPr>
          <p:cNvPr id="65" name="Card 02  TRỰC TUYẾN">
            <a:extLst>
              <a:ext uri="{FF2B5EF4-FFF2-40B4-BE49-F238E27FC236}">
                <a16:creationId xmlns:a16="http://schemas.microsoft.com/office/drawing/2014/main" id="{731BA973-D7E0-4D8C-8FA1-E2A97B19F9D3}"/>
              </a:ext>
            </a:extLst>
          </p:cNvPr>
          <p:cNvSpPr>
            <a:spLocks noGrp="1"/>
          </p:cNvSpPr>
          <p:nvPr/>
        </p:nvSpPr>
        <p:spPr>
          <a:xfrm>
            <a:off x="4362450" y="1714500"/>
            <a:ext cx="34480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6" name="Accent 02  TRỰC TUYẾN">
            <a:extLst>
              <a:ext uri="{FF2B5EF4-FFF2-40B4-BE49-F238E27FC236}">
                <a16:creationId xmlns:a16="http://schemas.microsoft.com/office/drawing/2014/main" id="{A25E14A7-B967-4AA7-90F9-81A874A48195}"/>
              </a:ext>
            </a:extLst>
          </p:cNvPr>
          <p:cNvSpPr>
            <a:spLocks noGrp="1"/>
          </p:cNvSpPr>
          <p:nvPr/>
        </p:nvSpPr>
        <p:spPr>
          <a:xfrm>
            <a:off x="4362450" y="1714500"/>
            <a:ext cx="3448050" cy="104775"/>
          </a:xfrm>
          <a:prstGeom prst="roundRect">
            <a:avLst>
              <a:gd name="adj" fmla="val 50000"/>
            </a:avLst>
          </a:prstGeom>
          <a:solidFill>
            <a:srgbClr val="009B91"/>
          </a:solidFill>
          <a:ln w="0">
            <a:solidFill>
              <a:srgbClr val="009B91"/>
            </a:solidFill>
            <a:prstDash val="solid"/>
          </a:ln>
        </p:spPr>
        <p:txBody>
          <a:bodyPr/>
          <a:lstStyle/>
          <a:p>
            <a:endParaRPr/>
          </a:p>
        </p:txBody>
      </p:sp>
      <p:sp>
        <p:nvSpPr>
          <p:cNvPr id="67" name="Rectangle 66">
            <a:extLst>
              <a:ext uri="{FF2B5EF4-FFF2-40B4-BE49-F238E27FC236}">
                <a16:creationId xmlns:a16="http://schemas.microsoft.com/office/drawing/2014/main" id="{E7AFE74F-D6C2-43F3-B6BB-5469E7D207CD}"/>
              </a:ext>
            </a:extLst>
          </p:cNvPr>
          <p:cNvSpPr>
            <a:spLocks noGrp="1"/>
          </p:cNvSpPr>
          <p:nvPr/>
        </p:nvSpPr>
        <p:spPr>
          <a:xfrm>
            <a:off x="4533900" y="190500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02  TRỰC TUYẾN</a:t>
            </a:r>
          </a:p>
        </p:txBody>
      </p:sp>
      <p:sp>
        <p:nvSpPr>
          <p:cNvPr id="68" name="Rectangle 67">
            <a:extLst>
              <a:ext uri="{FF2B5EF4-FFF2-40B4-BE49-F238E27FC236}">
                <a16:creationId xmlns:a16="http://schemas.microsoft.com/office/drawing/2014/main" id="{34451F18-1031-4663-AB5F-0D7C37715196}"/>
              </a:ext>
            </a:extLst>
          </p:cNvPr>
          <p:cNvSpPr>
            <a:spLocks noGrp="1"/>
          </p:cNvSpPr>
          <p:nvPr/>
        </p:nvSpPr>
        <p:spPr>
          <a:xfrm>
            <a:off x="4514850" y="2381250"/>
            <a:ext cx="31432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Tiếp nhận và xử lý đơn hàng qua FPTShop.com.vn, kết nối với kho và cửa hàng.</a:t>
            </a:r>
          </a:p>
        </p:txBody>
      </p:sp>
      <p:sp>
        <p:nvSpPr>
          <p:cNvPr id="69" name="Card 03  SAU BÁN HÀNG">
            <a:extLst>
              <a:ext uri="{FF2B5EF4-FFF2-40B4-BE49-F238E27FC236}">
                <a16:creationId xmlns:a16="http://schemas.microsoft.com/office/drawing/2014/main" id="{67776244-C258-4FBF-A064-5621E3BB3DAC}"/>
              </a:ext>
            </a:extLst>
          </p:cNvPr>
          <p:cNvSpPr>
            <a:spLocks noGrp="1"/>
          </p:cNvSpPr>
          <p:nvPr/>
        </p:nvSpPr>
        <p:spPr>
          <a:xfrm>
            <a:off x="8153400" y="1714500"/>
            <a:ext cx="33718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70" name="Accent 03  SAU BÁN HÀNG">
            <a:extLst>
              <a:ext uri="{FF2B5EF4-FFF2-40B4-BE49-F238E27FC236}">
                <a16:creationId xmlns:a16="http://schemas.microsoft.com/office/drawing/2014/main" id="{F9AC4DB2-77F9-4602-8692-FEE25DD1D34F}"/>
              </a:ext>
            </a:extLst>
          </p:cNvPr>
          <p:cNvSpPr>
            <a:spLocks noGrp="1"/>
          </p:cNvSpPr>
          <p:nvPr/>
        </p:nvSpPr>
        <p:spPr>
          <a:xfrm>
            <a:off x="8153400" y="1714500"/>
            <a:ext cx="337185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1" name="Rectangle 70">
            <a:extLst>
              <a:ext uri="{FF2B5EF4-FFF2-40B4-BE49-F238E27FC236}">
                <a16:creationId xmlns:a16="http://schemas.microsoft.com/office/drawing/2014/main" id="{3E53042F-F72B-44FF-9F99-FA6CB858C5A2}"/>
              </a:ext>
            </a:extLst>
          </p:cNvPr>
          <p:cNvSpPr>
            <a:spLocks noGrp="1"/>
          </p:cNvSpPr>
          <p:nvPr/>
        </p:nvSpPr>
        <p:spPr>
          <a:xfrm>
            <a:off x="8324850" y="1905000"/>
            <a:ext cx="30289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03  SAU BÁN HÀNG</a:t>
            </a:r>
          </a:p>
        </p:txBody>
      </p:sp>
      <p:sp>
        <p:nvSpPr>
          <p:cNvPr id="72" name="Rectangle 71">
            <a:extLst>
              <a:ext uri="{FF2B5EF4-FFF2-40B4-BE49-F238E27FC236}">
                <a16:creationId xmlns:a16="http://schemas.microsoft.com/office/drawing/2014/main" id="{C5DE276E-F2F7-42CD-9FF8-2CB165C59AD7}"/>
              </a:ext>
            </a:extLst>
          </p:cNvPr>
          <p:cNvSpPr>
            <a:spLocks noGrp="1"/>
          </p:cNvSpPr>
          <p:nvPr/>
        </p:nvSpPr>
        <p:spPr>
          <a:xfrm>
            <a:off x="8305800" y="2381250"/>
            <a:ext cx="30670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Bảo hành, đổi trả và hỗ trợ kỹ thuật nhằm duy trì trải nghiệm khách hàng.</a:t>
            </a:r>
          </a:p>
        </p:txBody>
      </p:sp>
      <p:sp>
        <p:nvSpPr>
          <p:cNvPr id="73" name="Rectangle: Rounded Corners 72">
            <a:extLst>
              <a:ext uri="{FF2B5EF4-FFF2-40B4-BE49-F238E27FC236}">
                <a16:creationId xmlns:a16="http://schemas.microsoft.com/office/drawing/2014/main" id="{E40F1EBE-3D85-4DED-8EFC-314810CAF8F8}"/>
              </a:ext>
            </a:extLst>
          </p:cNvPr>
          <p:cNvSpPr>
            <a:spLocks noGrp="1"/>
          </p:cNvSpPr>
          <p:nvPr/>
        </p:nvSpPr>
        <p:spPr>
          <a:xfrm>
            <a:off x="571500" y="4533900"/>
            <a:ext cx="10953750" cy="1257300"/>
          </a:xfrm>
          <a:prstGeom prst="roundRect">
            <a:avLst>
              <a:gd name="adj" fmla="val 13636"/>
            </a:avLst>
          </a:prstGeom>
          <a:solidFill>
            <a:srgbClr val="F5F9FF"/>
          </a:solidFill>
          <a:ln w="11430">
            <a:solidFill>
              <a:srgbClr val="C9DAF5"/>
            </a:solidFill>
            <a:prstDash val="solid"/>
          </a:ln>
        </p:spPr>
        <p:txBody>
          <a:bodyPr wrap="square" lIns="95250" tIns="66675" rIns="95250" bIns="66675" anchor="ctr">
            <a:noAutofit/>
          </a:bodyPr>
          <a:lstStyle/>
          <a:p>
            <a:pPr algn="ctr">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Nhà cung cấp → Nguồn hàng → Kho/Cửa hàng
Kênh trực tuyến → Khách hàng → Hậu mãi</a:t>
            </a:r>
          </a:p>
        </p:txBody>
      </p:sp>
    </p:spTree>
    <p:extLst>
      <p:ext uri="{BB962C8B-B14F-4D97-AF65-F5344CB8AC3E}">
        <p14:creationId xmlns:p14="http://schemas.microsoft.com/office/powerpoint/2010/main" val="985234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85EEAF-7351-4352-B80D-C91F9A877DB8}"/>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4B525CC-4847-47C8-88E8-D4ED528D678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F5C809DA-0526-4AC1-B92F-34C1B8E78CAB}"/>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2697010F-FEF1-44C5-B567-B25875877CE9}"/>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F81270E4-5432-400C-B591-07AFAEE6C5E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3BBBB558-AB47-4D03-B3F7-D77FD7DEEB88}"/>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1E8D3BE3-B093-4767-9B27-E35CA89A265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A6FB7468-EC02-46F6-80A3-E8A6869B1F53}"/>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F04C47D8-499D-4B01-8B2E-232EEC1038A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CF47B291-37BC-49BB-B21F-727A0A729F83}"/>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9F9610B8-5790-45F4-BE85-5E4A939149B2}"/>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B50A3EC9-94D5-4861-AB34-E972C6B05813}"/>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046E971-EBAF-4AE8-B68A-78F3ECE813AF}"/>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BAB12842-0915-4028-8D10-FEFBAA6DE6B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8DAFA64-0929-4D18-9E24-68D6204EEFBA}"/>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8D19FB03-EB0B-4D75-A59D-A8C69C121CB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0B6598CA-1FF1-4501-8A0F-8001D5AFDE9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A1A9F3C5-2E09-4EC6-B819-B2F296E85EBA}"/>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8FDF8BA3-6852-46BC-AC9F-2EF1779B3E6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276F77B9-8021-4690-953D-BA74CF1706AD}"/>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F8DB9F24-E4F2-49E0-9AF8-1F73963AFD4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B59C8A4E-4CA5-4268-83FA-9DA631F6A28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8C82C16-67EB-4EA5-9DB5-D071E63B35F5}"/>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7EB5CB8F-272D-43CE-9907-96DCC9C34A5E}"/>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21286BC-5C1C-4959-8061-A7F07BB303E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11B664A8-3F70-4087-B382-4EB97003E9D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7F9D790B-E427-49E4-8C8D-9D914847067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3A527E39-ECCF-4565-B0AD-AAE744FFCBA3}"/>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3834DC39-6F21-4373-A13F-DC37AEF15771}"/>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2FAC8FD4-E695-46CD-9690-8BFF0D2F889F}"/>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D5A8C35-39A2-42E6-9F07-27D7991F3C5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3449AA0B-DA92-45E9-B2D1-AB9B357F9F9D}"/>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BA8345E4-7723-42F6-9D35-0B19B5CEFDDE}"/>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C1E583A5-D1DE-464E-B2F9-F64DC377BE63}"/>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3F213B2D-D603-4B0C-896B-6822EF13FA02}"/>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7584232D-9FDB-4538-B9A8-C92A31B7861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65DABA60-DC6C-420A-8169-5C77F4B3F28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3E0A062-53D8-4743-B245-0ECD8F0479CA}"/>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EAE28A1-FF63-49B1-B9BE-A53A08B505B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BBF49BFA-3A83-4E87-A1B0-3A1A67211898}"/>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0ECCB623-25D4-47E7-A2D3-AB74E251BAD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CCE0CB0-3BB7-4B26-B21F-F19D061522D6}"/>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F1060F3E-F199-4BDD-BB38-85D5DF40782D}"/>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1EB3C01E-DD83-4CEE-B30F-187C46230A50}"/>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1A5AE25-3D47-4FAA-94D0-3AA59D87EEF6}"/>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6068577-62E7-4C40-9877-EF527DE74656}"/>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6ED61750-E680-4BE4-A107-E41851D763AA}"/>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D708ADC8-893A-42B7-B307-7615B700A11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F197116D-6B23-4C36-BC7C-0D33DB1F355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07</a:t>
            </a:r>
          </a:p>
        </p:txBody>
      </p:sp>
      <p:sp>
        <p:nvSpPr>
          <p:cNvPr id="60" name="Rectangle 59">
            <a:extLst>
              <a:ext uri="{FF2B5EF4-FFF2-40B4-BE49-F238E27FC236}">
                <a16:creationId xmlns:a16="http://schemas.microsoft.com/office/drawing/2014/main" id="{9B0ECFC6-3BED-46C0-B090-7E0576726E92}"/>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CƠ CẤU TỔ CHỨC FPT RETAIL</a:t>
            </a:r>
          </a:p>
        </p:txBody>
      </p:sp>
      <p:pic>
        <p:nvPicPr>
          <p:cNvPr id="112" name="Picture 111"/>
          <p:cNvPicPr>
            <a:picLocks noChangeAspect="1"/>
          </p:cNvPicPr>
          <p:nvPr/>
        </p:nvPicPr>
        <p:blipFill>
          <a:blip r:embed="rId3"/>
          <a:stretch/>
        </p:blipFill>
        <p:spPr>
          <a:xfrm>
            <a:off x="1853565" y="1638801"/>
            <a:ext cx="8542020" cy="4494798"/>
          </a:xfrm>
          <a:prstGeom prst="rect">
            <a:avLst/>
          </a:prstGeom>
        </p:spPr>
      </p:pic>
    </p:spTree>
    <p:extLst>
      <p:ext uri="{BB962C8B-B14F-4D97-AF65-F5344CB8AC3E}">
        <p14:creationId xmlns:p14="http://schemas.microsoft.com/office/powerpoint/2010/main" val="109543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A846433-66BB-4787-A165-0919B4AB79DC}"/>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A6D03FD-E59A-4729-A767-4329588B8F4B}"/>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00E462D4-7563-4994-8D86-A9DDE6CE0FFC}"/>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1E2C1155-3BC3-4865-879D-396EAEC4A30F}"/>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5BA15CD6-E646-4A33-9DD5-200F93639B1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F1ED9EBB-1494-4683-BAC6-84E12D02F9BA}"/>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ECDF811C-8CDE-4E3E-8135-BCCC3605903E}"/>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97808DC-8859-4FAD-8A4D-B3DF4AED4A25}"/>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36B4B86D-B3F8-401D-A97F-04502D1933A7}"/>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24EFC251-0B7D-45E1-A61C-33A5B1542D2B}"/>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1FBE4F1-3D0D-4794-8445-1ECB62EB6F79}"/>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3163F7B-D967-4112-9E61-47F837F77678}"/>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97FE0BCF-BE08-4891-847E-DAA4BE2FE6CC}"/>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3072780-4347-43C7-A4A4-626D6B06CA5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75C9EFEF-680E-4DE1-A6CA-8C64640B44E5}"/>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66E067AD-2083-4295-8445-51540BBF1EEC}"/>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9C34690A-28CA-4BB6-83D9-E61684FEF5A3}"/>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757F66BA-98A4-40D0-B77A-93C347AF3A66}"/>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FE720CBD-8789-43A7-9753-0F2B2FEEACC6}"/>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604F49A0-B917-4857-8F72-EE542788FFAF}"/>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1FD7DAB7-58FF-46A3-B300-706C48D28CB0}"/>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68C09EEC-41D4-4AA1-931F-AA726FE3FD4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3410FC09-0EDB-40D6-9A45-F9D0F201BE27}"/>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6726E3CE-ADDC-4F2B-94A2-28562F63B1E7}"/>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B80A3DB7-5C62-472B-ABFB-1329D47C9209}"/>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E1C145E0-DE6B-4ACA-B5E7-BE499D34EF87}"/>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6ABAEE74-FFB9-41DF-9F9A-C54406FE3CD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1FEBC7FE-0E94-4E8A-B436-585559A4EEAA}"/>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AF67EE0E-8A0B-41D5-940E-8C2596148F73}"/>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32974009-55F7-451D-A382-B2ADD864E7F5}"/>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67D6109C-0ED7-4F5D-8670-DC25682C2243}"/>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E81B4976-BD7A-4466-A0EA-0998CCC1E910}"/>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79EA1A47-A664-4E83-8210-724E6DCB6954}"/>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B15BD6C-6401-43A9-A465-8B2161296CE0}"/>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97684471-9057-4832-9D11-B3309B92EAA0}"/>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1D895CFB-8960-4CC3-98CA-EDFAD3E37254}"/>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7E80E156-256B-4D04-9376-9B98BB564E6D}"/>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561BA864-9DDB-4D4C-B775-346513EF9229}"/>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9DAC1388-FC90-4A80-8FCA-4671BB8D0573}"/>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0360054-9024-4458-A8A3-22F007AC6603}"/>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CF6035D7-C305-425A-B1DB-56ED317BD7FF}"/>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74FAA513-DFCE-4F0E-B40F-9A46C0603ABE}"/>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DC4F4414-BF5B-4C30-B266-0438FF9E8210}"/>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3E45E5A2-1329-4128-9602-0C2F8D9F6B6A}"/>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34BFCBB-C83C-4572-B8B4-7672C9DC5CDF}"/>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C968FA2-CC19-4DE7-8023-DA10A015027B}"/>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47AD02D3-1FF2-4ABD-8A73-0E0FF23694B3}"/>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F0CDBCBA-AEFB-40C8-A8D5-52F652C22770}"/>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D001EF79-0BE0-4632-A68A-D8ABB81F9085}"/>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08</a:t>
            </a:r>
          </a:p>
        </p:txBody>
      </p:sp>
      <p:sp>
        <p:nvSpPr>
          <p:cNvPr id="60" name="Rectangle 59">
            <a:extLst>
              <a:ext uri="{FF2B5EF4-FFF2-40B4-BE49-F238E27FC236}">
                <a16:creationId xmlns:a16="http://schemas.microsoft.com/office/drawing/2014/main" id="{1251964C-83A2-420E-9985-846CCDDECCC6}"/>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KIẾN TRÚC QUY TRÌNH NGHIỆP VỤ</a:t>
            </a:r>
          </a:p>
        </p:txBody>
      </p:sp>
      <p:pic>
        <p:nvPicPr>
          <p:cNvPr id="113" name="Picture 112"/>
          <p:cNvPicPr>
            <a:picLocks noChangeAspect="1"/>
          </p:cNvPicPr>
          <p:nvPr/>
        </p:nvPicPr>
        <p:blipFill>
          <a:blip r:embed="rId3"/>
          <a:stretch/>
        </p:blipFill>
        <p:spPr>
          <a:xfrm>
            <a:off x="1054894" y="1638300"/>
            <a:ext cx="4843463" cy="4495800"/>
          </a:xfrm>
          <a:prstGeom prst="rect">
            <a:avLst/>
          </a:prstGeom>
        </p:spPr>
      </p:pic>
      <p:graphicFrame>
        <p:nvGraphicFramePr>
          <p:cNvPr id="114" name="Table 113"/>
          <p:cNvGraphicFramePr/>
          <p:nvPr/>
        </p:nvGraphicFramePr>
        <p:xfrm>
          <a:off x="6457950" y="1857375"/>
          <a:ext cx="5048250" cy="3990975"/>
        </p:xfrm>
        <a:graphic>
          <a:graphicData uri="http://schemas.openxmlformats.org/drawingml/2006/table">
            <a:tbl>
              <a:tblPr firstRow="1"/>
              <a:tblGrid>
                <a:gridCol w="1666875">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tblGrid>
              <a:tr h="476250">
                <a:tc>
                  <a:txBody>
                    <a:bodyPr/>
                    <a:lstStyle/>
                    <a:p>
                      <a:pPr algn="l">
                        <a:lnSpc>
                          <a:spcPct val="104000"/>
                        </a:lnSpc>
                        <a:buNone/>
                      </a:pPr>
                      <a:r>
                        <a:rPr sz="1650" b="1">
                          <a:solidFill>
                            <a:srgbClr val="FFFFFF"/>
                          </a:solidFill>
                          <a:latin typeface="Arial"/>
                          <a:ea typeface="Arial"/>
                          <a:cs typeface="Arial"/>
                        </a:rPr>
                        <a:t>Nhóm</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Vai trò</a:t>
                      </a:r>
                    </a:p>
                  </a:txBody>
                  <a:tcPr anchor="ctr">
                    <a:solidFill>
                      <a:srgbClr val="0B5ED7"/>
                    </a:solidFill>
                  </a:tcPr>
                </a:tc>
                <a:extLst>
                  <a:ext uri="{0D108BD9-81ED-4DB2-BD59-A6C34878D82A}">
                    <a16:rowId xmlns:a16="http://schemas.microsoft.com/office/drawing/2014/main" val="10000"/>
                  </a:ext>
                </a:extLst>
              </a:tr>
              <a:tr h="1171575">
                <a:tc>
                  <a:txBody>
                    <a:bodyPr/>
                    <a:lstStyle/>
                    <a:p>
                      <a:pPr algn="l">
                        <a:lnSpc>
                          <a:spcPct val="104000"/>
                        </a:lnSpc>
                        <a:buNone/>
                      </a:pPr>
                      <a:r>
                        <a:rPr sz="1650" b="0">
                          <a:solidFill>
                            <a:srgbClr val="17325C"/>
                          </a:solidFill>
                          <a:latin typeface="Arial"/>
                          <a:ea typeface="Arial"/>
                          <a:cs typeface="Arial"/>
                        </a:rPr>
                        <a:t>Quản lý</a:t>
                      </a:r>
                    </a:p>
                    <a:p>
                      <a:pPr algn="l">
                        <a:lnSpc>
                          <a:spcPct val="104000"/>
                        </a:lnSpc>
                        <a:buNone/>
                      </a:pPr>
                      <a:r>
                        <a:rPr sz="1650" b="0">
                          <a:solidFill>
                            <a:srgbClr val="17325C"/>
                          </a:solidFill>
                          <a:latin typeface="Arial"/>
                          <a:ea typeface="Arial"/>
                          <a:cs typeface="Arial"/>
                        </a:rPr>
                        <a:t>5 quy trình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Định hướng, kiểm soát và đánh giá hoạt động.</a:t>
                      </a:r>
                    </a:p>
                  </a:txBody>
                  <a:tcPr anchor="ctr">
                    <a:solidFill>
                      <a:srgbClr val="FFFFFF"/>
                    </a:solidFill>
                  </a:tcPr>
                </a:tc>
                <a:extLst>
                  <a:ext uri="{0D108BD9-81ED-4DB2-BD59-A6C34878D82A}">
                    <a16:rowId xmlns:a16="http://schemas.microsoft.com/office/drawing/2014/main" val="10001"/>
                  </a:ext>
                </a:extLst>
              </a:tr>
              <a:tr h="1171575">
                <a:tc>
                  <a:txBody>
                    <a:bodyPr/>
                    <a:lstStyle/>
                    <a:p>
                      <a:pPr algn="l">
                        <a:lnSpc>
                          <a:spcPct val="104000"/>
                        </a:lnSpc>
                        <a:buNone/>
                      </a:pPr>
                      <a:r>
                        <a:rPr sz="1650" b="0">
                          <a:solidFill>
                            <a:srgbClr val="17325C"/>
                          </a:solidFill>
                          <a:latin typeface="Arial"/>
                          <a:ea typeface="Arial"/>
                          <a:cs typeface="Arial"/>
                        </a:rPr>
                        <a:t>Cốt lõi</a:t>
                      </a:r>
                    </a:p>
                    <a:p>
                      <a:pPr algn="l">
                        <a:lnSpc>
                          <a:spcPct val="104000"/>
                        </a:lnSpc>
                        <a:buNone/>
                      </a:pPr>
                      <a:r>
                        <a:rPr sz="1650" b="0">
                          <a:solidFill>
                            <a:srgbClr val="17325C"/>
                          </a:solidFill>
                          <a:latin typeface="Arial"/>
                          <a:ea typeface="Arial"/>
                          <a:cs typeface="Arial"/>
                        </a:rPr>
                        <a:t>8 quy trình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giá trị từ tiếp nhận hàng đến bán hàng và hậu mãi.</a:t>
                      </a:r>
                    </a:p>
                  </a:txBody>
                  <a:tcPr anchor="ctr">
                    <a:solidFill>
                      <a:srgbClr val="F1F6FC"/>
                    </a:solidFill>
                  </a:tcPr>
                </a:tc>
                <a:extLst>
                  <a:ext uri="{0D108BD9-81ED-4DB2-BD59-A6C34878D82A}">
                    <a16:rowId xmlns:a16="http://schemas.microsoft.com/office/drawing/2014/main" val="10002"/>
                  </a:ext>
                </a:extLst>
              </a:tr>
              <a:tr h="1171575">
                <a:tc>
                  <a:txBody>
                    <a:bodyPr/>
                    <a:lstStyle/>
                    <a:p>
                      <a:pPr algn="l">
                        <a:lnSpc>
                          <a:spcPct val="104000"/>
                        </a:lnSpc>
                        <a:buNone/>
                      </a:pPr>
                      <a:r>
                        <a:rPr sz="1650" b="0">
                          <a:solidFill>
                            <a:srgbClr val="17325C"/>
                          </a:solidFill>
                          <a:latin typeface="Arial"/>
                          <a:ea typeface="Arial"/>
                          <a:cs typeface="Arial"/>
                        </a:rPr>
                        <a:t>Hỗ trợ</a:t>
                      </a:r>
                    </a:p>
                    <a:p>
                      <a:pPr algn="l">
                        <a:lnSpc>
                          <a:spcPct val="104000"/>
                        </a:lnSpc>
                        <a:buNone/>
                      </a:pPr>
                      <a:r>
                        <a:rPr sz="1650" b="0">
                          <a:solidFill>
                            <a:srgbClr val="17325C"/>
                          </a:solidFill>
                          <a:latin typeface="Arial"/>
                          <a:ea typeface="Arial"/>
                          <a:cs typeface="Arial"/>
                        </a:rPr>
                        <a:t>4 quy trình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Cung cấp nhân lực, công nghệ và tài chính.</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45301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09</a:t>
            </a:r>
          </a:p>
        </p:txBody>
      </p:sp>
      <p:sp>
        <p:nvSpPr>
          <p:cNvPr id="60" name="Rectangle 59">
            <a:extLst>
              <a:ext uri="{FF2B5EF4-FFF2-40B4-BE49-F238E27FC236}">
                <a16:creationId xmlns:a16="http://schemas.microsoft.com/office/drawing/2014/main" id="{BB88B0F7-4D5E-41D3-913B-2183B1F92198}"/>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CÁC QUY TRÌNH ĐƯỢC LỰA CHỌN</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5905500">
                  <a:extLst>
                    <a:ext uri="{9D8B030D-6E8A-4147-A177-3AD203B41FA5}">
                      <a16:colId xmlns:a16="http://schemas.microsoft.com/office/drawing/2014/main" val="20002"/>
                    </a:ext>
                  </a:extLst>
                </a:gridCol>
              </a:tblGrid>
              <a:tr h="4191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Quy trình</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Phạm vi trình bày</a:t>
                      </a:r>
                    </a:p>
                  </a:txBody>
                  <a:tcPr anchor="ctr">
                    <a:solidFill>
                      <a:srgbClr val="009D9E"/>
                    </a:solidFill>
                  </a:tcPr>
                </a:tc>
                <a:extLst>
                  <a:ext uri="{0D108BD9-81ED-4DB2-BD59-A6C34878D82A}">
                    <a16:rowId xmlns:a16="http://schemas.microsoft.com/office/drawing/2014/main" val="10000"/>
                  </a:ext>
                </a:extLst>
              </a:tr>
              <a:tr h="1263650">
                <a:tc>
                  <a:txBody>
                    <a:bodyPr/>
                    <a:lstStyle/>
                    <a:p>
                      <a:pPr algn="l">
                        <a:lnSpc>
                          <a:spcPct val="104000"/>
                        </a:lnSpc>
                        <a:buNone/>
                      </a:pPr>
                      <a:r>
                        <a:rPr sz="1650" b="0">
                          <a:solidFill>
                            <a:srgbClr val="17325C"/>
                          </a:solidFill>
                          <a:latin typeface="Arial"/>
                          <a:ea typeface="Arial"/>
                          <a:cs typeface="Arial"/>
                        </a:rPr>
                        <a:t>Quản lý</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nhà cung cấp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tác nhân, khách hàng, kết quả, BPMN và phỏng vấn.</a:t>
                      </a:r>
                    </a:p>
                  </a:txBody>
                  <a:tcPr anchor="ctr">
                    <a:solidFill>
                      <a:srgbClr val="FFFFFF"/>
                    </a:solidFill>
                  </a:tcPr>
                </a:tc>
                <a:extLst>
                  <a:ext uri="{0D108BD9-81ED-4DB2-BD59-A6C34878D82A}">
                    <a16:rowId xmlns:a16="http://schemas.microsoft.com/office/drawing/2014/main" val="10001"/>
                  </a:ext>
                </a:extLst>
              </a:tr>
              <a:tr h="1263650">
                <a:tc>
                  <a:txBody>
                    <a:bodyPr/>
                    <a:lstStyle/>
                    <a:p>
                      <a:pPr algn="l">
                        <a:lnSpc>
                          <a:spcPct val="104000"/>
                        </a:lnSpc>
                        <a:buNone/>
                      </a:pPr>
                      <a:r>
                        <a:rPr sz="1650" b="0">
                          <a:solidFill>
                            <a:srgbClr val="17325C"/>
                          </a:solidFill>
                          <a:latin typeface="Arial"/>
                          <a:ea typeface="Arial"/>
                          <a:cs typeface="Arial"/>
                        </a:rPr>
                        <a:t>Cốt lõi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Bán hàng trực tuyến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BPMN, phỏng vấn, định tính, định lượng và các bên liên quan.</a:t>
                      </a:r>
                    </a:p>
                  </a:txBody>
                  <a:tcPr anchor="ctr">
                    <a:solidFill>
                      <a:srgbClr val="F1F6FC"/>
                    </a:solidFill>
                  </a:tcPr>
                </a:tc>
                <a:extLst>
                  <a:ext uri="{0D108BD9-81ED-4DB2-BD59-A6C34878D82A}">
                    <a16:rowId xmlns:a16="http://schemas.microsoft.com/office/drawing/2014/main" val="10002"/>
                  </a:ext>
                </a:extLst>
              </a:tr>
              <a:tr h="1263650">
                <a:tc>
                  <a:txBody>
                    <a:bodyPr/>
                    <a:lstStyle/>
                    <a:p>
                      <a:pPr algn="l">
                        <a:lnSpc>
                          <a:spcPct val="104000"/>
                        </a:lnSpc>
                        <a:buNone/>
                      </a:pPr>
                      <a:r>
                        <a:rPr sz="1650" b="0">
                          <a:solidFill>
                            <a:srgbClr val="17325C"/>
                          </a:solidFill>
                          <a:latin typeface="Arial"/>
                          <a:ea typeface="Arial"/>
                          <a:cs typeface="Arial"/>
                        </a:rPr>
                        <a:t>Hỗ trợ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Tuyển dụng nhân sự</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tác nhân, khách hàng, kết quả, BPMN và phỏng vấn.</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85EEAF-7351-4352-B80D-C91F9A877DB8}"/>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4B525CC-4847-47C8-88E8-D4ED528D678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F5C809DA-0526-4AC1-B92F-34C1B8E78CAB}"/>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2697010F-FEF1-44C5-B567-B25875877CE9}"/>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F81270E4-5432-400C-B591-07AFAEE6C5E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3BBBB558-AB47-4D03-B3F7-D77FD7DEEB88}"/>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1E8D3BE3-B093-4767-9B27-E35CA89A265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A6FB7468-EC02-46F6-80A3-E8A6869B1F53}"/>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F04C47D8-499D-4B01-8B2E-232EEC1038A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CF47B291-37BC-49BB-B21F-727A0A729F83}"/>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9F9610B8-5790-45F4-BE85-5E4A939149B2}"/>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B50A3EC9-94D5-4861-AB34-E972C6B05813}"/>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046E971-EBAF-4AE8-B68A-78F3ECE813AF}"/>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BAB12842-0915-4028-8D10-FEFBAA6DE6B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8DAFA64-0929-4D18-9E24-68D6204EEFBA}"/>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8D19FB03-EB0B-4D75-A59D-A8C69C121CB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0B6598CA-1FF1-4501-8A0F-8001D5AFDE9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A1A9F3C5-2E09-4EC6-B819-B2F296E85EBA}"/>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8FDF8BA3-6852-46BC-AC9F-2EF1779B3E6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276F77B9-8021-4690-953D-BA74CF1706AD}"/>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F8DB9F24-E4F2-49E0-9AF8-1F73963AFD4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B59C8A4E-4CA5-4268-83FA-9DA631F6A28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8C82C16-67EB-4EA5-9DB5-D071E63B35F5}"/>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7EB5CB8F-272D-43CE-9907-96DCC9C34A5E}"/>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21286BC-5C1C-4959-8061-A7F07BB303E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11B664A8-3F70-4087-B382-4EB97003E9D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7F9D790B-E427-49E4-8C8D-9D914847067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3A527E39-ECCF-4565-B0AD-AAE744FFCBA3}"/>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3834DC39-6F21-4373-A13F-DC37AEF15771}"/>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2FAC8FD4-E695-46CD-9690-8BFF0D2F889F}"/>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D5A8C35-39A2-42E6-9F07-27D7991F3C5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3449AA0B-DA92-45E9-B2D1-AB9B357F9F9D}"/>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BA8345E4-7723-42F6-9D35-0B19B5CEFDDE}"/>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C1E583A5-D1DE-464E-B2F9-F64DC377BE63}"/>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3F213B2D-D603-4B0C-896B-6822EF13FA02}"/>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7584232D-9FDB-4538-B9A8-C92A31B7861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65DABA60-DC6C-420A-8169-5C77F4B3F28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3E0A062-53D8-4743-B245-0ECD8F0479CA}"/>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EAE28A1-FF63-49B1-B9BE-A53A08B505B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BBF49BFA-3A83-4E87-A1B0-3A1A67211898}"/>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0ECCB623-25D4-47E7-A2D3-AB74E251BAD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CCE0CB0-3BB7-4B26-B21F-F19D061522D6}"/>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F1060F3E-F199-4BDD-BB38-85D5DF40782D}"/>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1EB3C01E-DD83-4CEE-B30F-187C46230A50}"/>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1A5AE25-3D47-4FAA-94D0-3AA59D87EEF6}"/>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6068577-62E7-4C40-9877-EF527DE74656}"/>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6ED61750-E680-4BE4-A107-E41851D763AA}"/>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D708ADC8-893A-42B7-B307-7615B700A11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F197116D-6B23-4C36-BC7C-0D33DB1F355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10</a:t>
            </a:r>
          </a:p>
        </p:txBody>
      </p:sp>
      <p:sp>
        <p:nvSpPr>
          <p:cNvPr id="60" name="Rectangle 59">
            <a:extLst>
              <a:ext uri="{FF2B5EF4-FFF2-40B4-BE49-F238E27FC236}">
                <a16:creationId xmlns:a16="http://schemas.microsoft.com/office/drawing/2014/main" id="{92CFA504-26F2-48BB-AC88-8C56449BE768}"/>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II. PHƯƠNG PHÁP THỰC HIỆN</a:t>
            </a:r>
          </a:p>
        </p:txBody>
      </p:sp>
      <p:graphicFrame>
        <p:nvGraphicFramePr>
          <p:cNvPr id="112" name="Table 111"/>
          <p:cNvGraphicFramePr/>
          <p:nvPr/>
        </p:nvGraphicFramePr>
        <p:xfrm>
          <a:off x="742950" y="1714500"/>
          <a:ext cx="10763250" cy="4124325"/>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457200">
                <a:tc>
                  <a:txBody>
                    <a:bodyPr/>
                    <a:lstStyle/>
                    <a:p>
                      <a:pPr algn="l">
                        <a:lnSpc>
                          <a:spcPct val="104000"/>
                        </a:lnSpc>
                        <a:buNone/>
                      </a:pPr>
                      <a:r>
                        <a:rPr sz="1650" b="1">
                          <a:solidFill>
                            <a:srgbClr val="FFFFFF"/>
                          </a:solidFill>
                          <a:latin typeface="Arial"/>
                          <a:ea typeface="Arial"/>
                          <a:cs typeface="Arial"/>
                        </a:rPr>
                        <a:t>Nguồn/Phương pháp</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sử dụng</a:t>
                      </a:r>
                    </a:p>
                  </a:txBody>
                  <a:tcPr anchor="ctr">
                    <a:solidFill>
                      <a:srgbClr val="0B5ED7"/>
                    </a:solidFill>
                  </a:tcPr>
                </a:tc>
                <a:extLst>
                  <a:ext uri="{0D108BD9-81ED-4DB2-BD59-A6C34878D82A}">
                    <a16:rowId xmlns:a16="http://schemas.microsoft.com/office/drawing/2014/main" val="10000"/>
                  </a:ext>
                </a:extLst>
              </a:tr>
              <a:tr h="733425">
                <a:tc>
                  <a:txBody>
                    <a:bodyPr/>
                    <a:lstStyle/>
                    <a:p>
                      <a:pPr algn="l">
                        <a:lnSpc>
                          <a:spcPct val="104000"/>
                        </a:lnSpc>
                        <a:buNone/>
                      </a:pPr>
                      <a:r>
                        <a:rPr sz="1650" b="0">
                          <a:solidFill>
                            <a:srgbClr val="17325C"/>
                          </a:solidFill>
                          <a:latin typeface="Arial"/>
                          <a:ea typeface="Arial"/>
                          <a:cs typeface="Arial"/>
                        </a:rPr>
                        <a:t>Tài liệu và bằng chứng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quy trình hiện có, cơ cấu tổ chức, chính sách và thông tin doanh nghiệp.</a:t>
                      </a:r>
                    </a:p>
                  </a:txBody>
                  <a:tcPr anchor="ctr">
                    <a:solidFill>
                      <a:srgbClr val="FFFFFF"/>
                    </a:solidFill>
                  </a:tcPr>
                </a:tc>
                <a:extLst>
                  <a:ext uri="{0D108BD9-81ED-4DB2-BD59-A6C34878D82A}">
                    <a16:rowId xmlns:a16="http://schemas.microsoft.com/office/drawing/2014/main" val="10001"/>
                  </a:ext>
                </a:extLst>
              </a:tr>
              <a:tr h="733425">
                <a:tc>
                  <a:txBody>
                    <a:bodyPr/>
                    <a:lstStyle/>
                    <a:p>
                      <a:pPr algn="l">
                        <a:lnSpc>
                          <a:spcPct val="104000"/>
                        </a:lnSpc>
                        <a:buNone/>
                      </a:pPr>
                      <a:r>
                        <a:rPr sz="1650" b="0">
                          <a:solidFill>
                            <a:srgbClr val="17325C"/>
                          </a:solidFill>
                          <a:latin typeface="Arial"/>
                          <a:ea typeface="Arial"/>
                          <a:cs typeface="Arial"/>
                        </a:rPr>
                        <a:t>Kế hoạch và thuật ngữ</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định công việc, người thực hiện; thống nhất khái niệm trong mô hình.</a:t>
                      </a:r>
                    </a:p>
                  </a:txBody>
                  <a:tcPr anchor="ctr">
                    <a:solidFill>
                      <a:srgbClr val="F1F6FC"/>
                    </a:solidFill>
                  </a:tcPr>
                </a:tc>
                <a:extLst>
                  <a:ext uri="{0D108BD9-81ED-4DB2-BD59-A6C34878D82A}">
                    <a16:rowId xmlns:a16="http://schemas.microsoft.com/office/drawing/2014/main" val="10002"/>
                  </a:ext>
                </a:extLst>
              </a:tr>
              <a:tr h="733425">
                <a:tc>
                  <a:txBody>
                    <a:bodyPr/>
                    <a:lstStyle/>
                    <a:p>
                      <a:pPr algn="l">
                        <a:lnSpc>
                          <a:spcPct val="104000"/>
                        </a:lnSpc>
                        <a:buNone/>
                      </a:pPr>
                      <a:r>
                        <a:rPr sz="1650" b="0">
                          <a:solidFill>
                            <a:srgbClr val="17325C"/>
                          </a:solidFill>
                          <a:latin typeface="Arial"/>
                          <a:ea typeface="Arial"/>
                          <a:cs typeface="Arial"/>
                        </a:rPr>
                        <a:t>Biểu mẫu nghiệp vụ</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hàng; xác nhận đơn; phiếu soạn hàng; bàn giao; COD; báo cáo vận hành.</a:t>
                      </a:r>
                    </a:p>
                  </a:txBody>
                  <a:tcPr anchor="ctr">
                    <a:solidFill>
                      <a:srgbClr val="FFFFFF"/>
                    </a:solidFill>
                  </a:tcPr>
                </a:tc>
                <a:extLst>
                  <a:ext uri="{0D108BD9-81ED-4DB2-BD59-A6C34878D82A}">
                    <a16:rowId xmlns:a16="http://schemas.microsoft.com/office/drawing/2014/main" val="10003"/>
                  </a:ext>
                </a:extLst>
              </a:tr>
              <a:tr h="733425">
                <a:tc>
                  <a:txBody>
                    <a:bodyPr/>
                    <a:lstStyle/>
                    <a:p>
                      <a:pPr algn="l">
                        <a:lnSpc>
                          <a:spcPct val="104000"/>
                        </a:lnSpc>
                        <a:buNone/>
                      </a:pPr>
                      <a:r>
                        <a:rPr sz="1650" b="0">
                          <a:solidFill>
                            <a:srgbClr val="17325C"/>
                          </a:solidFill>
                          <a:latin typeface="Arial"/>
                          <a:ea typeface="Arial"/>
                          <a:cs typeface="Arial"/>
                        </a:rPr>
                        <a:t>Phỏng vấn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Câu hỏi định tính và định lượng; có cấu trúc và không có cấu trúc.</a:t>
                      </a:r>
                    </a:p>
                  </a:txBody>
                  <a:tcPr anchor="ctr">
                    <a:solidFill>
                      <a:srgbClr val="F1F6FC"/>
                    </a:solidFill>
                  </a:tcPr>
                </a:tc>
                <a:extLst>
                  <a:ext uri="{0D108BD9-81ED-4DB2-BD59-A6C34878D82A}">
                    <a16:rowId xmlns:a16="http://schemas.microsoft.com/office/drawing/2014/main" val="10004"/>
                  </a:ext>
                </a:extLst>
              </a:tr>
              <a:tr h="733425">
                <a:tc>
                  <a:txBody>
                    <a:bodyPr/>
                    <a:lstStyle/>
                    <a:p>
                      <a:pPr algn="l">
                        <a:lnSpc>
                          <a:spcPct val="104000"/>
                        </a:lnSpc>
                        <a:buNone/>
                      </a:pPr>
                      <a:r>
                        <a:rPr sz="1650" b="0">
                          <a:solidFill>
                            <a:srgbClr val="17325C"/>
                          </a:solidFill>
                          <a:latin typeface="Arial"/>
                          <a:ea typeface="Arial"/>
                          <a:cs typeface="Arial"/>
                        </a:rPr>
                        <a:t>Mô hình hóa và phân tích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BPMN; phân loại VA/BVA/NVA; lãng phí; thời gian, chất lượng, chi phí.</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9543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III. QUẢN LÝ NHÀ CUNG CẤP</a:t>
            </a:r>
          </a:p>
        </p:txBody>
      </p:sp>
      <p:graphicFrame>
        <p:nvGraphicFramePr>
          <p:cNvPr id="112" name="Table 111"/>
          <p:cNvGraphicFramePr/>
          <p:nvPr>
            <p:extLst>
              <p:ext uri="{D42A27DB-BD31-4B8C-83A1-F6EECF244321}">
                <p14:modId xmlns:p14="http://schemas.microsoft.com/office/powerpoint/2010/main" val="601294971"/>
              </p:ext>
            </p:extLst>
          </p:nvPr>
        </p:nvGraphicFramePr>
        <p:xfrm>
          <a:off x="742950" y="1714500"/>
          <a:ext cx="10763250" cy="42291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vị đề nghị/Ngành hàng; Nhân viên mua hàng/PM ngành hàng; Cấp có thẩm quyền; Nhà cung cấp.</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Đơn vị đề nghị/Ngành hàng có nhu cầu mua sắm.</a:t>
                      </a:r>
                    </a:p>
                  </a:txBody>
                  <a:tcPr anchor="ctr">
                    <a:solidFill>
                      <a:srgbClr val="F1F6FC"/>
                    </a:solidFill>
                  </a:tcPr>
                </a:tc>
                <a:extLst>
                  <a:ext uri="{0D108BD9-81ED-4DB2-BD59-A6C34878D82A}">
                    <a16:rowId xmlns:a16="http://schemas.microsoft.com/office/drawing/2014/main" val="10002"/>
                  </a:ext>
                </a:extLst>
              </a:tr>
              <a:tr h="10096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định nhu cầu → rà soát, tìm và đánh giá nhà cung cấp → đàm phán → trình xin thống nhất ký kết → ký và theo dõi hợp đồng → thanh quyết toán → đánh giá lại.</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Đáp ứng nhu cầu mua sắm; kiểm soát lựa chọn, hợp đồng và chất lượng nhà cung cấp.</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lang="en-US" sz="1650" b="0" dirty="0" err="1">
                          <a:solidFill>
                            <a:srgbClr val="17325C"/>
                          </a:solidFill>
                          <a:latin typeface="Arial"/>
                          <a:ea typeface="Arial"/>
                          <a:cs typeface="Arial"/>
                        </a:rPr>
                        <a:t>Nhà</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cung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cấp</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được</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khuyến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nghị</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nhà</a:t>
                      </a:r>
                      <a:r>
                        <a:rPr sz="1650" b="0" dirty="0">
                          <a:solidFill>
                            <a:srgbClr val="17325C"/>
                          </a:solidFill>
                          <a:latin typeface="Arial"/>
                          <a:ea typeface="Arial"/>
                          <a:cs typeface="Arial"/>
                        </a:rPr>
                        <a:t> </a:t>
                      </a:r>
                      <a:r>
                        <a:rPr sz="1650" b="0" dirty="0" err="1">
                          <a:solidFill>
                            <a:srgbClr val="17325C"/>
                          </a:solidFill>
                          <a:latin typeface="Arial"/>
                          <a:ea typeface="Arial"/>
                          <a:cs typeface="Arial"/>
                        </a:rPr>
                        <a:t>cung</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cấp</a:t>
                      </a:r>
                      <a:r>
                        <a:rPr sz="1650" b="0" dirty="0">
                          <a:solidFill>
                            <a:srgbClr val="17325C"/>
                          </a:solidFill>
                          <a:latin typeface="Arial"/>
                          <a:ea typeface="Arial"/>
                          <a:cs typeface="Arial"/>
                        </a:rPr>
                        <a:t>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được</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khuyến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nghị</a:t>
                      </a:r>
                      <a:r>
                        <a:rPr sz="1650" b="0" dirty="0">
                          <a:solidFill>
                            <a:srgbClr val="17325C"/>
                          </a:solidFill>
                          <a:latin typeface="Arial"/>
                          <a:ea typeface="Arial"/>
                          <a:cs typeface="Arial"/>
                        </a:rPr>
                        <a:t>;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thống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nhất</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ký</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ký</a:t>
                      </a:r>
                      <a:r>
                        <a:rPr sz="1650" b="0" dirty="0">
                          <a:solidFill>
                            <a:srgbClr val="17325C"/>
                          </a:solidFill>
                          <a:latin typeface="Arial"/>
                          <a:ea typeface="Arial"/>
                          <a:cs typeface="Arial"/>
                        </a:rPr>
                        <a:t>.</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QUẢN LÝ NHÀ CUNG CẤP</a:t>
            </a:r>
          </a:p>
        </p:txBody>
      </p:sp>
      <p:pic>
        <p:nvPicPr>
          <p:cNvPr id="7" name="Graphic 1">
            <a:extLst>
              <a:ext uri="{FF2B5EF4-FFF2-40B4-BE49-F238E27FC236}">
                <a16:creationId xmlns:a16="http://schemas.microsoft.com/office/drawing/2014/main" id="{043B4857-ADF8-CEBC-6349-D3F282632D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75353" y="1495425"/>
            <a:ext cx="6661930" cy="4360164"/>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LỰA CHỌN VÀ THỐNG NHẤT NHÀ CUNG CẤP</a:t>
            </a:r>
          </a:p>
        </p:txBody>
      </p:sp>
      <p:graphicFrame>
        <p:nvGraphicFramePr>
          <p:cNvPr id="114" name="Table 113"/>
          <p:cNvGraphicFramePr/>
          <p:nvPr/>
        </p:nvGraphicFramePr>
        <p:xfrm>
          <a:off x="742950" y="5124450"/>
          <a:ext cx="10763250" cy="1047750"/>
        </p:xfrm>
        <a:graphic>
          <a:graphicData uri="http://schemas.openxmlformats.org/drawingml/2006/table">
            <a:tbl>
              <a:tblPr firstRow="1"/>
              <a:tblGrid>
                <a:gridCol w="7048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tblGrid>
              <a:tr h="400050">
                <a:tc>
                  <a:txBody>
                    <a:bodyPr/>
                    <a:lstStyle/>
                    <a:p>
                      <a:pPr algn="l">
                        <a:lnSpc>
                          <a:spcPct val="104000"/>
                        </a:lnSpc>
                        <a:buNone/>
                      </a:pPr>
                      <a:r>
                        <a:rPr sz="1650" b="1">
                          <a:solidFill>
                            <a:srgbClr val="FFFFFF"/>
                          </a:solidFill>
                          <a:latin typeface="Arial"/>
                          <a:ea typeface="Arial"/>
                          <a:cs typeface="Arial"/>
                        </a:rPr>
                        <a:t>Điều kiện</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Hướng xử lý</a:t>
                      </a:r>
                    </a:p>
                  </a:txBody>
                  <a:tcPr anchor="ctr">
                    <a:solidFill>
                      <a:srgbClr val="0B5ED7"/>
                    </a:solidFill>
                  </a:tcPr>
                </a:tc>
                <a:extLst>
                  <a:ext uri="{0D108BD9-81ED-4DB2-BD59-A6C34878D82A}">
                    <a16:rowId xmlns:a16="http://schemas.microsoft.com/office/drawing/2014/main" val="10000"/>
                  </a:ext>
                </a:extLst>
              </a:tr>
              <a:tr h="647700">
                <a:tc>
                  <a:txBody>
                    <a:bodyPr/>
                    <a:lstStyle/>
                    <a:p>
                      <a:pPr algn="l">
                        <a:lnSpc>
                          <a:spcPct val="104000"/>
                        </a:lnSpc>
                        <a:buNone/>
                      </a:pPr>
                      <a:r>
                        <a:rPr sz="1650" b="0">
                          <a:solidFill>
                            <a:srgbClr val="17325C"/>
                          </a:solidFill>
                          <a:latin typeface="Arial"/>
                          <a:ea typeface="Arial"/>
                          <a:cs typeface="Arial"/>
                        </a:rPr>
                        <a:t>Không có NCC phù hợp/không đạt/không thống nhất điều khoản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Tìm kiếm hoặc cập nhật kết quả rà soát, sau đó đánh giá lại.</a:t>
                      </a:r>
                    </a:p>
                  </a:txBody>
                  <a:tcPr anchor="ctr">
                    <a:solidFill>
                      <a:srgbClr val="FFFFFF"/>
                    </a:solidFill>
                  </a:tcPr>
                </a:tc>
                <a:extLst>
                  <a:ext uri="{0D108BD9-81ED-4DB2-BD59-A6C34878D82A}">
                    <a16:rowId xmlns:a16="http://schemas.microsoft.com/office/drawing/2014/main" val="10001"/>
                  </a:ext>
                </a:extLst>
              </a:tr>
            </a:tbl>
          </a:graphicData>
        </a:graphic>
      </p:graphicFrame>
      <p:pic>
        <p:nvPicPr>
          <p:cNvPr id="11" name="Graphic 1">
            <a:extLst>
              <a:ext uri="{FF2B5EF4-FFF2-40B4-BE49-F238E27FC236}">
                <a16:creationId xmlns:a16="http://schemas.microsoft.com/office/drawing/2014/main" id="{9410B05F-E8C4-2B07-B738-DC38641773D2}"/>
              </a:ext>
            </a:extLst>
          </p:cNvPr>
          <p:cNvPicPr>
            <a:picLocks noChangeAspect="1"/>
          </p:cNvPicPr>
          <p:nvPr/>
        </p:nvPicPr>
        <p:blipFill>
          <a:blip>
            <a:extLst>
              <a:ext uri="{96DAC541-7B7A-43D3-8B79-37D633B846F1}">
                <asvg:svgBlip xmlns:asvg="http://schemas.microsoft.com/office/drawing/2016/SVG/main" r:embed="rId3"/>
              </a:ext>
            </a:extLst>
          </a:blip>
          <a:srcRect l="27302" t="7935" b="45089"/>
          <a:stretch>
            <a:fillRect/>
          </a:stretch>
        </p:blipFill>
        <p:spPr>
          <a:xfrm>
            <a:off x="2328259" y="1678305"/>
            <a:ext cx="7535482" cy="3186936"/>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14</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PHÊ DUYỆT VÀ ĐÁNH GIÁ LẠI NHÀ CUNG CẤP</a:t>
            </a:r>
          </a:p>
        </p:txBody>
      </p:sp>
      <p:sp>
        <p:nvSpPr>
          <p:cNvPr id="63" name="Content Khuyến nghị dùng / Không khuyến ngh">
            <a:extLst>
              <a:ext uri="{FF2B5EF4-FFF2-40B4-BE49-F238E27FC236}">
                <a16:creationId xmlns:a16="http://schemas.microsoft.com/office/drawing/2014/main" id="{A47904CB-F224-4A24-B669-1534A2DBAD5C}"/>
              </a:ext>
            </a:extLst>
          </p:cNvPr>
          <p:cNvSpPr>
            <a:spLocks noGrp="1"/>
          </p:cNvSpPr>
          <p:nvPr/>
        </p:nvSpPr>
        <p:spPr>
          <a:xfrm>
            <a:off x="742950" y="5505450"/>
            <a:ext cx="5429250" cy="55245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Khuyến nghị dùng / Không khuyến nghị dùng</a:t>
            </a:r>
          </a:p>
        </p:txBody>
      </p:sp>
      <p:sp>
        <p:nvSpPr>
          <p:cNvPr id="64" name="Content Thống nhất / Không thống nhất ký kế">
            <a:extLst>
              <a:ext uri="{FF2B5EF4-FFF2-40B4-BE49-F238E27FC236}">
                <a16:creationId xmlns:a16="http://schemas.microsoft.com/office/drawing/2014/main" id="{620DB5D3-1923-4DCC-942B-7B8876B5C269}"/>
              </a:ext>
            </a:extLst>
          </p:cNvPr>
          <p:cNvSpPr>
            <a:spLocks noGrp="1"/>
          </p:cNvSpPr>
          <p:nvPr/>
        </p:nvSpPr>
        <p:spPr>
          <a:xfrm>
            <a:off x="6477000" y="5505450"/>
            <a:ext cx="5029200" cy="55245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Thống nhất / Không thống nhất ký kết</a:t>
            </a:r>
          </a:p>
        </p:txBody>
      </p:sp>
      <p:pic>
        <p:nvPicPr>
          <p:cNvPr id="7" name="Graphic 1">
            <a:extLst>
              <a:ext uri="{FF2B5EF4-FFF2-40B4-BE49-F238E27FC236}">
                <a16:creationId xmlns:a16="http://schemas.microsoft.com/office/drawing/2014/main" id="{CCC7CF4D-F26A-14C7-8267-0C1E919B41CC}"/>
              </a:ext>
            </a:extLst>
          </p:cNvPr>
          <p:cNvPicPr>
            <a:picLocks noChangeAspect="1"/>
          </p:cNvPicPr>
          <p:nvPr/>
        </p:nvPicPr>
        <p:blipFill>
          <a:blip>
            <a:extLst>
              <a:ext uri="{96DAC541-7B7A-43D3-8B79-37D633B846F1}">
                <asvg:svgBlip xmlns:asvg="http://schemas.microsoft.com/office/drawing/2016/SVG/main" r:embed="rId3"/>
              </a:ext>
            </a:extLst>
          </a:blip>
          <a:srcRect l="4235" t="50172" r="55351" b="3224"/>
          <a:stretch>
            <a:fillRect/>
          </a:stretch>
        </p:blipFill>
        <p:spPr>
          <a:xfrm>
            <a:off x="1028699" y="1650998"/>
            <a:ext cx="4492943" cy="3390902"/>
          </a:xfrm>
          <a:prstGeom prst="rect">
            <a:avLst/>
          </a:prstGeom>
        </p:spPr>
      </p:pic>
      <p:pic>
        <p:nvPicPr>
          <p:cNvPr id="9" name="Graphic 1">
            <a:extLst>
              <a:ext uri="{FF2B5EF4-FFF2-40B4-BE49-F238E27FC236}">
                <a16:creationId xmlns:a16="http://schemas.microsoft.com/office/drawing/2014/main" id="{3A79B672-40E7-9612-D2CF-F80094EE1A26}"/>
              </a:ext>
            </a:extLst>
          </p:cNvPr>
          <p:cNvPicPr>
            <a:picLocks noChangeAspect="1"/>
          </p:cNvPicPr>
          <p:nvPr/>
        </p:nvPicPr>
        <p:blipFill>
          <a:blip>
            <a:extLst>
              <a:ext uri="{96DAC541-7B7A-43D3-8B79-37D633B846F1}">
                <asvg:svgBlip xmlns:asvg="http://schemas.microsoft.com/office/drawing/2016/SVG/main" r:embed="rId3"/>
              </a:ext>
            </a:extLst>
          </a:blip>
          <a:srcRect l="50560" t="55124"/>
          <a:stretch>
            <a:fillRect/>
          </a:stretch>
        </p:blipFill>
        <p:spPr>
          <a:xfrm>
            <a:off x="6172200" y="1865503"/>
            <a:ext cx="4972050" cy="2953762"/>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15</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3118813177"/>
              </p:ext>
            </p:extLst>
          </p:nvPr>
        </p:nvGraphicFramePr>
        <p:xfrm>
          <a:off x="742950" y="1714500"/>
          <a:ext cx="10763250" cy="434266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dirty="0">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961020">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yếu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ưu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cả</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Chất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lượng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hóa</a:t>
                      </a:r>
                      <a:r>
                        <a:rPr sz="1400" b="0" dirty="0">
                          <a:solidFill>
                            <a:srgbClr val="17325C"/>
                          </a:solidFill>
                          <a:latin typeface="Arial"/>
                          <a:ea typeface="Arial"/>
                          <a:cs typeface="Arial"/>
                        </a:rPr>
                        <a:t>/</a:t>
                      </a:r>
                      <a:r>
                        <a:rPr sz="1400" b="0" dirty="0" err="1">
                          <a:solidFill>
                            <a:srgbClr val="17325C"/>
                          </a:solidFill>
                          <a:latin typeface="Arial"/>
                          <a:ea typeface="Arial"/>
                          <a:cs typeface="Arial"/>
                        </a:rPr>
                        <a:t>dịch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vụ</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Uy </a:t>
                      </a:r>
                      <a:r>
                        <a:rPr sz="1400" b="0" dirty="0" err="1">
                          <a:solidFill>
                            <a:srgbClr val="17325C"/>
                          </a:solidFill>
                          <a:latin typeface="Arial"/>
                          <a:ea typeface="Arial"/>
                          <a:cs typeface="Arial"/>
                        </a:rPr>
                        <a:t>tín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Điều</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mại</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a:t>
                      </a:r>
                      <a:r>
                        <a:rPr sz="1400" b="0" dirty="0" err="1">
                          <a:solidFill>
                            <a:srgbClr val="17325C"/>
                          </a:solidFill>
                          <a:latin typeface="Arial"/>
                          <a:ea typeface="Arial"/>
                          <a:cs typeface="Arial"/>
                        </a:rPr>
                        <a:t>Khả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năng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đáp</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extLst>
                  <a:ext uri="{0D108BD9-81ED-4DB2-BD59-A6C34878D82A}">
                    <a16:rowId xmlns:a16="http://schemas.microsoft.com/office/drawing/2014/main" val="10001"/>
                  </a:ext>
                </a:extLst>
              </a:tr>
              <a:tr h="1961020">
                <a:tc>
                  <a:txBody>
                    <a:bodyPr/>
                    <a:lstStyle/>
                    <a:p>
                      <a:pPr algn="l">
                        <a:lnSpc>
                          <a:spcPct val="104000"/>
                        </a:lnSpc>
                        <a:buNone/>
                      </a:pPr>
                      <a:r>
                        <a:rPr sz="1400" b="0" dirty="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nhiệm</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quản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như</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Rất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Bình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Chưa</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/PM </a:t>
                      </a:r>
                      <a:r>
                        <a:rPr sz="1400" b="0" dirty="0" err="1">
                          <a:solidFill>
                            <a:srgbClr val="17325C"/>
                          </a:solidFill>
                          <a:latin typeface="Arial"/>
                          <a:ea typeface="Arial"/>
                          <a:cs typeface="Arial"/>
                        </a:rPr>
                        <a:t>ngành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C9D92E8-0ADE-A5D9-D9B9-1BA8BBEE62F5}"/>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136B4E7A-0CDA-3CD1-16A1-813839ED24A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66B00633-8B27-E9AD-7E75-FADE4F1102F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C823829-6F60-3B1E-5BC1-84D019F9BF45}"/>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6" name="Shape 11">
            <a:extLst>
              <a:ext uri="{FF2B5EF4-FFF2-40B4-BE49-F238E27FC236}">
                <a16:creationId xmlns:a16="http://schemas.microsoft.com/office/drawing/2014/main" id="{63581432-369A-9E73-E3A1-EA3C9997ABDE}"/>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 name="Shape 12">
            <a:extLst>
              <a:ext uri="{FF2B5EF4-FFF2-40B4-BE49-F238E27FC236}">
                <a16:creationId xmlns:a16="http://schemas.microsoft.com/office/drawing/2014/main" id="{6DEC6837-5455-2BA5-0A44-745E8EBE45CA}"/>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 name="Shape 13">
            <a:extLst>
              <a:ext uri="{FF2B5EF4-FFF2-40B4-BE49-F238E27FC236}">
                <a16:creationId xmlns:a16="http://schemas.microsoft.com/office/drawing/2014/main" id="{53F84870-AED8-7185-8585-1684633FD1DC}"/>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9" name="Shape 14">
            <a:extLst>
              <a:ext uri="{FF2B5EF4-FFF2-40B4-BE49-F238E27FC236}">
                <a16:creationId xmlns:a16="http://schemas.microsoft.com/office/drawing/2014/main" id="{B1B7E797-CF7C-40B5-679E-89191968091F}"/>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0" name="Shape 15">
            <a:extLst>
              <a:ext uri="{FF2B5EF4-FFF2-40B4-BE49-F238E27FC236}">
                <a16:creationId xmlns:a16="http://schemas.microsoft.com/office/drawing/2014/main" id="{36DD444C-4713-C543-CD27-C8FCA361A1D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6">
            <a:extLst>
              <a:ext uri="{FF2B5EF4-FFF2-40B4-BE49-F238E27FC236}">
                <a16:creationId xmlns:a16="http://schemas.microsoft.com/office/drawing/2014/main" id="{D72E5A55-D74A-C0B3-9D74-ECC921804580}"/>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7">
            <a:extLst>
              <a:ext uri="{FF2B5EF4-FFF2-40B4-BE49-F238E27FC236}">
                <a16:creationId xmlns:a16="http://schemas.microsoft.com/office/drawing/2014/main" id="{65FD9250-B4F0-6B94-DA10-C73E7DD6BFC7}"/>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3" name="Shape 18">
            <a:extLst>
              <a:ext uri="{FF2B5EF4-FFF2-40B4-BE49-F238E27FC236}">
                <a16:creationId xmlns:a16="http://schemas.microsoft.com/office/drawing/2014/main" id="{B01B58D1-2495-CB9E-F3B6-1326782C0C79}"/>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9">
            <a:extLst>
              <a:ext uri="{FF2B5EF4-FFF2-40B4-BE49-F238E27FC236}">
                <a16:creationId xmlns:a16="http://schemas.microsoft.com/office/drawing/2014/main" id="{0341C965-AC64-8323-463E-273392B217CE}"/>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20">
            <a:extLst>
              <a:ext uri="{FF2B5EF4-FFF2-40B4-BE49-F238E27FC236}">
                <a16:creationId xmlns:a16="http://schemas.microsoft.com/office/drawing/2014/main" id="{AFC3AFAD-C82B-845C-476B-E6A416CDEE7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21">
            <a:extLst>
              <a:ext uri="{FF2B5EF4-FFF2-40B4-BE49-F238E27FC236}">
                <a16:creationId xmlns:a16="http://schemas.microsoft.com/office/drawing/2014/main" id="{E9EE25E3-9C4A-9A02-1618-999262F2B0F4}"/>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22">
            <a:extLst>
              <a:ext uri="{FF2B5EF4-FFF2-40B4-BE49-F238E27FC236}">
                <a16:creationId xmlns:a16="http://schemas.microsoft.com/office/drawing/2014/main" id="{6E7BE4BB-4495-2F4D-D71C-B11A0F09FA0E}"/>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23">
            <a:extLst>
              <a:ext uri="{FF2B5EF4-FFF2-40B4-BE49-F238E27FC236}">
                <a16:creationId xmlns:a16="http://schemas.microsoft.com/office/drawing/2014/main" id="{4A585F8C-D6BA-236D-F0C5-3CA668ACB9DF}"/>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24">
            <a:extLst>
              <a:ext uri="{FF2B5EF4-FFF2-40B4-BE49-F238E27FC236}">
                <a16:creationId xmlns:a16="http://schemas.microsoft.com/office/drawing/2014/main" id="{AFB088BD-077E-D70C-6E0E-698C9DFCE73C}"/>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25">
            <a:extLst>
              <a:ext uri="{FF2B5EF4-FFF2-40B4-BE49-F238E27FC236}">
                <a16:creationId xmlns:a16="http://schemas.microsoft.com/office/drawing/2014/main" id="{FC0F0A98-4FF2-E02D-B951-5225E612AED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26">
            <a:extLst>
              <a:ext uri="{FF2B5EF4-FFF2-40B4-BE49-F238E27FC236}">
                <a16:creationId xmlns:a16="http://schemas.microsoft.com/office/drawing/2014/main" id="{D3BFE9A7-0AEA-27BE-82FA-E6AFAF3848D8}"/>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7">
            <a:extLst>
              <a:ext uri="{FF2B5EF4-FFF2-40B4-BE49-F238E27FC236}">
                <a16:creationId xmlns:a16="http://schemas.microsoft.com/office/drawing/2014/main" id="{BA9460AA-C610-665B-46B8-8F2613BF7D9B}"/>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8">
            <a:extLst>
              <a:ext uri="{FF2B5EF4-FFF2-40B4-BE49-F238E27FC236}">
                <a16:creationId xmlns:a16="http://schemas.microsoft.com/office/drawing/2014/main" id="{A708B453-E3C8-B108-BC3B-B3B53593F07A}"/>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9">
            <a:extLst>
              <a:ext uri="{FF2B5EF4-FFF2-40B4-BE49-F238E27FC236}">
                <a16:creationId xmlns:a16="http://schemas.microsoft.com/office/drawing/2014/main" id="{E7F91960-D13F-C11C-D549-B0054CAA0E7B}"/>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30">
            <a:extLst>
              <a:ext uri="{FF2B5EF4-FFF2-40B4-BE49-F238E27FC236}">
                <a16:creationId xmlns:a16="http://schemas.microsoft.com/office/drawing/2014/main" id="{5A741643-BC32-9224-8864-AD1363327A4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31">
            <a:extLst>
              <a:ext uri="{FF2B5EF4-FFF2-40B4-BE49-F238E27FC236}">
                <a16:creationId xmlns:a16="http://schemas.microsoft.com/office/drawing/2014/main" id="{94B6D108-94F1-9198-5615-ADDDF2C54307}"/>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32">
            <a:extLst>
              <a:ext uri="{FF2B5EF4-FFF2-40B4-BE49-F238E27FC236}">
                <a16:creationId xmlns:a16="http://schemas.microsoft.com/office/drawing/2014/main" id="{0FA275F3-405A-531A-2CDA-4A21613154A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33">
            <a:extLst>
              <a:ext uri="{FF2B5EF4-FFF2-40B4-BE49-F238E27FC236}">
                <a16:creationId xmlns:a16="http://schemas.microsoft.com/office/drawing/2014/main" id="{45ADE5D4-01CE-AD8E-95E4-968ACC147AB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34">
            <a:extLst>
              <a:ext uri="{FF2B5EF4-FFF2-40B4-BE49-F238E27FC236}">
                <a16:creationId xmlns:a16="http://schemas.microsoft.com/office/drawing/2014/main" id="{C9044030-8920-EE48-8126-E0E0558AACC0}"/>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35">
            <a:extLst>
              <a:ext uri="{FF2B5EF4-FFF2-40B4-BE49-F238E27FC236}">
                <a16:creationId xmlns:a16="http://schemas.microsoft.com/office/drawing/2014/main" id="{E645F79C-1179-FC31-A287-20103DE50B3B}"/>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1" name="Shape 36">
            <a:extLst>
              <a:ext uri="{FF2B5EF4-FFF2-40B4-BE49-F238E27FC236}">
                <a16:creationId xmlns:a16="http://schemas.microsoft.com/office/drawing/2014/main" id="{CE83BBF2-E23F-C2B5-BF27-99A12B165421}"/>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2" name="Shape 37">
            <a:extLst>
              <a:ext uri="{FF2B5EF4-FFF2-40B4-BE49-F238E27FC236}">
                <a16:creationId xmlns:a16="http://schemas.microsoft.com/office/drawing/2014/main" id="{687E118F-8351-C156-8D28-D37943DE2C11}"/>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3" name="Shape 38">
            <a:extLst>
              <a:ext uri="{FF2B5EF4-FFF2-40B4-BE49-F238E27FC236}">
                <a16:creationId xmlns:a16="http://schemas.microsoft.com/office/drawing/2014/main" id="{4782191F-B35C-05F5-EC5F-36BFE3CD665F}"/>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4" name="Shape 39">
            <a:extLst>
              <a:ext uri="{FF2B5EF4-FFF2-40B4-BE49-F238E27FC236}">
                <a16:creationId xmlns:a16="http://schemas.microsoft.com/office/drawing/2014/main" id="{B7807C25-43F8-E5B9-C8CD-02950118F2BC}"/>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5" name="Shape 40">
            <a:extLst>
              <a:ext uri="{FF2B5EF4-FFF2-40B4-BE49-F238E27FC236}">
                <a16:creationId xmlns:a16="http://schemas.microsoft.com/office/drawing/2014/main" id="{47A2516F-3339-7191-DA9A-DC3ACDE4A3C7}"/>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6" name="Shape 41">
            <a:extLst>
              <a:ext uri="{FF2B5EF4-FFF2-40B4-BE49-F238E27FC236}">
                <a16:creationId xmlns:a16="http://schemas.microsoft.com/office/drawing/2014/main" id="{6F3F3684-38CC-C97E-0A7A-8B31302412FC}"/>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7" name="Shape 42">
            <a:extLst>
              <a:ext uri="{FF2B5EF4-FFF2-40B4-BE49-F238E27FC236}">
                <a16:creationId xmlns:a16="http://schemas.microsoft.com/office/drawing/2014/main" id="{01948E51-B468-815C-417B-22A508757956}"/>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43">
            <a:extLst>
              <a:ext uri="{FF2B5EF4-FFF2-40B4-BE49-F238E27FC236}">
                <a16:creationId xmlns:a16="http://schemas.microsoft.com/office/drawing/2014/main" id="{4D3F5C3D-8C2F-DAE4-AACC-84B9BE15E663}"/>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44">
            <a:extLst>
              <a:ext uri="{FF2B5EF4-FFF2-40B4-BE49-F238E27FC236}">
                <a16:creationId xmlns:a16="http://schemas.microsoft.com/office/drawing/2014/main" id="{BC90E586-042F-8B2D-63CB-AD8A8A2DF5C2}"/>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45">
            <a:extLst>
              <a:ext uri="{FF2B5EF4-FFF2-40B4-BE49-F238E27FC236}">
                <a16:creationId xmlns:a16="http://schemas.microsoft.com/office/drawing/2014/main" id="{6586ACFE-0192-5E39-8606-0BFBDE89EA13}"/>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46">
            <a:extLst>
              <a:ext uri="{FF2B5EF4-FFF2-40B4-BE49-F238E27FC236}">
                <a16:creationId xmlns:a16="http://schemas.microsoft.com/office/drawing/2014/main" id="{BB447A30-FF20-FD54-9F3F-6A10F99C936C}"/>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7">
            <a:extLst>
              <a:ext uri="{FF2B5EF4-FFF2-40B4-BE49-F238E27FC236}">
                <a16:creationId xmlns:a16="http://schemas.microsoft.com/office/drawing/2014/main" id="{7C910C1A-BA90-82CE-A21A-CAAE67252EC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8">
            <a:extLst>
              <a:ext uri="{FF2B5EF4-FFF2-40B4-BE49-F238E27FC236}">
                <a16:creationId xmlns:a16="http://schemas.microsoft.com/office/drawing/2014/main" id="{26567984-0A00-6D39-CFA3-82B606D3EB9B}"/>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9">
            <a:extLst>
              <a:ext uri="{FF2B5EF4-FFF2-40B4-BE49-F238E27FC236}">
                <a16:creationId xmlns:a16="http://schemas.microsoft.com/office/drawing/2014/main" id="{768CCAF0-81B6-6557-3F85-12043942FC4C}"/>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50">
            <a:extLst>
              <a:ext uri="{FF2B5EF4-FFF2-40B4-BE49-F238E27FC236}">
                <a16:creationId xmlns:a16="http://schemas.microsoft.com/office/drawing/2014/main" id="{473B5205-9657-7E77-80F5-123F60374CD2}"/>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51">
            <a:extLst>
              <a:ext uri="{FF2B5EF4-FFF2-40B4-BE49-F238E27FC236}">
                <a16:creationId xmlns:a16="http://schemas.microsoft.com/office/drawing/2014/main" id="{894C1292-4501-CC86-C216-D6BD56C3E2A7}"/>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52">
            <a:extLst>
              <a:ext uri="{FF2B5EF4-FFF2-40B4-BE49-F238E27FC236}">
                <a16:creationId xmlns:a16="http://schemas.microsoft.com/office/drawing/2014/main" id="{9B36B586-11FC-CAFB-DDB5-78E5B2D4C38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53">
            <a:extLst>
              <a:ext uri="{FF2B5EF4-FFF2-40B4-BE49-F238E27FC236}">
                <a16:creationId xmlns:a16="http://schemas.microsoft.com/office/drawing/2014/main" id="{84315AE5-6D40-23DB-5BAD-11338E0D7586}"/>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49" name="Shape 54">
            <a:extLst>
              <a:ext uri="{FF2B5EF4-FFF2-40B4-BE49-F238E27FC236}">
                <a16:creationId xmlns:a16="http://schemas.microsoft.com/office/drawing/2014/main" id="{7243FF51-0152-3E6E-CA20-A5A45F456294}"/>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0" name="Text 57">
            <a:extLst>
              <a:ext uri="{FF2B5EF4-FFF2-40B4-BE49-F238E27FC236}">
                <a16:creationId xmlns:a16="http://schemas.microsoft.com/office/drawing/2014/main" id="{D9A50EBC-43C1-AF26-8771-FF14F8FB3A0B}"/>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dirty="0">
                <a:solidFill>
                  <a:srgbClr val="FFFFFF"/>
                </a:solidFill>
                <a:latin typeface="Arial"/>
                <a:ea typeface="Arial"/>
                <a:cs typeface="Arial"/>
              </a:rPr>
              <a:t>1</a:t>
            </a:r>
            <a:r>
              <a:rPr lang="en-US" sz="1500" b="1" dirty="0">
                <a:solidFill>
                  <a:srgbClr val="FFFFFF"/>
                </a:solidFill>
                <a:latin typeface="Arial"/>
                <a:ea typeface="Arial"/>
                <a:cs typeface="Arial"/>
              </a:rPr>
              <a:t>6</a:t>
            </a:r>
            <a:endParaRPr sz="1500" b="1" dirty="0">
              <a:solidFill>
                <a:srgbClr val="FFFFFF"/>
              </a:solidFill>
              <a:latin typeface="Arial"/>
              <a:ea typeface="Arial"/>
              <a:cs typeface="Arial"/>
            </a:endParaRPr>
          </a:p>
        </p:txBody>
      </p:sp>
      <p:sp>
        <p:nvSpPr>
          <p:cNvPr id="51" name="Rectangle 50">
            <a:extLst>
              <a:ext uri="{FF2B5EF4-FFF2-40B4-BE49-F238E27FC236}">
                <a16:creationId xmlns:a16="http://schemas.microsoft.com/office/drawing/2014/main" id="{8C83AED7-5ECB-1AFB-86D4-DBFAD2C8AF1E}"/>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QUẢN LÝ NHÀ CUNG CẤP</a:t>
            </a:r>
          </a:p>
        </p:txBody>
      </p:sp>
      <p:graphicFrame>
        <p:nvGraphicFramePr>
          <p:cNvPr id="52" name="Table 111">
            <a:extLst>
              <a:ext uri="{FF2B5EF4-FFF2-40B4-BE49-F238E27FC236}">
                <a16:creationId xmlns:a16="http://schemas.microsoft.com/office/drawing/2014/main" id="{D56EE026-31BA-F4B9-9089-7277FBEE6628}"/>
              </a:ext>
            </a:extLst>
          </p:cNvPr>
          <p:cNvGraphicFramePr/>
          <p:nvPr>
            <p:extLst>
              <p:ext uri="{D42A27DB-BD31-4B8C-83A1-F6EECF244321}">
                <p14:modId xmlns:p14="http://schemas.microsoft.com/office/powerpoint/2010/main" val="833100440"/>
              </p:ext>
            </p:extLst>
          </p:nvPr>
        </p:nvGraphicFramePr>
        <p:xfrm>
          <a:off x="742950" y="1714500"/>
          <a:ext cx="10763250" cy="4370987"/>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dirty="0">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437358">
                <a:tc>
                  <a:txBody>
                    <a:bodyPr/>
                    <a:lstStyle/>
                    <a:p>
                      <a:pPr algn="l">
                        <a:lnSpc>
                          <a:spcPct val="104000"/>
                        </a:lnSpc>
                        <a:buNone/>
                      </a:pPr>
                      <a:r>
                        <a:rPr sz="1200" b="0" dirty="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Theo 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việc</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nay </a:t>
                      </a:r>
                      <a:r>
                        <a:rPr sz="1200" b="0" dirty="0" err="1">
                          <a:solidFill>
                            <a:srgbClr val="17325C"/>
                          </a:solidFill>
                          <a:latin typeface="Arial"/>
                          <a:ea typeface="Arial"/>
                          <a:cs typeface="Arial"/>
                        </a:rPr>
                        <a:t>thường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được</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thực</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dựa</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thức</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Bộ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tiêu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chí</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sẵn</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a:t>
                      </a:r>
                      <a:r>
                        <a:rPr sz="1200" b="0" dirty="0" err="1">
                          <a:solidFill>
                            <a:srgbClr val="17325C"/>
                          </a:solidFill>
                          <a:latin typeface="Arial"/>
                          <a:ea typeface="Arial"/>
                          <a:cs typeface="Arial"/>
                        </a:rPr>
                        <a:t>Kết</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thực</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đồng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a:t>
                      </a:r>
                      <a:r>
                        <a:rPr sz="1200" b="0" dirty="0" err="1">
                          <a:solidFill>
                            <a:srgbClr val="17325C"/>
                          </a:solidFill>
                          <a:latin typeface="Arial"/>
                          <a:ea typeface="Arial"/>
                          <a:cs typeface="Arial"/>
                        </a:rPr>
                        <a:t>Phản</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hồi</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của</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đơn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sử</a:t>
                      </a:r>
                      <a:r>
                        <a:rPr sz="1200" b="0" dirty="0">
                          <a:solidFill>
                            <a:srgbClr val="17325C"/>
                          </a:solidFill>
                          <a:latin typeface="Arial"/>
                          <a:ea typeface="Arial"/>
                          <a:cs typeface="Arial"/>
                        </a:rPr>
                        <a:t> </a:t>
                      </a:r>
                      <a:r>
                        <a:rPr sz="1200" b="0" dirty="0" err="1">
                          <a:solidFill>
                            <a:srgbClr val="17325C"/>
                          </a:solidFill>
                          <a:latin typeface="Arial"/>
                          <a:ea typeface="Arial"/>
                          <a:cs typeface="Arial"/>
                        </a:rPr>
                        <a:t>dụng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Kinh </a:t>
                      </a:r>
                      <a:r>
                        <a:rPr sz="1200" b="0" dirty="0" err="1">
                          <a:solidFill>
                            <a:srgbClr val="17325C"/>
                          </a:solidFill>
                          <a:latin typeface="Arial"/>
                          <a:ea typeface="Arial"/>
                          <a:cs typeface="Arial"/>
                        </a:rPr>
                        <a:t>nghiệm</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thực</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tế</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a:t>
                      </a:r>
                      <a:r>
                        <a:rPr sz="1200" b="0" dirty="0" err="1">
                          <a:solidFill>
                            <a:srgbClr val="17325C"/>
                          </a:solidFill>
                          <a:latin typeface="Arial"/>
                          <a:ea typeface="Arial"/>
                          <a:cs typeface="Arial"/>
                        </a:rPr>
                        <a:t>Kết</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nhiều</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thức</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Nhân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r h="1271350">
                <a:tc>
                  <a:txBody>
                    <a:bodyPr/>
                    <a:lstStyle/>
                    <a:p>
                      <a:pPr algn="l">
                        <a:lnSpc>
                          <a:spcPct val="104000"/>
                        </a:lnSpc>
                        <a:buNone/>
                      </a:pPr>
                      <a:r>
                        <a:rPr sz="1200" b="0" dirty="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mức</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phối</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giữa</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đơn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đề</a:t>
                      </a:r>
                      <a:r>
                        <a:rPr sz="1200" b="0" dirty="0">
                          <a:solidFill>
                            <a:srgbClr val="17325C"/>
                          </a:solidFill>
                          <a:latin typeface="Arial"/>
                          <a:ea typeface="Arial"/>
                          <a:cs typeface="Arial"/>
                        </a:rPr>
                        <a:t> </a:t>
                      </a:r>
                      <a:r>
                        <a:rPr sz="1200" b="0" dirty="0" err="1">
                          <a:solidFill>
                            <a:srgbClr val="17325C"/>
                          </a:solidFill>
                          <a:latin typeface="Arial"/>
                          <a:ea typeface="Arial"/>
                          <a:cs typeface="Arial"/>
                        </a:rPr>
                        <a:t>nghị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bộ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phận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và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thẩm</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quyền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trong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lựa</a:t>
                      </a:r>
                      <a:r>
                        <a:rPr sz="1200" b="0" dirty="0">
                          <a:solidFill>
                            <a:srgbClr val="17325C"/>
                          </a:solidFill>
                          <a:latin typeface="Arial"/>
                          <a:ea typeface="Arial"/>
                          <a:cs typeface="Arial"/>
                        </a:rPr>
                        <a:t> </a:t>
                      </a:r>
                      <a:r>
                        <a:rPr sz="1200" b="0" dirty="0" err="1">
                          <a:solidFill>
                            <a:srgbClr val="17325C"/>
                          </a:solidFill>
                          <a:latin typeface="Arial"/>
                          <a:ea typeface="Arial"/>
                          <a:cs typeface="Arial"/>
                        </a:rPr>
                        <a:t>chọn</a:t>
                      </a:r>
                      <a:r>
                        <a:rPr sz="1200" b="0" dirty="0">
                          <a:solidFill>
                            <a:srgbClr val="17325C"/>
                          </a:solidFill>
                          <a:latin typeface="Arial"/>
                          <a:ea typeface="Arial"/>
                          <a:cs typeface="Arial"/>
                        </a:rPr>
                        <a:t>, </a:t>
                      </a:r>
                      <a:r>
                        <a:rPr sz="1200" b="0" dirty="0" err="1">
                          <a:solidFill>
                            <a:srgbClr val="17325C"/>
                          </a:solidFill>
                          <a:latin typeface="Arial"/>
                          <a:ea typeface="Arial"/>
                          <a:cs typeface="Arial"/>
                        </a:rPr>
                        <a:t>ký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kết</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đồng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như</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thế</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tốt</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a:t>
                      </a:r>
                      <a:r>
                        <a:rPr sz="1200" b="0" dirty="0" err="1">
                          <a:solidFill>
                            <a:srgbClr val="17325C"/>
                          </a:solidFill>
                          <a:latin typeface="Arial"/>
                          <a:ea typeface="Arial"/>
                          <a:cs typeface="Arial"/>
                        </a:rPr>
                        <a:t>Tốt</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Trung </a:t>
                      </a:r>
                      <a:r>
                        <a:rPr sz="1200" b="0" dirty="0" err="1">
                          <a:solidFill>
                            <a:srgbClr val="17325C"/>
                          </a:solidFill>
                          <a:latin typeface="Arial"/>
                          <a:ea typeface="Arial"/>
                          <a:cs typeface="Arial"/>
                        </a:rPr>
                        <a:t>bình</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a:t>
                      </a:r>
                      <a:r>
                        <a:rPr sz="1200" b="0" dirty="0" err="1">
                          <a:solidFill>
                            <a:srgbClr val="17325C"/>
                          </a:solidFill>
                          <a:latin typeface="Arial"/>
                          <a:ea typeface="Arial"/>
                          <a:cs typeface="Arial"/>
                        </a:rPr>
                        <a:t>Kém</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Nhân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 /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thẩm</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quyền</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952131628"/>
                  </a:ext>
                </a:extLst>
              </a:tr>
              <a:tr h="1241655">
                <a:tc>
                  <a:txBody>
                    <a:bodyPr/>
                    <a:lstStyle/>
                    <a:p>
                      <a:pPr algn="l">
                        <a:lnSpc>
                          <a:spcPct val="104000"/>
                        </a:lnSpc>
                        <a:buNone/>
                      </a:pPr>
                      <a:r>
                        <a:rPr sz="120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Theo 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xử</a:t>
                      </a:r>
                      <a:r>
                        <a:rPr sz="1200" b="0" dirty="0">
                          <a:solidFill>
                            <a:srgbClr val="17325C"/>
                          </a:solidFill>
                          <a:latin typeface="Arial"/>
                          <a:ea typeface="Arial"/>
                          <a:cs typeface="Arial"/>
                        </a:rPr>
                        <a:t> </a:t>
                      </a:r>
                      <a:r>
                        <a:rPr sz="1200" b="0" dirty="0" err="1">
                          <a:solidFill>
                            <a:srgbClr val="17325C"/>
                          </a:solidFill>
                          <a:latin typeface="Arial"/>
                          <a:ea typeface="Arial"/>
                          <a:cs typeface="Arial"/>
                        </a:rPr>
                        <a:t>lý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khi</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đáp</a:t>
                      </a:r>
                      <a:r>
                        <a:rPr sz="1200" b="0" dirty="0">
                          <a:solidFill>
                            <a:srgbClr val="17325C"/>
                          </a:solidFill>
                          <a:latin typeface="Arial"/>
                          <a:ea typeface="Arial"/>
                          <a:cs typeface="Arial"/>
                        </a:rPr>
                        <a:t> </a:t>
                      </a:r>
                      <a:r>
                        <a:rPr sz="1200" b="0" dirty="0" err="1">
                          <a:solidFill>
                            <a:srgbClr val="17325C"/>
                          </a:solidFill>
                          <a:latin typeface="Arial"/>
                          <a:ea typeface="Arial"/>
                          <a:cs typeface="Arial"/>
                        </a:rPr>
                        <a:t>ứng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yêu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cầu</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tại</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như</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thế</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rõ</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ràng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a:t>
                      </a:r>
                      <a:r>
                        <a:rPr sz="1200" b="0" dirty="0" err="1">
                          <a:solidFill>
                            <a:srgbClr val="17325C"/>
                          </a:solidFill>
                          <a:latin typeface="Arial"/>
                          <a:ea typeface="Arial"/>
                          <a:cs typeface="Arial"/>
                        </a:rPr>
                        <a:t>Khá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rõ</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ràng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a:t>
                      </a:r>
                      <a:r>
                        <a:rPr sz="1200" b="0" dirty="0" err="1">
                          <a:solidFill>
                            <a:srgbClr val="17325C"/>
                          </a:solidFill>
                          <a:latin typeface="Arial"/>
                          <a:ea typeface="Arial"/>
                          <a:cs typeface="Arial"/>
                        </a:rPr>
                        <a:t>Chưa</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rõ</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ràng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định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cụ</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thể</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Nhân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463701894"/>
                  </a:ext>
                </a:extLst>
              </a:tr>
            </a:tbl>
          </a:graphicData>
        </a:graphic>
      </p:graphicFrame>
    </p:spTree>
    <p:extLst>
      <p:ext uri="{BB962C8B-B14F-4D97-AF65-F5344CB8AC3E}">
        <p14:creationId xmlns:p14="http://schemas.microsoft.com/office/powerpoint/2010/main" val="395005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17</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KHÔNG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3664053928"/>
              </p:ext>
            </p:extLst>
          </p:nvPr>
        </p:nvGraphicFramePr>
        <p:xfrm>
          <a:off x="742950" y="1714500"/>
          <a:ext cx="10763250" cy="4343769"/>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741689">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hãy</a:t>
                      </a:r>
                      <a:r>
                        <a:rPr sz="1400" b="0" dirty="0">
                          <a:solidFill>
                            <a:srgbClr val="17325C"/>
                          </a:solidFill>
                          <a:latin typeface="Arial"/>
                          <a:ea typeface="Arial"/>
                          <a:cs typeface="Arial"/>
                        </a:rPr>
                        <a:t> </a:t>
                      </a:r>
                      <a:r>
                        <a:rPr sz="1400" b="0" dirty="0" err="1">
                          <a:solidFill>
                            <a:srgbClr val="17325C"/>
                          </a:solidFill>
                          <a:latin typeface="Arial"/>
                          <a:ea typeface="Arial"/>
                          <a:cs typeface="Arial"/>
                        </a:rPr>
                        <a:t>mô</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những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gặp</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tìm</a:t>
                      </a:r>
                      <a:r>
                        <a:rPr sz="1400" b="0" dirty="0">
                          <a:solidFill>
                            <a:srgbClr val="17325C"/>
                          </a:solidFill>
                          <a:latin typeface="Arial"/>
                          <a:ea typeface="Arial"/>
                          <a:cs typeface="Arial"/>
                        </a:rPr>
                        <a:t> </a:t>
                      </a:r>
                      <a:r>
                        <a:rPr sz="1400" b="0" dirty="0" err="1">
                          <a:solidFill>
                            <a:srgbClr val="17325C"/>
                          </a:solidFill>
                          <a:latin typeface="Arial"/>
                          <a:ea typeface="Arial"/>
                          <a:cs typeface="Arial"/>
                        </a:rPr>
                        <a:t>kiếm</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extLst>
                  <a:ext uri="{0D108BD9-81ED-4DB2-BD59-A6C34878D82A}">
                    <a16:rowId xmlns:a16="http://schemas.microsoft.com/office/drawing/2014/main" val="10001"/>
                  </a:ext>
                </a:extLst>
              </a:tr>
              <a:tr h="741689">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những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yếu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hoặc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extLst>
                  <a:ext uri="{0D108BD9-81ED-4DB2-BD59-A6C34878D82A}">
                    <a16:rowId xmlns:a16="http://schemas.microsoft.com/office/drawing/2014/main" val="10002"/>
                  </a:ext>
                </a:extLst>
              </a:tr>
              <a:tr h="917353">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hãy</a:t>
                      </a:r>
                      <a:r>
                        <a:rPr sz="1400" b="0" dirty="0">
                          <a:solidFill>
                            <a:srgbClr val="17325C"/>
                          </a:solidFill>
                          <a:latin typeface="Arial"/>
                          <a:ea typeface="Arial"/>
                          <a:cs typeface="Arial"/>
                        </a:rPr>
                        <a:t> </a:t>
                      </a:r>
                      <a:r>
                        <a:rPr sz="1400" b="0" dirty="0" err="1">
                          <a:solidFill>
                            <a:srgbClr val="17325C"/>
                          </a:solidFill>
                          <a:latin typeface="Arial"/>
                          <a:ea typeface="Arial"/>
                          <a:cs typeface="Arial"/>
                        </a:rPr>
                        <a:t>mô</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phối</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giữa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hoàn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kết</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 / Cấp có thẩm quyền</a:t>
                      </a:r>
                    </a:p>
                  </a:txBody>
                  <a:tcPr anchor="ctr">
                    <a:solidFill>
                      <a:srgbClr val="FFFFFF"/>
                    </a:solidFill>
                  </a:tcPr>
                </a:tc>
                <a:extLst>
                  <a:ext uri="{0D108BD9-81ED-4DB2-BD59-A6C34878D82A}">
                    <a16:rowId xmlns:a16="http://schemas.microsoft.com/office/drawing/2014/main" val="10003"/>
                  </a:ext>
                </a:extLst>
              </a:tr>
              <a:tr h="741689">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quá trình theo dõi hợp đồng, Anh/Chị thường gặp những vấn đề gì với nhà cung cấp và cách xử lý như thế nào?</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extLst>
                  <a:ext uri="{0D108BD9-81ED-4DB2-BD59-A6C34878D82A}">
                    <a16:rowId xmlns:a16="http://schemas.microsoft.com/office/drawing/2014/main" val="10004"/>
                  </a:ext>
                </a:extLst>
              </a:tr>
              <a:tr h="780725">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Nếu được thay đổi một điểm trong quy trình quản lý nhà cung cấp hiện nay, Anh/Chị sẽ đề xuất thay đổi điều gì? Vì sao?</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Ban </a:t>
                      </a:r>
                      <a:r>
                        <a:rPr sz="1400" b="0" dirty="0" err="1">
                          <a:solidFill>
                            <a:srgbClr val="17325C"/>
                          </a:solidFill>
                          <a:latin typeface="Arial"/>
                          <a:ea typeface="Arial"/>
                          <a:cs typeface="Arial"/>
                        </a:rPr>
                        <a:t>lãnh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đạo</a:t>
                      </a:r>
                      <a:r>
                        <a:rPr sz="1400" b="0" dirty="0">
                          <a:solidFill>
                            <a:srgbClr val="17325C"/>
                          </a:solidFill>
                          <a:latin typeface="Arial"/>
                          <a:ea typeface="Arial"/>
                          <a:cs typeface="Arial"/>
                        </a:rPr>
                        <a:t> FPT Retail /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18</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1668728183"/>
              </p:ext>
            </p:extLst>
          </p:nvPr>
        </p:nvGraphicFramePr>
        <p:xfrm>
          <a:off x="742950" y="1714500"/>
          <a:ext cx="10763250" cy="440033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989853">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lâu</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3–7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8–14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15–30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ngày</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/PM </a:t>
                      </a:r>
                      <a:r>
                        <a:rPr sz="1400" b="0" dirty="0" err="1">
                          <a:solidFill>
                            <a:srgbClr val="17325C"/>
                          </a:solidFill>
                          <a:latin typeface="Arial"/>
                          <a:ea typeface="Arial"/>
                          <a:cs typeface="Arial"/>
                        </a:rPr>
                        <a:t>ngành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Ngày</a:t>
                      </a:r>
                    </a:p>
                  </a:txBody>
                  <a:tcPr anchor="ctr">
                    <a:solidFill>
                      <a:srgbClr val="FFFFFF"/>
                    </a:solidFill>
                  </a:tcPr>
                </a:tc>
                <a:extLst>
                  <a:ext uri="{0D108BD9-81ED-4DB2-BD59-A6C34878D82A}">
                    <a16:rowId xmlns:a16="http://schemas.microsoft.com/office/drawing/2014/main" val="10001"/>
                  </a:ext>
                </a:extLst>
              </a:tr>
              <a:tr h="1989853">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mỗi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liên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10–30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31–50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51–100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100</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F67BD1D-DA75-A04D-7D1A-522FDC072581}"/>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0B21366-3E82-3846-3143-68BBAA17CE9B}"/>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98228C2E-88DC-A702-FDDA-A469EF741D01}"/>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1E7EB2A2-C548-47E1-05E6-C91F3194A56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6" name="Shape 11">
            <a:extLst>
              <a:ext uri="{FF2B5EF4-FFF2-40B4-BE49-F238E27FC236}">
                <a16:creationId xmlns:a16="http://schemas.microsoft.com/office/drawing/2014/main" id="{C6E8B7DD-6395-ED7C-9404-8B4A14DD2B7A}"/>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 name="Shape 12">
            <a:extLst>
              <a:ext uri="{FF2B5EF4-FFF2-40B4-BE49-F238E27FC236}">
                <a16:creationId xmlns:a16="http://schemas.microsoft.com/office/drawing/2014/main" id="{3D892645-B62D-80E6-69C2-141210E384ED}"/>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 name="Shape 13">
            <a:extLst>
              <a:ext uri="{FF2B5EF4-FFF2-40B4-BE49-F238E27FC236}">
                <a16:creationId xmlns:a16="http://schemas.microsoft.com/office/drawing/2014/main" id="{8ACDF70C-BB75-74AA-D232-972BBEF19A20}"/>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9" name="Shape 14">
            <a:extLst>
              <a:ext uri="{FF2B5EF4-FFF2-40B4-BE49-F238E27FC236}">
                <a16:creationId xmlns:a16="http://schemas.microsoft.com/office/drawing/2014/main" id="{619D0667-4C60-5F5F-CBDE-9B6F9E5A96C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0" name="Shape 15">
            <a:extLst>
              <a:ext uri="{FF2B5EF4-FFF2-40B4-BE49-F238E27FC236}">
                <a16:creationId xmlns:a16="http://schemas.microsoft.com/office/drawing/2014/main" id="{5AF0C9A6-3F41-00BE-E8C0-9CB96AA08B9C}"/>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6">
            <a:extLst>
              <a:ext uri="{FF2B5EF4-FFF2-40B4-BE49-F238E27FC236}">
                <a16:creationId xmlns:a16="http://schemas.microsoft.com/office/drawing/2014/main" id="{6A459C80-C676-044F-C850-881BC5A7FBE5}"/>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7">
            <a:extLst>
              <a:ext uri="{FF2B5EF4-FFF2-40B4-BE49-F238E27FC236}">
                <a16:creationId xmlns:a16="http://schemas.microsoft.com/office/drawing/2014/main" id="{6EA2B170-4BE3-7CDD-C2F2-FE05C86BAC38}"/>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3" name="Shape 18">
            <a:extLst>
              <a:ext uri="{FF2B5EF4-FFF2-40B4-BE49-F238E27FC236}">
                <a16:creationId xmlns:a16="http://schemas.microsoft.com/office/drawing/2014/main" id="{112506C3-C561-8EF4-BC90-D21586010848}"/>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9">
            <a:extLst>
              <a:ext uri="{FF2B5EF4-FFF2-40B4-BE49-F238E27FC236}">
                <a16:creationId xmlns:a16="http://schemas.microsoft.com/office/drawing/2014/main" id="{73662BFC-B5E1-1FF5-6ADD-04EB89E91F54}"/>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20">
            <a:extLst>
              <a:ext uri="{FF2B5EF4-FFF2-40B4-BE49-F238E27FC236}">
                <a16:creationId xmlns:a16="http://schemas.microsoft.com/office/drawing/2014/main" id="{571C1D7C-2E9A-F9D4-5E59-5932F6D45D37}"/>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21">
            <a:extLst>
              <a:ext uri="{FF2B5EF4-FFF2-40B4-BE49-F238E27FC236}">
                <a16:creationId xmlns:a16="http://schemas.microsoft.com/office/drawing/2014/main" id="{06C09F12-61A0-3B5A-BA93-A4E271AA084B}"/>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22">
            <a:extLst>
              <a:ext uri="{FF2B5EF4-FFF2-40B4-BE49-F238E27FC236}">
                <a16:creationId xmlns:a16="http://schemas.microsoft.com/office/drawing/2014/main" id="{EEFA2579-CF7D-CC10-9EB9-C0BE66BED15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23">
            <a:extLst>
              <a:ext uri="{FF2B5EF4-FFF2-40B4-BE49-F238E27FC236}">
                <a16:creationId xmlns:a16="http://schemas.microsoft.com/office/drawing/2014/main" id="{6847F3CA-78B0-FDC7-F455-1454A7F187CC}"/>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24">
            <a:extLst>
              <a:ext uri="{FF2B5EF4-FFF2-40B4-BE49-F238E27FC236}">
                <a16:creationId xmlns:a16="http://schemas.microsoft.com/office/drawing/2014/main" id="{715A9CFC-A294-B067-075D-3271F9BEA1F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25">
            <a:extLst>
              <a:ext uri="{FF2B5EF4-FFF2-40B4-BE49-F238E27FC236}">
                <a16:creationId xmlns:a16="http://schemas.microsoft.com/office/drawing/2014/main" id="{883E6F14-7118-FA23-E43A-E437362E6384}"/>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26">
            <a:extLst>
              <a:ext uri="{FF2B5EF4-FFF2-40B4-BE49-F238E27FC236}">
                <a16:creationId xmlns:a16="http://schemas.microsoft.com/office/drawing/2014/main" id="{658070F2-4096-F7E0-46CC-6DA73173301F}"/>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7">
            <a:extLst>
              <a:ext uri="{FF2B5EF4-FFF2-40B4-BE49-F238E27FC236}">
                <a16:creationId xmlns:a16="http://schemas.microsoft.com/office/drawing/2014/main" id="{9520B3B7-66A1-763D-57D5-0E08D3E1C451}"/>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8">
            <a:extLst>
              <a:ext uri="{FF2B5EF4-FFF2-40B4-BE49-F238E27FC236}">
                <a16:creationId xmlns:a16="http://schemas.microsoft.com/office/drawing/2014/main" id="{3A482B9B-0A9C-A1B6-7207-BCD5FFA2314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9">
            <a:extLst>
              <a:ext uri="{FF2B5EF4-FFF2-40B4-BE49-F238E27FC236}">
                <a16:creationId xmlns:a16="http://schemas.microsoft.com/office/drawing/2014/main" id="{2B746BC3-5BD2-462A-E611-D002F85FC702}"/>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30">
            <a:extLst>
              <a:ext uri="{FF2B5EF4-FFF2-40B4-BE49-F238E27FC236}">
                <a16:creationId xmlns:a16="http://schemas.microsoft.com/office/drawing/2014/main" id="{CAF9695C-4531-E8D8-7829-734B7140CCE3}"/>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31">
            <a:extLst>
              <a:ext uri="{FF2B5EF4-FFF2-40B4-BE49-F238E27FC236}">
                <a16:creationId xmlns:a16="http://schemas.microsoft.com/office/drawing/2014/main" id="{229D1B24-8122-5E98-EB00-BD6FDC0531AB}"/>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32">
            <a:extLst>
              <a:ext uri="{FF2B5EF4-FFF2-40B4-BE49-F238E27FC236}">
                <a16:creationId xmlns:a16="http://schemas.microsoft.com/office/drawing/2014/main" id="{B2EF6A66-EC0B-6FBA-E312-AE9444A2C920}"/>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33">
            <a:extLst>
              <a:ext uri="{FF2B5EF4-FFF2-40B4-BE49-F238E27FC236}">
                <a16:creationId xmlns:a16="http://schemas.microsoft.com/office/drawing/2014/main" id="{2D280272-F1C9-8245-527E-904D39ED1089}"/>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34">
            <a:extLst>
              <a:ext uri="{FF2B5EF4-FFF2-40B4-BE49-F238E27FC236}">
                <a16:creationId xmlns:a16="http://schemas.microsoft.com/office/drawing/2014/main" id="{3590E7C2-0BB8-FC3A-253B-EF48AE0CF2D4}"/>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35">
            <a:extLst>
              <a:ext uri="{FF2B5EF4-FFF2-40B4-BE49-F238E27FC236}">
                <a16:creationId xmlns:a16="http://schemas.microsoft.com/office/drawing/2014/main" id="{71FCBF8F-E04C-743D-2470-2D5DE7F0A0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1" name="Shape 36">
            <a:extLst>
              <a:ext uri="{FF2B5EF4-FFF2-40B4-BE49-F238E27FC236}">
                <a16:creationId xmlns:a16="http://schemas.microsoft.com/office/drawing/2014/main" id="{C905207B-8820-0FCE-9658-B7A0461ECBA1}"/>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2" name="Shape 37">
            <a:extLst>
              <a:ext uri="{FF2B5EF4-FFF2-40B4-BE49-F238E27FC236}">
                <a16:creationId xmlns:a16="http://schemas.microsoft.com/office/drawing/2014/main" id="{DEE9084A-4DBF-159F-507C-446D356E318F}"/>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3" name="Shape 38">
            <a:extLst>
              <a:ext uri="{FF2B5EF4-FFF2-40B4-BE49-F238E27FC236}">
                <a16:creationId xmlns:a16="http://schemas.microsoft.com/office/drawing/2014/main" id="{B307AFB7-B17C-F8CA-5DDF-7859E6ED9FB1}"/>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4" name="Shape 39">
            <a:extLst>
              <a:ext uri="{FF2B5EF4-FFF2-40B4-BE49-F238E27FC236}">
                <a16:creationId xmlns:a16="http://schemas.microsoft.com/office/drawing/2014/main" id="{24EBF854-CD12-0119-E193-22C13CB1F381}"/>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5" name="Shape 40">
            <a:extLst>
              <a:ext uri="{FF2B5EF4-FFF2-40B4-BE49-F238E27FC236}">
                <a16:creationId xmlns:a16="http://schemas.microsoft.com/office/drawing/2014/main" id="{736A6FAE-FAED-A3F1-FF4C-50C11588C35B}"/>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6" name="Shape 41">
            <a:extLst>
              <a:ext uri="{FF2B5EF4-FFF2-40B4-BE49-F238E27FC236}">
                <a16:creationId xmlns:a16="http://schemas.microsoft.com/office/drawing/2014/main" id="{EEF0E068-8ABA-E3C1-3B0E-09839767F0D4}"/>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7" name="Shape 42">
            <a:extLst>
              <a:ext uri="{FF2B5EF4-FFF2-40B4-BE49-F238E27FC236}">
                <a16:creationId xmlns:a16="http://schemas.microsoft.com/office/drawing/2014/main" id="{F53FB8A0-F209-FB70-293A-18A2F6D1B7D6}"/>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43">
            <a:extLst>
              <a:ext uri="{FF2B5EF4-FFF2-40B4-BE49-F238E27FC236}">
                <a16:creationId xmlns:a16="http://schemas.microsoft.com/office/drawing/2014/main" id="{ABF10E1C-7E82-3042-2FA7-28318F926C2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44">
            <a:extLst>
              <a:ext uri="{FF2B5EF4-FFF2-40B4-BE49-F238E27FC236}">
                <a16:creationId xmlns:a16="http://schemas.microsoft.com/office/drawing/2014/main" id="{71E55ED1-B282-6C79-32B8-6A8CFDF0D249}"/>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45">
            <a:extLst>
              <a:ext uri="{FF2B5EF4-FFF2-40B4-BE49-F238E27FC236}">
                <a16:creationId xmlns:a16="http://schemas.microsoft.com/office/drawing/2014/main" id="{26EF99DC-536C-3B0F-1C47-FBD4A0477A5F}"/>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46">
            <a:extLst>
              <a:ext uri="{FF2B5EF4-FFF2-40B4-BE49-F238E27FC236}">
                <a16:creationId xmlns:a16="http://schemas.microsoft.com/office/drawing/2014/main" id="{F1C1B99A-4AB7-599A-6902-60D615B944B6}"/>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7">
            <a:extLst>
              <a:ext uri="{FF2B5EF4-FFF2-40B4-BE49-F238E27FC236}">
                <a16:creationId xmlns:a16="http://schemas.microsoft.com/office/drawing/2014/main" id="{7697D528-9735-100B-7918-E53AE4C8C71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8">
            <a:extLst>
              <a:ext uri="{FF2B5EF4-FFF2-40B4-BE49-F238E27FC236}">
                <a16:creationId xmlns:a16="http://schemas.microsoft.com/office/drawing/2014/main" id="{79AEA4AF-2F4F-3D95-3F37-2D25FDAA88C9}"/>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9">
            <a:extLst>
              <a:ext uri="{FF2B5EF4-FFF2-40B4-BE49-F238E27FC236}">
                <a16:creationId xmlns:a16="http://schemas.microsoft.com/office/drawing/2014/main" id="{A626D60B-C108-E454-0D5D-AA90EF505765}"/>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50">
            <a:extLst>
              <a:ext uri="{FF2B5EF4-FFF2-40B4-BE49-F238E27FC236}">
                <a16:creationId xmlns:a16="http://schemas.microsoft.com/office/drawing/2014/main" id="{EE6FAF3F-5588-016D-5706-D30C28CD7917}"/>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51">
            <a:extLst>
              <a:ext uri="{FF2B5EF4-FFF2-40B4-BE49-F238E27FC236}">
                <a16:creationId xmlns:a16="http://schemas.microsoft.com/office/drawing/2014/main" id="{B80B58CF-AF1B-A6F7-C552-A5823DFEC1E1}"/>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52">
            <a:extLst>
              <a:ext uri="{FF2B5EF4-FFF2-40B4-BE49-F238E27FC236}">
                <a16:creationId xmlns:a16="http://schemas.microsoft.com/office/drawing/2014/main" id="{8907CDC6-2443-7709-2599-949B5364C659}"/>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53">
            <a:extLst>
              <a:ext uri="{FF2B5EF4-FFF2-40B4-BE49-F238E27FC236}">
                <a16:creationId xmlns:a16="http://schemas.microsoft.com/office/drawing/2014/main" id="{FCDC25CE-DFBD-2B20-F1C4-549D04999E51}"/>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49" name="Shape 54">
            <a:extLst>
              <a:ext uri="{FF2B5EF4-FFF2-40B4-BE49-F238E27FC236}">
                <a16:creationId xmlns:a16="http://schemas.microsoft.com/office/drawing/2014/main" id="{1A147A28-7818-470C-C39E-550581EB60CF}"/>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0" name="Text 57">
            <a:extLst>
              <a:ext uri="{FF2B5EF4-FFF2-40B4-BE49-F238E27FC236}">
                <a16:creationId xmlns:a16="http://schemas.microsoft.com/office/drawing/2014/main" id="{A3874D20-9C16-EACA-914A-BC2FF3C3FB21}"/>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dirty="0">
                <a:solidFill>
                  <a:srgbClr val="FFFFFF"/>
                </a:solidFill>
                <a:latin typeface="Arial"/>
                <a:ea typeface="Arial"/>
                <a:cs typeface="Arial"/>
              </a:rPr>
              <a:t>1</a:t>
            </a:r>
            <a:r>
              <a:rPr lang="en-US" sz="1500" b="1" dirty="0">
                <a:solidFill>
                  <a:srgbClr val="FFFFFF"/>
                </a:solidFill>
                <a:latin typeface="Arial"/>
                <a:ea typeface="Arial"/>
                <a:cs typeface="Arial"/>
              </a:rPr>
              <a:t>9</a:t>
            </a:r>
            <a:endParaRPr sz="1500" b="1" dirty="0">
              <a:solidFill>
                <a:srgbClr val="FFFFFF"/>
              </a:solidFill>
              <a:latin typeface="Arial"/>
              <a:ea typeface="Arial"/>
              <a:cs typeface="Arial"/>
            </a:endParaRPr>
          </a:p>
        </p:txBody>
      </p:sp>
      <p:sp>
        <p:nvSpPr>
          <p:cNvPr id="51" name="Rectangle 50">
            <a:extLst>
              <a:ext uri="{FF2B5EF4-FFF2-40B4-BE49-F238E27FC236}">
                <a16:creationId xmlns:a16="http://schemas.microsoft.com/office/drawing/2014/main" id="{40BA30E6-7D31-5C75-E2B5-E4456FC48A86}"/>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QUẢN LÝ NHÀ CUNG CẤP</a:t>
            </a:r>
          </a:p>
        </p:txBody>
      </p:sp>
      <p:graphicFrame>
        <p:nvGraphicFramePr>
          <p:cNvPr id="52" name="Table 111">
            <a:extLst>
              <a:ext uri="{FF2B5EF4-FFF2-40B4-BE49-F238E27FC236}">
                <a16:creationId xmlns:a16="http://schemas.microsoft.com/office/drawing/2014/main" id="{BBBAEE16-F190-2078-3427-3E1B63C4FB70}"/>
              </a:ext>
            </a:extLst>
          </p:cNvPr>
          <p:cNvGraphicFramePr/>
          <p:nvPr>
            <p:extLst>
              <p:ext uri="{D42A27DB-BD31-4B8C-83A1-F6EECF244321}">
                <p14:modId xmlns:p14="http://schemas.microsoft.com/office/powerpoint/2010/main" val="402333985"/>
              </p:ext>
            </p:extLst>
          </p:nvPr>
        </p:nvGraphicFramePr>
        <p:xfrm>
          <a:off x="742950" y="1714500"/>
          <a:ext cx="10763250" cy="4595622"/>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36576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383831">
                <a:tc>
                  <a:txBody>
                    <a:bodyPr/>
                    <a:lstStyle/>
                    <a:p>
                      <a:pPr algn="l">
                        <a:lnSpc>
                          <a:spcPct val="104000"/>
                        </a:lnSpc>
                        <a:buNone/>
                      </a:pPr>
                      <a:r>
                        <a:rPr sz="1200" b="0" dirty="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Trong </a:t>
                      </a:r>
                      <a:r>
                        <a:rPr sz="1200" b="0" dirty="0" err="1">
                          <a:solidFill>
                            <a:srgbClr val="17325C"/>
                          </a:solidFill>
                          <a:latin typeface="Arial"/>
                          <a:ea typeface="Arial"/>
                          <a:cs typeface="Arial"/>
                        </a:rPr>
                        <a:t>các</a:t>
                      </a:r>
                      <a:r>
                        <a:rPr sz="1200" b="0" dirty="0">
                          <a:solidFill>
                            <a:srgbClr val="17325C"/>
                          </a:solidFill>
                          <a:latin typeface="Arial"/>
                          <a:ea typeface="Arial"/>
                          <a:cs typeface="Arial"/>
                        </a:rPr>
                        <a:t> </a:t>
                      </a:r>
                      <a:r>
                        <a:rPr sz="1200" b="0" dirty="0" err="1">
                          <a:solidFill>
                            <a:srgbClr val="17325C"/>
                          </a:solidFill>
                          <a:latin typeface="Arial"/>
                          <a:ea typeface="Arial"/>
                          <a:cs typeface="Arial"/>
                        </a:rPr>
                        <a:t>yêu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cầu</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sắm</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được</a:t>
                      </a:r>
                      <a:r>
                        <a:rPr sz="1200" b="0" dirty="0">
                          <a:solidFill>
                            <a:srgbClr val="17325C"/>
                          </a:solidFill>
                          <a:latin typeface="Arial"/>
                          <a:ea typeface="Arial"/>
                          <a:cs typeface="Arial"/>
                        </a:rPr>
                        <a:t> </a:t>
                      </a:r>
                      <a:r>
                        <a:rPr sz="1200" b="0" dirty="0" err="1">
                          <a:solidFill>
                            <a:srgbClr val="17325C"/>
                          </a:solidFill>
                          <a:latin typeface="Arial"/>
                          <a:ea typeface="Arial"/>
                          <a:cs typeface="Arial"/>
                        </a:rPr>
                        <a:t>tiếp</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nhận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tỷ</a:t>
                      </a:r>
                      <a:r>
                        <a:rPr sz="1200" b="0" dirty="0">
                          <a:solidFill>
                            <a:srgbClr val="17325C"/>
                          </a:solidFill>
                          <a:latin typeface="Arial"/>
                          <a:ea typeface="Arial"/>
                          <a:cs typeface="Arial"/>
                        </a:rPr>
                        <a:t> </a:t>
                      </a:r>
                      <a:r>
                        <a:rPr sz="1200" b="0" dirty="0" err="1">
                          <a:solidFill>
                            <a:srgbClr val="17325C"/>
                          </a:solidFill>
                          <a:latin typeface="Arial"/>
                          <a:ea typeface="Arial"/>
                          <a:cs typeface="Arial"/>
                        </a:rPr>
                        <a:t>lệ</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phải</a:t>
                      </a:r>
                      <a:r>
                        <a:rPr sz="1200" b="0" dirty="0">
                          <a:solidFill>
                            <a:srgbClr val="17325C"/>
                          </a:solidFill>
                          <a:latin typeface="Arial"/>
                          <a:ea typeface="Arial"/>
                          <a:cs typeface="Arial"/>
                        </a:rPr>
                        <a:t> </a:t>
                      </a:r>
                      <a:r>
                        <a:rPr sz="1200" b="0" dirty="0" err="1">
                          <a:solidFill>
                            <a:srgbClr val="17325C"/>
                          </a:solidFill>
                          <a:latin typeface="Arial"/>
                          <a:ea typeface="Arial"/>
                          <a:cs typeface="Arial"/>
                        </a:rPr>
                        <a:t>xử</a:t>
                      </a:r>
                      <a:r>
                        <a:rPr sz="1200" b="0" dirty="0">
                          <a:solidFill>
                            <a:srgbClr val="17325C"/>
                          </a:solidFill>
                          <a:latin typeface="Arial"/>
                          <a:ea typeface="Arial"/>
                          <a:cs typeface="Arial"/>
                        </a:rPr>
                        <a:t> </a:t>
                      </a:r>
                      <a:r>
                        <a:rPr sz="1200" b="0" dirty="0" err="1">
                          <a:solidFill>
                            <a:srgbClr val="17325C"/>
                          </a:solidFill>
                          <a:latin typeface="Arial"/>
                          <a:ea typeface="Arial"/>
                          <a:cs typeface="Arial"/>
                        </a:rPr>
                        <a:t>lý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lại</a:t>
                      </a:r>
                      <a:r>
                        <a:rPr sz="1200" b="0" dirty="0">
                          <a:solidFill>
                            <a:srgbClr val="17325C"/>
                          </a:solidFill>
                          <a:latin typeface="Arial"/>
                          <a:ea typeface="Arial"/>
                          <a:cs typeface="Arial"/>
                        </a:rPr>
                        <a:t> do </a:t>
                      </a:r>
                      <a:r>
                        <a:rPr sz="1200" b="0" dirty="0" err="1">
                          <a:solidFill>
                            <a:srgbClr val="17325C"/>
                          </a:solidFill>
                          <a:latin typeface="Arial"/>
                          <a:ea typeface="Arial"/>
                          <a:cs typeface="Arial"/>
                        </a:rPr>
                        <a:t>thông</a:t>
                      </a:r>
                      <a:r>
                        <a:rPr sz="1200" b="0" dirty="0">
                          <a:solidFill>
                            <a:srgbClr val="17325C"/>
                          </a:solidFill>
                          <a:latin typeface="Arial"/>
                          <a:ea typeface="Arial"/>
                          <a:cs typeface="Arial"/>
                        </a:rPr>
                        <a:t> tin </a:t>
                      </a:r>
                      <a:r>
                        <a:rPr sz="1200" b="0" dirty="0" err="1">
                          <a:solidFill>
                            <a:srgbClr val="17325C"/>
                          </a:solidFill>
                          <a:latin typeface="Arial"/>
                          <a:ea typeface="Arial"/>
                          <a:cs typeface="Arial"/>
                        </a:rPr>
                        <a:t>hoặc</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hồ</a:t>
                      </a:r>
                      <a:r>
                        <a:rPr sz="1200" b="0" dirty="0">
                          <a:solidFill>
                            <a:srgbClr val="17325C"/>
                          </a:solidFill>
                          <a:latin typeface="Arial"/>
                          <a:ea typeface="Arial"/>
                          <a:cs typeface="Arial"/>
                        </a:rPr>
                        <a:t> </a:t>
                      </a:r>
                      <a:r>
                        <a:rPr sz="1200" b="0" dirty="0" err="1">
                          <a:solidFill>
                            <a:srgbClr val="17325C"/>
                          </a:solidFill>
                          <a:latin typeface="Arial"/>
                          <a:ea typeface="Arial"/>
                          <a:cs typeface="Arial"/>
                        </a:rPr>
                        <a:t>sơ</a:t>
                      </a:r>
                      <a:r>
                        <a:rPr sz="1200" b="0" dirty="0">
                          <a:solidFill>
                            <a:srgbClr val="17325C"/>
                          </a:solidFill>
                          <a:latin typeface="Arial"/>
                          <a:ea typeface="Arial"/>
                          <a:cs typeface="Arial"/>
                        </a:rPr>
                        <a:t> </a:t>
                      </a:r>
                      <a:r>
                        <a:rPr sz="1200" b="0" dirty="0" err="1">
                          <a:solidFill>
                            <a:srgbClr val="17325C"/>
                          </a:solidFill>
                          <a:latin typeface="Arial"/>
                          <a:ea typeface="Arial"/>
                          <a:cs typeface="Arial"/>
                        </a:rPr>
                        <a:t>chưa</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đầy</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đủ</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khoảng</a:t>
                      </a:r>
                      <a:r>
                        <a:rPr sz="1200" b="0" dirty="0">
                          <a:solidFill>
                            <a:srgbClr val="17325C"/>
                          </a:solidFill>
                          <a:latin typeface="Arial"/>
                          <a:ea typeface="Arial"/>
                          <a:cs typeface="Arial"/>
                        </a:rPr>
                        <a:t> bao </a:t>
                      </a:r>
                      <a:r>
                        <a:rPr sz="1200" b="0" dirty="0" err="1">
                          <a:solidFill>
                            <a:srgbClr val="17325C"/>
                          </a:solidFill>
                          <a:latin typeface="Arial"/>
                          <a:ea typeface="Arial"/>
                          <a:cs typeface="Arial"/>
                        </a:rPr>
                        <a:t>nhiêu</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Dưới</a:t>
                      </a:r>
                      <a:r>
                        <a:rPr sz="1200" b="0" dirty="0">
                          <a:solidFill>
                            <a:srgbClr val="17325C"/>
                          </a:solidFill>
                          <a:latin typeface="Arial"/>
                          <a:ea typeface="Arial"/>
                          <a:cs typeface="Arial"/>
                        </a:rPr>
                        <a:t> 10%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10–20%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21–30%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31–50%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a:t>
                      </a:r>
                      <a:r>
                        <a:rPr sz="1200" b="0" dirty="0" err="1">
                          <a:solidFill>
                            <a:srgbClr val="17325C"/>
                          </a:solidFill>
                          <a:latin typeface="Arial"/>
                          <a:ea typeface="Arial"/>
                          <a:cs typeface="Arial"/>
                        </a:rPr>
                        <a:t>Trên</a:t>
                      </a:r>
                      <a:r>
                        <a:rPr sz="1200" b="0" dirty="0">
                          <a:solidFill>
                            <a:srgbClr val="17325C"/>
                          </a:solidFill>
                          <a:latin typeface="Arial"/>
                          <a:ea typeface="Arial"/>
                          <a:cs typeface="Arial"/>
                        </a:rPr>
                        <a:t> 50%</a:t>
                      </a:r>
                    </a:p>
                  </a:txBody>
                  <a:tcPr anchor="ctr">
                    <a:solidFill>
                      <a:srgbClr val="FFFFFF"/>
                    </a:solidFill>
                  </a:tcPr>
                </a:tc>
                <a:tc>
                  <a:txBody>
                    <a:bodyPr/>
                    <a:lstStyle/>
                    <a:p>
                      <a:pPr algn="l">
                        <a:lnSpc>
                          <a:spcPct val="104000"/>
                        </a:lnSpc>
                        <a:buNone/>
                      </a:pPr>
                      <a:r>
                        <a:rPr sz="12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a:t>
                      </a:r>
                    </a:p>
                  </a:txBody>
                  <a:tcPr anchor="ctr">
                    <a:solidFill>
                      <a:srgbClr val="FFFFFF"/>
                    </a:solidFill>
                  </a:tcPr>
                </a:tc>
                <a:extLst>
                  <a:ext uri="{0D108BD9-81ED-4DB2-BD59-A6C34878D82A}">
                    <a16:rowId xmlns:a16="http://schemas.microsoft.com/office/drawing/2014/main" val="10003"/>
                  </a:ext>
                </a:extLst>
              </a:tr>
              <a:tr h="1383831">
                <a:tc>
                  <a:txBody>
                    <a:bodyPr/>
                    <a:lstStyle/>
                    <a:p>
                      <a:pPr algn="l">
                        <a:lnSpc>
                          <a:spcPct val="104000"/>
                        </a:lnSpc>
                        <a:buNone/>
                      </a:pPr>
                      <a:r>
                        <a:rPr sz="1200" b="0" dirty="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Trong </a:t>
                      </a:r>
                      <a:r>
                        <a:rPr sz="1200" b="0" dirty="0" err="1">
                          <a:solidFill>
                            <a:srgbClr val="17325C"/>
                          </a:solidFill>
                          <a:latin typeface="Arial"/>
                          <a:ea typeface="Arial"/>
                          <a:cs typeface="Arial"/>
                        </a:rPr>
                        <a:t>một</a:t>
                      </a:r>
                      <a:r>
                        <a:rPr sz="1200" b="0" dirty="0">
                          <a:solidFill>
                            <a:srgbClr val="17325C"/>
                          </a:solidFill>
                          <a:latin typeface="Arial"/>
                          <a:ea typeface="Arial"/>
                          <a:cs typeface="Arial"/>
                        </a:rPr>
                        <a:t> </a:t>
                      </a:r>
                      <a:r>
                        <a:rPr sz="1200" b="0" dirty="0" err="1">
                          <a:solidFill>
                            <a:srgbClr val="17325C"/>
                          </a:solidFill>
                          <a:latin typeface="Arial"/>
                          <a:ea typeface="Arial"/>
                          <a:cs typeface="Arial"/>
                        </a:rPr>
                        <a:t>năm</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khoảng</a:t>
                      </a:r>
                      <a:r>
                        <a:rPr sz="1200" b="0" dirty="0">
                          <a:solidFill>
                            <a:srgbClr val="17325C"/>
                          </a:solidFill>
                          <a:latin typeface="Arial"/>
                          <a:ea typeface="Arial"/>
                          <a:cs typeface="Arial"/>
                        </a:rPr>
                        <a:t> bao </a:t>
                      </a:r>
                      <a:r>
                        <a:rPr sz="1200" b="0" dirty="0" err="1">
                          <a:solidFill>
                            <a:srgbClr val="17325C"/>
                          </a:solidFill>
                          <a:latin typeface="Arial"/>
                          <a:ea typeface="Arial"/>
                          <a:cs typeface="Arial"/>
                        </a:rPr>
                        <a:t>nhiêu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mới</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được</a:t>
                      </a:r>
                      <a:r>
                        <a:rPr sz="1200" b="0" dirty="0">
                          <a:solidFill>
                            <a:srgbClr val="17325C"/>
                          </a:solidFill>
                          <a:latin typeface="Arial"/>
                          <a:ea typeface="Arial"/>
                          <a:cs typeface="Arial"/>
                        </a:rPr>
                        <a:t> </a:t>
                      </a:r>
                      <a:r>
                        <a:rPr sz="1200" b="0" dirty="0" err="1">
                          <a:solidFill>
                            <a:srgbClr val="17325C"/>
                          </a:solidFill>
                          <a:latin typeface="Arial"/>
                          <a:ea typeface="Arial"/>
                          <a:cs typeface="Arial"/>
                        </a:rPr>
                        <a:t>bộ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phận</a:t>
                      </a:r>
                      <a:r>
                        <a:rPr sz="1200" b="0" dirty="0">
                          <a:solidFill>
                            <a:srgbClr val="17325C"/>
                          </a:solidFill>
                          <a:latin typeface="Arial"/>
                          <a:ea typeface="Arial"/>
                          <a:cs typeface="Arial"/>
                        </a:rPr>
                        <a:t> 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tìm</a:t>
                      </a:r>
                      <a:r>
                        <a:rPr sz="1200" b="0" dirty="0">
                          <a:solidFill>
                            <a:srgbClr val="17325C"/>
                          </a:solidFill>
                          <a:latin typeface="Arial"/>
                          <a:ea typeface="Arial"/>
                          <a:cs typeface="Arial"/>
                        </a:rPr>
                        <a:t> </a:t>
                      </a:r>
                      <a:r>
                        <a:rPr sz="1200" b="0" dirty="0" err="1">
                          <a:solidFill>
                            <a:srgbClr val="17325C"/>
                          </a:solidFill>
                          <a:latin typeface="Arial"/>
                          <a:ea typeface="Arial"/>
                          <a:cs typeface="Arial"/>
                        </a:rPr>
                        <a:t>kiếm</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và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đưa</a:t>
                      </a:r>
                      <a:r>
                        <a:rPr sz="1200" b="0" dirty="0">
                          <a:solidFill>
                            <a:srgbClr val="17325C"/>
                          </a:solidFill>
                          <a:latin typeface="Arial"/>
                          <a:ea typeface="Arial"/>
                          <a:cs typeface="Arial"/>
                        </a:rPr>
                        <a:t> </a:t>
                      </a:r>
                      <a:r>
                        <a:rPr sz="1200" b="0" dirty="0" err="1">
                          <a:solidFill>
                            <a:srgbClr val="17325C"/>
                          </a:solidFill>
                          <a:latin typeface="Arial"/>
                          <a:ea typeface="Arial"/>
                          <a:cs typeface="Arial"/>
                        </a:rPr>
                        <a:t>vào</a:t>
                      </a:r>
                      <a:r>
                        <a:rPr sz="1200" b="0" dirty="0">
                          <a:solidFill>
                            <a:srgbClr val="17325C"/>
                          </a:solidFill>
                          <a:latin typeface="Arial"/>
                          <a:ea typeface="Arial"/>
                          <a:cs typeface="Arial"/>
                        </a:rPr>
                        <a:t> </a:t>
                      </a:r>
                      <a:r>
                        <a:rPr sz="1200" b="0" dirty="0" err="1">
                          <a:solidFill>
                            <a:srgbClr val="17325C"/>
                          </a:solidFill>
                          <a:latin typeface="Arial"/>
                          <a:ea typeface="Arial"/>
                          <a:cs typeface="Arial"/>
                        </a:rPr>
                        <a:t>danh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sách</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Dưới</a:t>
                      </a:r>
                      <a:r>
                        <a:rPr sz="1200" b="0" dirty="0">
                          <a:solidFill>
                            <a:srgbClr val="17325C"/>
                          </a:solidFill>
                          <a:latin typeface="Arial"/>
                          <a:ea typeface="Arial"/>
                          <a:cs typeface="Arial"/>
                        </a:rPr>
                        <a:t> 10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10–30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31–50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51–100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a:t>
                      </a:r>
                      <a:r>
                        <a:rPr sz="1200" b="0" dirty="0" err="1">
                          <a:solidFill>
                            <a:srgbClr val="17325C"/>
                          </a:solidFill>
                          <a:latin typeface="Arial"/>
                          <a:ea typeface="Arial"/>
                          <a:cs typeface="Arial"/>
                        </a:rPr>
                        <a:t>Trên</a:t>
                      </a:r>
                      <a:r>
                        <a:rPr sz="1200" b="0" dirty="0">
                          <a:solidFill>
                            <a:srgbClr val="17325C"/>
                          </a:solidFill>
                          <a:latin typeface="Arial"/>
                          <a:ea typeface="Arial"/>
                          <a:cs typeface="Arial"/>
                        </a:rPr>
                        <a:t> 100</a:t>
                      </a:r>
                    </a:p>
                  </a:txBody>
                  <a:tcPr anchor="ctr">
                    <a:solidFill>
                      <a:srgbClr val="FFFFFF"/>
                    </a:solidFill>
                  </a:tcPr>
                </a:tc>
                <a:tc>
                  <a:txBody>
                    <a:bodyPr/>
                    <a:lstStyle/>
                    <a:p>
                      <a:pPr algn="l">
                        <a:lnSpc>
                          <a:spcPct val="104000"/>
                        </a:lnSpc>
                        <a:buNone/>
                      </a:pPr>
                      <a:r>
                        <a:rPr sz="12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907137596"/>
                  </a:ext>
                </a:extLst>
              </a:tr>
              <a:tr h="1383831">
                <a:tc>
                  <a:txBody>
                    <a:bodyPr/>
                    <a:lstStyle/>
                    <a:p>
                      <a:pPr algn="l">
                        <a:lnSpc>
                          <a:spcPct val="104000"/>
                        </a:lnSpc>
                        <a:buNone/>
                      </a:pPr>
                      <a:r>
                        <a:rPr sz="120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mức</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của</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quản</a:t>
                      </a:r>
                      <a:r>
                        <a:rPr sz="1200" b="0" dirty="0">
                          <a:solidFill>
                            <a:srgbClr val="17325C"/>
                          </a:solidFill>
                          <a:latin typeface="Arial"/>
                          <a:ea typeface="Arial"/>
                          <a:cs typeface="Arial"/>
                        </a:rPr>
                        <a:t> </a:t>
                      </a:r>
                      <a:r>
                        <a:rPr sz="1200" b="0" dirty="0" err="1">
                          <a:solidFill>
                            <a:srgbClr val="17325C"/>
                          </a:solidFill>
                          <a:latin typeface="Arial"/>
                          <a:ea typeface="Arial"/>
                          <a:cs typeface="Arial"/>
                        </a:rPr>
                        <a:t>lý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tại</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theo</a:t>
                      </a:r>
                      <a:r>
                        <a:rPr sz="1200" b="0" dirty="0">
                          <a:solidFill>
                            <a:srgbClr val="17325C"/>
                          </a:solidFill>
                          <a:latin typeface="Arial"/>
                          <a:ea typeface="Arial"/>
                          <a:cs typeface="Arial"/>
                        </a:rPr>
                        <a:t> thang </a:t>
                      </a:r>
                      <a:r>
                        <a:rPr sz="1200" b="0" dirty="0" err="1">
                          <a:solidFill>
                            <a:srgbClr val="17325C"/>
                          </a:solidFill>
                          <a:latin typeface="Arial"/>
                          <a:ea typeface="Arial"/>
                          <a:cs typeface="Arial"/>
                        </a:rPr>
                        <a:t>điểm</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1 –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2 –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3 – Bình </a:t>
                      </a:r>
                      <a:r>
                        <a:rPr sz="1200" b="0" dirty="0" err="1">
                          <a:solidFill>
                            <a:srgbClr val="17325C"/>
                          </a:solidFill>
                          <a:latin typeface="Arial"/>
                          <a:ea typeface="Arial"/>
                          <a:cs typeface="Arial"/>
                        </a:rPr>
                        <a:t>thường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4 – Hiệu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5 –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a:solidFill>
                            <a:srgbClr val="17325C"/>
                          </a:solidFill>
                          <a:latin typeface="Arial"/>
                          <a:ea typeface="Arial"/>
                          <a:cs typeface="Arial"/>
                        </a:rPr>
                        <a:t>Ban lãnh đạo FPT Retail / Nhân viên mua hàng</a:t>
                      </a: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Điểm</a:t>
                      </a:r>
                      <a:r>
                        <a:rPr sz="1200" b="0" dirty="0">
                          <a:solidFill>
                            <a:srgbClr val="17325C"/>
                          </a:solidFill>
                          <a:latin typeface="Arial"/>
                          <a:ea typeface="Arial"/>
                          <a:cs typeface="Arial"/>
                        </a:rPr>
                        <a:t> (1–5)</a:t>
                      </a:r>
                    </a:p>
                  </a:txBody>
                  <a:tcPr anchor="ctr">
                    <a:solidFill>
                      <a:srgbClr val="FFFFFF"/>
                    </a:solidFill>
                  </a:tcPr>
                </a:tc>
                <a:extLst>
                  <a:ext uri="{0D108BD9-81ED-4DB2-BD59-A6C34878D82A}">
                    <a16:rowId xmlns:a16="http://schemas.microsoft.com/office/drawing/2014/main" val="1763249437"/>
                  </a:ext>
                </a:extLst>
              </a:tr>
            </a:tbl>
          </a:graphicData>
        </a:graphic>
      </p:graphicFrame>
    </p:spTree>
    <p:extLst>
      <p:ext uri="{BB962C8B-B14F-4D97-AF65-F5344CB8AC3E}">
        <p14:creationId xmlns:p14="http://schemas.microsoft.com/office/powerpoint/2010/main" val="134184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20</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KHÔNG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319079214"/>
              </p:ext>
            </p:extLst>
          </p:nvPr>
        </p:nvGraphicFramePr>
        <p:xfrm>
          <a:off x="742950" y="1714500"/>
          <a:ext cx="10763250" cy="436397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Trong 12 tháng gần nhất, bộ phận Anh/Chị đã xử lý khoảng bao nhiêu yêu cầu mua sắm liên quan đến nhà cung cấp?</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yêu cầu</a:t>
                      </a:r>
                    </a:p>
                  </a:txBody>
                  <a:tcPr anchor="ctr">
                    <a:solidFill>
                      <a:srgbClr val="FFFFFF"/>
                    </a:solidFill>
                  </a:tcPr>
                </a:tc>
                <a:extLst>
                  <a:ext uri="{0D108BD9-81ED-4DB2-BD59-A6C34878D82A}">
                    <a16:rowId xmlns:a16="http://schemas.microsoft.com/office/drawing/2014/main" val="10001"/>
                  </a:ext>
                </a:extLst>
              </a:tr>
              <a:tr h="89535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Theo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liệu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mất</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lúc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Ngày/yêu cầu</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Trong 12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đưa</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danh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sách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Nhà cung cấp</a:t>
                      </a:r>
                    </a:p>
                  </a:txBody>
                  <a:tcPr anchor="ctr">
                    <a:solidFill>
                      <a:srgbClr val="FFFFFF"/>
                    </a:solidFill>
                  </a:tcPr>
                </a:tc>
                <a:extLst>
                  <a:ext uri="{0D108BD9-81ED-4DB2-BD59-A6C34878D82A}">
                    <a16:rowId xmlns:a16="http://schemas.microsoft.com/office/drawing/2014/main" val="10003"/>
                  </a:ext>
                </a:extLst>
              </a:tr>
              <a:tr h="895350">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tổng số hợp đồng với nhà cung cấp đã ký trong năm qua, có bao nhiêu hợp đồng phát sinh vấn đề trong quá trình thực hiện?</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Hợp đồng</a:t>
                      </a:r>
                    </a:p>
                  </a:txBody>
                  <a:tcPr anchor="ctr">
                    <a:solidFill>
                      <a:srgbClr val="F1F6FC"/>
                    </a:solidFill>
                  </a:tcPr>
                </a:tc>
                <a:extLst>
                  <a:ext uri="{0D108BD9-81ED-4DB2-BD59-A6C34878D82A}">
                    <a16:rowId xmlns:a16="http://schemas.microsoft.com/office/drawing/2014/main" val="10004"/>
                  </a:ext>
                </a:extLst>
              </a:tr>
              <a:tr h="89535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Theo số liệu thực tế của bộ phận Anh/Chị, thời gian trung bình từ khi phát sinh nhu cầu mua sắm đến khi hoàn tất ký kết hợp đồng là bao nhiêu ngày?</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 / Cấp có thẩm quyền</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Ngày</a:t>
                      </a:r>
                      <a:r>
                        <a:rPr sz="1400" b="0" dirty="0">
                          <a:solidFill>
                            <a:srgbClr val="17325C"/>
                          </a:solidFill>
                          <a:latin typeface="Arial"/>
                          <a:ea typeface="Arial"/>
                          <a:cs typeface="Arial"/>
                        </a:rPr>
                        <a:t>/</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IV. BÁN HÀNG TRỰC TUYẾN</a:t>
            </a:r>
          </a:p>
        </p:txBody>
      </p:sp>
      <p:graphicFrame>
        <p:nvGraphicFramePr>
          <p:cNvPr id="112" name="Table 111"/>
          <p:cNvGraphicFramePr/>
          <p:nvPr>
            <p:extLst>
              <p:ext uri="{D42A27DB-BD31-4B8C-83A1-F6EECF244321}">
                <p14:modId xmlns:p14="http://schemas.microsoft.com/office/powerpoint/2010/main" val="2067515009"/>
              </p:ext>
            </p:extLst>
          </p:nvPr>
        </p:nvGraphicFramePr>
        <p:xfrm>
          <a:off x="742950" y="1714500"/>
          <a:ext cx="10763250" cy="42291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9525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Khách hàng; Hệ thống TMĐT; OMS; Telesales/CSKH; Cửa hàng–Kho; Giao vận–Kế toán/Đối soát; Cổng thanh toán; Công ty tài chính trả góp; Đơn vị vận chuyển đối tác.</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Khách hàng đặt mua sản phẩm qua kênh trực tuyến.</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và tạo đơn → kiểm tồn, điều phối, xác nhận và thanh toán → soạn và xuất kho → giao hàng, đối soát → hậu mãi.</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Cung cấp đúng sản phẩm; thuận tiện khi đặt, thanh toán và nhận hàng; bảo đảm quyền lợi hậu mãi.</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dirty="0" err="1">
                          <a:solidFill>
                            <a:srgbClr val="17325C"/>
                          </a:solidFill>
                          <a:latin typeface="Arial"/>
                          <a:ea typeface="Arial"/>
                          <a:cs typeface="Arial"/>
                        </a:rPr>
                        <a:t>Đơn</a:t>
                      </a:r>
                      <a:r>
                        <a:rPr sz="1650" b="0" dirty="0">
                          <a:solidFill>
                            <a:srgbClr val="17325C"/>
                          </a:solidFill>
                          <a:latin typeface="Arial"/>
                          <a:ea typeface="Arial"/>
                          <a:cs typeface="Arial"/>
                        </a:rPr>
                        <a:t> </a:t>
                      </a:r>
                      <a:r>
                        <a:rPr sz="1650" b="0" dirty="0" err="1">
                          <a:solidFill>
                            <a:srgbClr val="17325C"/>
                          </a:solidFill>
                          <a:latin typeface="Arial"/>
                          <a:ea typeface="Arial"/>
                          <a:cs typeface="Arial"/>
                        </a:rPr>
                        <a:t>hoàn</a:t>
                      </a:r>
                      <a:r>
                        <a:rPr sz="1650" b="0" dirty="0">
                          <a:solidFill>
                            <a:srgbClr val="17325C"/>
                          </a:solidFill>
                          <a:latin typeface="Arial"/>
                          <a:ea typeface="Arial"/>
                          <a:cs typeface="Arial"/>
                        </a:rPr>
                        <a:t> </a:t>
                      </a:r>
                      <a:r>
                        <a:rPr sz="1650" b="0" dirty="0" err="1">
                          <a:solidFill>
                            <a:srgbClr val="17325C"/>
                          </a:solidFill>
                          <a:latin typeface="Arial"/>
                          <a:ea typeface="Arial"/>
                          <a:cs typeface="Arial"/>
                        </a:rPr>
                        <a:t>tất</a:t>
                      </a:r>
                      <a:r>
                        <a:rPr sz="1650" b="0" dirty="0">
                          <a:solidFill>
                            <a:srgbClr val="17325C"/>
                          </a:solidFill>
                          <a:latin typeface="Arial"/>
                          <a:ea typeface="Arial"/>
                          <a:cs typeface="Arial"/>
                        </a:rPr>
                        <a:t>;</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khách</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hàng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nhận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được</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sản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phẩm</a:t>
                      </a:r>
                      <a:r>
                        <a:rPr lang="en-US" sz="1650" b="0" dirty="0">
                          <a:solidFill>
                            <a:srgbClr val="17325C"/>
                          </a:solidFill>
                          <a:latin typeface="Arial"/>
                          <a:ea typeface="Arial"/>
                          <a:cs typeface="Arial"/>
                        </a:rPr>
                        <a:t>;</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đơn</a:t>
                      </a:r>
                      <a:r>
                        <a:rPr sz="1650" b="0" dirty="0">
                          <a:solidFill>
                            <a:srgbClr val="17325C"/>
                          </a:solidFill>
                          <a:latin typeface="Arial"/>
                          <a:ea typeface="Arial"/>
                          <a:cs typeface="Arial"/>
                        </a:rPr>
                        <a:t> </a:t>
                      </a:r>
                      <a:r>
                        <a:rPr sz="1650" b="0" dirty="0" err="1">
                          <a:solidFill>
                            <a:srgbClr val="17325C"/>
                          </a:solidFill>
                          <a:latin typeface="Arial"/>
                          <a:ea typeface="Arial"/>
                          <a:cs typeface="Arial"/>
                        </a:rPr>
                        <a:t>bị</a:t>
                      </a:r>
                      <a:r>
                        <a:rPr sz="1650" b="0" dirty="0">
                          <a:solidFill>
                            <a:srgbClr val="17325C"/>
                          </a:solidFill>
                          <a:latin typeface="Arial"/>
                          <a:ea typeface="Arial"/>
                          <a:cs typeface="Arial"/>
                        </a:rPr>
                        <a:t> </a:t>
                      </a:r>
                      <a:r>
                        <a:rPr sz="1650" b="0" dirty="0" err="1">
                          <a:solidFill>
                            <a:srgbClr val="17325C"/>
                          </a:solidFill>
                          <a:latin typeface="Arial"/>
                          <a:ea typeface="Arial"/>
                          <a:cs typeface="Arial"/>
                        </a:rPr>
                        <a:t>hủy</a:t>
                      </a:r>
                      <a:r>
                        <a:rPr sz="1650" b="0" dirty="0">
                          <a:solidFill>
                            <a:srgbClr val="17325C"/>
                          </a:solidFill>
                          <a:latin typeface="Arial"/>
                          <a:ea typeface="Arial"/>
                          <a:cs typeface="Arial"/>
                        </a:rPr>
                        <a:t>; </a:t>
                      </a:r>
                      <a:r>
                        <a:rPr sz="1650" b="0" dirty="0" err="1">
                          <a:solidFill>
                            <a:srgbClr val="17325C"/>
                          </a:solidFill>
                          <a:latin typeface="Arial"/>
                          <a:ea typeface="Arial"/>
                          <a:cs typeface="Arial"/>
                        </a:rPr>
                        <a:t>giao</a:t>
                      </a:r>
                      <a:r>
                        <a:rPr sz="1650" b="0" dirty="0">
                          <a:solidFill>
                            <a:srgbClr val="17325C"/>
                          </a:solidFill>
                          <a:latin typeface="Arial"/>
                          <a:ea typeface="Arial"/>
                          <a:cs typeface="Arial"/>
                        </a:rPr>
                        <a:t> </a:t>
                      </a:r>
                      <a:r>
                        <a:rPr sz="1650" b="0" dirty="0" err="1">
                          <a:solidFill>
                            <a:srgbClr val="17325C"/>
                          </a:solidFill>
                          <a:latin typeface="Arial"/>
                          <a:ea typeface="Arial"/>
                          <a:cs typeface="Arial"/>
                        </a:rPr>
                        <a:t>thất</a:t>
                      </a:r>
                      <a:r>
                        <a:rPr sz="1650" b="0" dirty="0">
                          <a:solidFill>
                            <a:srgbClr val="17325C"/>
                          </a:solidFill>
                          <a:latin typeface="Arial"/>
                          <a:ea typeface="Arial"/>
                          <a:cs typeface="Arial"/>
                        </a:rPr>
                        <a:t> </a:t>
                      </a:r>
                      <a:r>
                        <a:rPr sz="1650" b="0" dirty="0" err="1">
                          <a:solidFill>
                            <a:srgbClr val="17325C"/>
                          </a:solidFill>
                          <a:latin typeface="Arial"/>
                          <a:ea typeface="Arial"/>
                          <a:cs typeface="Arial"/>
                        </a:rPr>
                        <a:t>bại</a:t>
                      </a:r>
                      <a:r>
                        <a:rPr sz="1650" b="0" dirty="0">
                          <a:solidFill>
                            <a:srgbClr val="17325C"/>
                          </a:solidFill>
                          <a:latin typeface="Arial"/>
                          <a:ea typeface="Arial"/>
                          <a:cs typeface="Arial"/>
                        </a:rPr>
                        <a:t>.</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BÁN HÀNG TRỰC TUYẾN</a:t>
            </a:r>
          </a:p>
        </p:txBody>
      </p:sp>
      <p:pic>
        <p:nvPicPr>
          <p:cNvPr id="112" name="Picture 111"/>
          <p:cNvPicPr>
            <a:picLocks noChangeAspect="1"/>
          </p:cNvPicPr>
          <p:nvPr/>
        </p:nvPicPr>
        <p:blipFill>
          <a:blip r:embed="rId3"/>
          <a:stretch/>
        </p:blipFill>
        <p:spPr>
          <a:xfrm>
            <a:off x="742950" y="1897856"/>
            <a:ext cx="10763250" cy="3976688"/>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XÁC NHẬN ĐƠN VÀ THANH TOÁN</a:t>
            </a:r>
          </a:p>
        </p:txBody>
      </p:sp>
      <p:pic>
        <p:nvPicPr>
          <p:cNvPr id="112" name="Picture 111"/>
          <p:cNvPicPr>
            <a:picLocks noChangeAspect="1"/>
          </p:cNvPicPr>
          <p:nvPr/>
        </p:nvPicPr>
        <p:blipFill>
          <a:blip r:embed="rId3"/>
          <a:stretch/>
        </p:blipFill>
        <p:spPr>
          <a:xfrm>
            <a:off x="744378" y="2005494"/>
            <a:ext cx="10760393" cy="3628062"/>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24</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GIAO HÀNG, GIAO LẠI VÀ HOÀN HÀNG</a:t>
            </a:r>
          </a:p>
        </p:txBody>
      </p:sp>
      <p:pic>
        <p:nvPicPr>
          <p:cNvPr id="112" name="Picture 111"/>
          <p:cNvPicPr>
            <a:picLocks noChangeAspect="1"/>
          </p:cNvPicPr>
          <p:nvPr/>
        </p:nvPicPr>
        <p:blipFill>
          <a:blip r:embed="rId3"/>
          <a:stretch/>
        </p:blipFill>
        <p:spPr>
          <a:xfrm>
            <a:off x="867221" y="1676582"/>
            <a:ext cx="10514707" cy="4285886"/>
          </a:xfrm>
          <a:prstGeom prst="rect">
            <a:avLst/>
          </a:prstGeom>
        </p:spPr>
      </p:pic>
      <p:sp>
        <p:nvSpPr>
          <p:cNvPr id="6" name="Rectangle 5">
            <a:extLst>
              <a:ext uri="{FF2B5EF4-FFF2-40B4-BE49-F238E27FC236}">
                <a16:creationId xmlns:a16="http://schemas.microsoft.com/office/drawing/2014/main" id="{4B553A73-8498-8037-EC12-49943F5536C1}"/>
              </a:ext>
            </a:extLst>
          </p:cNvPr>
          <p:cNvSpPr>
            <a:spLocks noGrp="1"/>
          </p:cNvSpPr>
          <p:nvPr/>
        </p:nvSpPr>
        <p:spPr>
          <a:xfrm>
            <a:off x="853440" y="1828800"/>
            <a:ext cx="306766" cy="1032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985234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25</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4010217293"/>
              </p:ext>
            </p:extLst>
          </p:nvPr>
        </p:nvGraphicFramePr>
        <p:xfrm>
          <a:off x="742950" y="1714500"/>
          <a:ext cx="10763250" cy="4345468"/>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6576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718925">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cho</a:t>
                      </a:r>
                      <a:r>
                        <a:rPr sz="1400" b="0" dirty="0">
                          <a:solidFill>
                            <a:srgbClr val="17325C"/>
                          </a:solidFill>
                          <a:latin typeface="Arial"/>
                          <a:ea typeface="Arial"/>
                          <a:cs typeface="Arial"/>
                        </a:rPr>
                        <a:t> TẤT CẢ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đã</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thanh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toán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như</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Rất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lược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bớt</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Ban lãnh đạo FPT Retail / Bộ phận Telesales</a:t>
                      </a:r>
                    </a:p>
                  </a:txBody>
                  <a:tcPr anchor="ctr">
                    <a:solidFill>
                      <a:srgbClr val="FFFFFF"/>
                    </a:solidFill>
                  </a:tcPr>
                </a:tc>
                <a:extLst>
                  <a:ext uri="{0D108BD9-81ED-4DB2-BD59-A6C34878D82A}">
                    <a16:rowId xmlns:a16="http://schemas.microsoft.com/office/drawing/2014/main" val="10001"/>
                  </a:ext>
                </a:extLst>
              </a:tr>
              <a:tr h="2260783">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gặp</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đa</a:t>
                      </a:r>
                      <a:r>
                        <a:rPr sz="1400" b="0" dirty="0">
                          <a:solidFill>
                            <a:srgbClr val="17325C"/>
                          </a:solidFill>
                          <a:latin typeface="Arial"/>
                          <a:ea typeface="Arial"/>
                          <a:cs typeface="Arial"/>
                        </a:rPr>
                        <a:t> 3 </a:t>
                      </a:r>
                      <a:r>
                        <a:rPr sz="1400" b="0" dirty="0" err="1">
                          <a:solidFill>
                            <a:srgbClr val="17325C"/>
                          </a:solidFill>
                          <a:latin typeface="Arial"/>
                          <a:ea typeface="Arial"/>
                          <a:cs typeface="Arial"/>
                        </a:rPr>
                        <a:t>đáp</a:t>
                      </a:r>
                      <a:r>
                        <a:rPr sz="1400" b="0" dirty="0">
                          <a:solidFill>
                            <a:srgbClr val="17325C"/>
                          </a:solidFill>
                          <a:latin typeface="Arial"/>
                          <a:ea typeface="Arial"/>
                          <a:cs typeface="Arial"/>
                        </a:rPr>
                        <a:t> </a:t>
                      </a:r>
                      <a:r>
                        <a:rPr sz="1400" b="0" dirty="0" err="1">
                          <a:solidFill>
                            <a:srgbClr val="17325C"/>
                          </a:solidFill>
                          <a:latin typeface="Arial"/>
                          <a:ea typeface="Arial"/>
                          <a:cs typeface="Arial"/>
                        </a:rPr>
                        <a:t>án</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đang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phục</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vụ</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quầy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Sai </a:t>
                      </a:r>
                      <a:r>
                        <a:rPr sz="1400" b="0" dirty="0" err="1">
                          <a:solidFill>
                            <a:srgbClr val="17325C"/>
                          </a:solidFill>
                          <a:latin typeface="Arial"/>
                          <a:ea typeface="Arial"/>
                          <a:cs typeface="Arial"/>
                        </a:rPr>
                        <a:t>lệch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tồn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giữa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thống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tế</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Thiếu</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chuyên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online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Sai IMEI/model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soạn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Thông tin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đầy</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đủ</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F. </a:t>
                      </a:r>
                      <a:r>
                        <a:rPr sz="1400" b="0" dirty="0" err="1">
                          <a:solidFill>
                            <a:srgbClr val="17325C"/>
                          </a:solidFill>
                          <a:latin typeface="Arial"/>
                          <a:ea typeface="Arial"/>
                          <a:cs typeface="Arial"/>
                        </a:rPr>
                        <a:t>Khác</a:t>
                      </a:r>
                      <a:r>
                        <a:rPr sz="1400" b="0" dirty="0">
                          <a:solidFill>
                            <a:srgbClr val="17325C"/>
                          </a:solidFill>
                          <a:latin typeface="Arial"/>
                          <a:ea typeface="Arial"/>
                          <a:cs typeface="Arial"/>
                        </a:rPr>
                        <a:t>: ……</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8178C7A-5AEF-90A9-8101-1983DB7370E0}"/>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E1B4820B-F73A-609E-60DA-82F09108CBF2}"/>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D9221930-BFD3-A29E-1683-B4DF1F9190E7}"/>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47480343-A346-B817-6412-B24986BC291D}"/>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6" name="Shape 11">
            <a:extLst>
              <a:ext uri="{FF2B5EF4-FFF2-40B4-BE49-F238E27FC236}">
                <a16:creationId xmlns:a16="http://schemas.microsoft.com/office/drawing/2014/main" id="{EAA7A655-3A0D-0FE8-0560-2E27DA446124}"/>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 name="Shape 12">
            <a:extLst>
              <a:ext uri="{FF2B5EF4-FFF2-40B4-BE49-F238E27FC236}">
                <a16:creationId xmlns:a16="http://schemas.microsoft.com/office/drawing/2014/main" id="{69FADB92-2E5D-7EB9-39FE-99DA8E45B92B}"/>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 name="Shape 13">
            <a:extLst>
              <a:ext uri="{FF2B5EF4-FFF2-40B4-BE49-F238E27FC236}">
                <a16:creationId xmlns:a16="http://schemas.microsoft.com/office/drawing/2014/main" id="{3BE52C3C-8FF3-2476-166B-1B3EFF162FB9}"/>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9" name="Shape 14">
            <a:extLst>
              <a:ext uri="{FF2B5EF4-FFF2-40B4-BE49-F238E27FC236}">
                <a16:creationId xmlns:a16="http://schemas.microsoft.com/office/drawing/2014/main" id="{FC97EA1A-F34C-8499-C3E3-2FD2A55DCA45}"/>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0" name="Shape 15">
            <a:extLst>
              <a:ext uri="{FF2B5EF4-FFF2-40B4-BE49-F238E27FC236}">
                <a16:creationId xmlns:a16="http://schemas.microsoft.com/office/drawing/2014/main" id="{B45EF82C-64CD-3CD6-660A-F95BB94D033D}"/>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6">
            <a:extLst>
              <a:ext uri="{FF2B5EF4-FFF2-40B4-BE49-F238E27FC236}">
                <a16:creationId xmlns:a16="http://schemas.microsoft.com/office/drawing/2014/main" id="{75316FED-0A57-AE52-D751-FAAB33B243ED}"/>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7">
            <a:extLst>
              <a:ext uri="{FF2B5EF4-FFF2-40B4-BE49-F238E27FC236}">
                <a16:creationId xmlns:a16="http://schemas.microsoft.com/office/drawing/2014/main" id="{781265D9-9BF5-BE1F-9444-8B781F10980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3" name="Shape 18">
            <a:extLst>
              <a:ext uri="{FF2B5EF4-FFF2-40B4-BE49-F238E27FC236}">
                <a16:creationId xmlns:a16="http://schemas.microsoft.com/office/drawing/2014/main" id="{BD857CB2-F892-B04A-B1B5-F72802FFD3E9}"/>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9">
            <a:extLst>
              <a:ext uri="{FF2B5EF4-FFF2-40B4-BE49-F238E27FC236}">
                <a16:creationId xmlns:a16="http://schemas.microsoft.com/office/drawing/2014/main" id="{D9116B6F-5291-00EA-941C-4031BCE3918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20">
            <a:extLst>
              <a:ext uri="{FF2B5EF4-FFF2-40B4-BE49-F238E27FC236}">
                <a16:creationId xmlns:a16="http://schemas.microsoft.com/office/drawing/2014/main" id="{5D08B0DC-692F-7808-BF72-E89C571C0A7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21">
            <a:extLst>
              <a:ext uri="{FF2B5EF4-FFF2-40B4-BE49-F238E27FC236}">
                <a16:creationId xmlns:a16="http://schemas.microsoft.com/office/drawing/2014/main" id="{06E674B6-042E-FC7A-9769-9378BE73E4F6}"/>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22">
            <a:extLst>
              <a:ext uri="{FF2B5EF4-FFF2-40B4-BE49-F238E27FC236}">
                <a16:creationId xmlns:a16="http://schemas.microsoft.com/office/drawing/2014/main" id="{3D629548-6273-A200-F3ED-4A008A7BD8C1}"/>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23">
            <a:extLst>
              <a:ext uri="{FF2B5EF4-FFF2-40B4-BE49-F238E27FC236}">
                <a16:creationId xmlns:a16="http://schemas.microsoft.com/office/drawing/2014/main" id="{0A5F7786-CCD7-BA03-1BDD-C83A2197282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24">
            <a:extLst>
              <a:ext uri="{FF2B5EF4-FFF2-40B4-BE49-F238E27FC236}">
                <a16:creationId xmlns:a16="http://schemas.microsoft.com/office/drawing/2014/main" id="{FD0843CF-3706-C020-5B9B-D47742EA675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25">
            <a:extLst>
              <a:ext uri="{FF2B5EF4-FFF2-40B4-BE49-F238E27FC236}">
                <a16:creationId xmlns:a16="http://schemas.microsoft.com/office/drawing/2014/main" id="{684FBEE0-26B2-4D71-FAB2-F600DE01FCAB}"/>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26">
            <a:extLst>
              <a:ext uri="{FF2B5EF4-FFF2-40B4-BE49-F238E27FC236}">
                <a16:creationId xmlns:a16="http://schemas.microsoft.com/office/drawing/2014/main" id="{7586AB87-4444-15D1-358C-06120BD2B1D6}"/>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7">
            <a:extLst>
              <a:ext uri="{FF2B5EF4-FFF2-40B4-BE49-F238E27FC236}">
                <a16:creationId xmlns:a16="http://schemas.microsoft.com/office/drawing/2014/main" id="{2DB9447A-BD30-4023-79EA-35E4713B0854}"/>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8">
            <a:extLst>
              <a:ext uri="{FF2B5EF4-FFF2-40B4-BE49-F238E27FC236}">
                <a16:creationId xmlns:a16="http://schemas.microsoft.com/office/drawing/2014/main" id="{0FC3DD30-7CDA-98CE-9291-91B7031AF5D4}"/>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9">
            <a:extLst>
              <a:ext uri="{FF2B5EF4-FFF2-40B4-BE49-F238E27FC236}">
                <a16:creationId xmlns:a16="http://schemas.microsoft.com/office/drawing/2014/main" id="{4B986D83-A0BA-5E35-E174-1E6217E2E1A0}"/>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30">
            <a:extLst>
              <a:ext uri="{FF2B5EF4-FFF2-40B4-BE49-F238E27FC236}">
                <a16:creationId xmlns:a16="http://schemas.microsoft.com/office/drawing/2014/main" id="{AF40BF0F-846E-5D00-ADDB-F5677DAC3214}"/>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31">
            <a:extLst>
              <a:ext uri="{FF2B5EF4-FFF2-40B4-BE49-F238E27FC236}">
                <a16:creationId xmlns:a16="http://schemas.microsoft.com/office/drawing/2014/main" id="{BF689295-DC81-A605-DADE-687B08A95E96}"/>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32">
            <a:extLst>
              <a:ext uri="{FF2B5EF4-FFF2-40B4-BE49-F238E27FC236}">
                <a16:creationId xmlns:a16="http://schemas.microsoft.com/office/drawing/2014/main" id="{22D8E98B-EC4B-B24F-A21D-497CA0FF439C}"/>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33">
            <a:extLst>
              <a:ext uri="{FF2B5EF4-FFF2-40B4-BE49-F238E27FC236}">
                <a16:creationId xmlns:a16="http://schemas.microsoft.com/office/drawing/2014/main" id="{19EEB08E-B2F7-E01A-8969-9B20970DDD0B}"/>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34">
            <a:extLst>
              <a:ext uri="{FF2B5EF4-FFF2-40B4-BE49-F238E27FC236}">
                <a16:creationId xmlns:a16="http://schemas.microsoft.com/office/drawing/2014/main" id="{5272764B-7F9D-F288-5722-A30FB9EE23F4}"/>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35">
            <a:extLst>
              <a:ext uri="{FF2B5EF4-FFF2-40B4-BE49-F238E27FC236}">
                <a16:creationId xmlns:a16="http://schemas.microsoft.com/office/drawing/2014/main" id="{C8E04538-4BD6-469B-92D7-E5ACCBD28583}"/>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1" name="Shape 36">
            <a:extLst>
              <a:ext uri="{FF2B5EF4-FFF2-40B4-BE49-F238E27FC236}">
                <a16:creationId xmlns:a16="http://schemas.microsoft.com/office/drawing/2014/main" id="{649DE051-0072-F530-D849-DB468D23CB6D}"/>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2" name="Shape 37">
            <a:extLst>
              <a:ext uri="{FF2B5EF4-FFF2-40B4-BE49-F238E27FC236}">
                <a16:creationId xmlns:a16="http://schemas.microsoft.com/office/drawing/2014/main" id="{16E352FC-E5FE-C68A-5981-DABFAB76BCB7}"/>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3" name="Shape 38">
            <a:extLst>
              <a:ext uri="{FF2B5EF4-FFF2-40B4-BE49-F238E27FC236}">
                <a16:creationId xmlns:a16="http://schemas.microsoft.com/office/drawing/2014/main" id="{44AB602A-EA01-BC38-1103-2689D51EE5CF}"/>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4" name="Shape 39">
            <a:extLst>
              <a:ext uri="{FF2B5EF4-FFF2-40B4-BE49-F238E27FC236}">
                <a16:creationId xmlns:a16="http://schemas.microsoft.com/office/drawing/2014/main" id="{663A826A-2BCF-A12C-680F-82EF4EDDE422}"/>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5" name="Shape 40">
            <a:extLst>
              <a:ext uri="{FF2B5EF4-FFF2-40B4-BE49-F238E27FC236}">
                <a16:creationId xmlns:a16="http://schemas.microsoft.com/office/drawing/2014/main" id="{9572CF21-69A4-FF1D-EE58-79505B82808B}"/>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6" name="Shape 41">
            <a:extLst>
              <a:ext uri="{FF2B5EF4-FFF2-40B4-BE49-F238E27FC236}">
                <a16:creationId xmlns:a16="http://schemas.microsoft.com/office/drawing/2014/main" id="{717B10A1-0393-7FA4-5DAC-1EC95E8B354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7" name="Shape 42">
            <a:extLst>
              <a:ext uri="{FF2B5EF4-FFF2-40B4-BE49-F238E27FC236}">
                <a16:creationId xmlns:a16="http://schemas.microsoft.com/office/drawing/2014/main" id="{21FDFFA2-31C1-5490-ADAB-BA66C57C7C4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43">
            <a:extLst>
              <a:ext uri="{FF2B5EF4-FFF2-40B4-BE49-F238E27FC236}">
                <a16:creationId xmlns:a16="http://schemas.microsoft.com/office/drawing/2014/main" id="{E84A2C08-39BC-ACDC-9A80-64FD730329A5}"/>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44">
            <a:extLst>
              <a:ext uri="{FF2B5EF4-FFF2-40B4-BE49-F238E27FC236}">
                <a16:creationId xmlns:a16="http://schemas.microsoft.com/office/drawing/2014/main" id="{9591D9EB-21AE-1352-80E7-7A79AC4EF6ED}"/>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45">
            <a:extLst>
              <a:ext uri="{FF2B5EF4-FFF2-40B4-BE49-F238E27FC236}">
                <a16:creationId xmlns:a16="http://schemas.microsoft.com/office/drawing/2014/main" id="{B9C5CA26-E0BD-7873-34E8-47585DFF8A3F}"/>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46">
            <a:extLst>
              <a:ext uri="{FF2B5EF4-FFF2-40B4-BE49-F238E27FC236}">
                <a16:creationId xmlns:a16="http://schemas.microsoft.com/office/drawing/2014/main" id="{FC962309-C82C-8047-83C3-C97F83AAC7AA}"/>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7">
            <a:extLst>
              <a:ext uri="{FF2B5EF4-FFF2-40B4-BE49-F238E27FC236}">
                <a16:creationId xmlns:a16="http://schemas.microsoft.com/office/drawing/2014/main" id="{70CA0730-A11F-17BD-EB29-0F0ED9CC8BE2}"/>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8">
            <a:extLst>
              <a:ext uri="{FF2B5EF4-FFF2-40B4-BE49-F238E27FC236}">
                <a16:creationId xmlns:a16="http://schemas.microsoft.com/office/drawing/2014/main" id="{B54AB3DD-0F80-DDD1-1AC7-9641228FA94E}"/>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9">
            <a:extLst>
              <a:ext uri="{FF2B5EF4-FFF2-40B4-BE49-F238E27FC236}">
                <a16:creationId xmlns:a16="http://schemas.microsoft.com/office/drawing/2014/main" id="{392ACB55-00CB-676A-2F35-343E0F7BBBA8}"/>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50">
            <a:extLst>
              <a:ext uri="{FF2B5EF4-FFF2-40B4-BE49-F238E27FC236}">
                <a16:creationId xmlns:a16="http://schemas.microsoft.com/office/drawing/2014/main" id="{97C3B8D1-F9CD-B399-C87F-DDE70E587192}"/>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51">
            <a:extLst>
              <a:ext uri="{FF2B5EF4-FFF2-40B4-BE49-F238E27FC236}">
                <a16:creationId xmlns:a16="http://schemas.microsoft.com/office/drawing/2014/main" id="{B8114F3C-291A-596A-8B4B-FCD582F4E3A0}"/>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52">
            <a:extLst>
              <a:ext uri="{FF2B5EF4-FFF2-40B4-BE49-F238E27FC236}">
                <a16:creationId xmlns:a16="http://schemas.microsoft.com/office/drawing/2014/main" id="{E3B2DC14-4D71-1D3A-57DD-C01BE6A5B71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53">
            <a:extLst>
              <a:ext uri="{FF2B5EF4-FFF2-40B4-BE49-F238E27FC236}">
                <a16:creationId xmlns:a16="http://schemas.microsoft.com/office/drawing/2014/main" id="{79359F3C-61CC-D0FB-F9CD-FA1C4F36EE13}"/>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49" name="Shape 54">
            <a:extLst>
              <a:ext uri="{FF2B5EF4-FFF2-40B4-BE49-F238E27FC236}">
                <a16:creationId xmlns:a16="http://schemas.microsoft.com/office/drawing/2014/main" id="{5EBDD2D3-D0A8-44B0-0549-4B951AB0DC5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0" name="Text 57">
            <a:extLst>
              <a:ext uri="{FF2B5EF4-FFF2-40B4-BE49-F238E27FC236}">
                <a16:creationId xmlns:a16="http://schemas.microsoft.com/office/drawing/2014/main" id="{794263AC-8B53-134D-0C81-3CC29479FF13}"/>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a:t>
            </a:r>
            <a:r>
              <a:rPr lang="en-US" sz="1500" b="1">
                <a:solidFill>
                  <a:srgbClr val="FFFFFF"/>
                </a:solidFill>
                <a:latin typeface="Arial"/>
                <a:ea typeface="Arial"/>
                <a:cs typeface="Arial"/>
              </a:rPr>
              <a:t>6</a:t>
            </a:r>
            <a:endParaRPr sz="1500" b="1">
              <a:solidFill>
                <a:srgbClr val="FFFFFF"/>
              </a:solidFill>
              <a:latin typeface="Arial"/>
              <a:ea typeface="Arial"/>
              <a:cs typeface="Arial"/>
            </a:endParaRPr>
          </a:p>
        </p:txBody>
      </p:sp>
      <p:sp>
        <p:nvSpPr>
          <p:cNvPr id="51" name="Rectangle 50">
            <a:extLst>
              <a:ext uri="{FF2B5EF4-FFF2-40B4-BE49-F238E27FC236}">
                <a16:creationId xmlns:a16="http://schemas.microsoft.com/office/drawing/2014/main" id="{68643FDC-4D07-A951-58FE-AFC4FCCA3EA9}"/>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BÁN HÀNG TRỰC TUYẾN</a:t>
            </a:r>
          </a:p>
        </p:txBody>
      </p:sp>
      <p:graphicFrame>
        <p:nvGraphicFramePr>
          <p:cNvPr id="52" name="Table 111">
            <a:extLst>
              <a:ext uri="{FF2B5EF4-FFF2-40B4-BE49-F238E27FC236}">
                <a16:creationId xmlns:a16="http://schemas.microsoft.com/office/drawing/2014/main" id="{4F6092E3-0D5C-E362-644F-ECD7E8B13E75}"/>
              </a:ext>
            </a:extLst>
          </p:cNvPr>
          <p:cNvGraphicFramePr/>
          <p:nvPr>
            <p:extLst>
              <p:ext uri="{D42A27DB-BD31-4B8C-83A1-F6EECF244321}">
                <p14:modId xmlns:p14="http://schemas.microsoft.com/office/powerpoint/2010/main" val="1253511153"/>
              </p:ext>
            </p:extLst>
          </p:nvPr>
        </p:nvGraphicFramePr>
        <p:xfrm>
          <a:off x="742950" y="1714500"/>
          <a:ext cx="10763250" cy="458876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6576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383666">
                <a:tc>
                  <a:txBody>
                    <a:bodyPr/>
                    <a:lstStyle/>
                    <a:p>
                      <a:pPr algn="l">
                        <a:lnSpc>
                          <a:spcPct val="104000"/>
                        </a:lnSpc>
                        <a:buNone/>
                      </a:pPr>
                      <a:r>
                        <a:rPr sz="1400" b="0" dirty="0">
                          <a:solidFill>
                            <a:srgbClr val="17325C"/>
                          </a:solidFill>
                          <a:latin typeface="Arial"/>
                          <a:ea typeface="Arial"/>
                          <a:cs typeface="Arial"/>
                        </a:rPr>
                        <a:t>3</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lúc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đặt</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 </a:t>
                      </a:r>
                      <a:r>
                        <a:rPr sz="1400" b="0" dirty="0" err="1">
                          <a:solidFill>
                            <a:srgbClr val="17325C"/>
                          </a:solidFill>
                          <a:latin typeface="Arial"/>
                          <a:ea typeface="Arial"/>
                          <a:cs typeface="Arial"/>
                        </a:rPr>
                        <a:t>giờ</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2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6 </a:t>
                      </a:r>
                      <a:r>
                        <a:rPr sz="1400" b="0" dirty="0" err="1">
                          <a:solidFill>
                            <a:srgbClr val="17325C"/>
                          </a:solidFill>
                          <a:latin typeface="Arial"/>
                          <a:ea typeface="Arial"/>
                          <a:cs typeface="Arial"/>
                        </a:rPr>
                        <a:t>giờ</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6 </a:t>
                      </a:r>
                      <a:r>
                        <a:rPr sz="1400" b="0" dirty="0" err="1">
                          <a:solidFill>
                            <a:srgbClr val="17325C"/>
                          </a:solidFill>
                          <a:latin typeface="Arial"/>
                          <a:ea typeface="Arial"/>
                          <a:cs typeface="Arial"/>
                        </a:rPr>
                        <a:t>giờ</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Telesales</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786961371"/>
                  </a:ext>
                </a:extLst>
              </a:tr>
              <a:tr h="1383666">
                <a:tc>
                  <a:txBody>
                    <a:bodyPr/>
                    <a:lstStyle/>
                    <a:p>
                      <a:pPr algn="l">
                        <a:lnSpc>
                          <a:spcPct val="104000"/>
                        </a:lnSpc>
                        <a:buNone/>
                      </a:pPr>
                      <a:r>
                        <a:rPr sz="1400" b="0">
                          <a:solidFill>
                            <a:srgbClr val="17325C"/>
                          </a:solidFill>
                          <a:latin typeface="Arial"/>
                          <a:ea typeface="Arial"/>
                          <a:cs typeface="Arial"/>
                        </a:rPr>
                        <a:t>4</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 </a:t>
                      </a:r>
                      <a:r>
                        <a:rPr sz="1400" b="0" dirty="0" err="1">
                          <a:solidFill>
                            <a:srgbClr val="17325C"/>
                          </a:solidFill>
                          <a:latin typeface="Arial"/>
                          <a:ea typeface="Arial"/>
                          <a:cs typeface="Arial"/>
                        </a:rPr>
                        <a:t>rằng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tầng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tắc</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theo</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rủi</a:t>
                      </a:r>
                      <a:r>
                        <a:rPr sz="1400" b="0" dirty="0">
                          <a:solidFill>
                            <a:srgbClr val="17325C"/>
                          </a:solidFill>
                          <a:latin typeface="Arial"/>
                          <a:ea typeface="Arial"/>
                          <a:cs typeface="Arial"/>
                        </a:rPr>
                        <a:t> </a:t>
                      </a:r>
                      <a:r>
                        <a:rPr sz="1400" b="0" dirty="0" err="1">
                          <a:solidFill>
                            <a:srgbClr val="17325C"/>
                          </a:solidFill>
                          <a:latin typeface="Arial"/>
                          <a:ea typeface="Arial"/>
                          <a:cs typeface="Arial"/>
                        </a:rPr>
                        <a:t>ro</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bỏ</a:t>
                      </a:r>
                      <a:r>
                        <a:rPr sz="1400" b="0" dirty="0">
                          <a:solidFill>
                            <a:srgbClr val="17325C"/>
                          </a:solidFill>
                          <a:latin typeface="Arial"/>
                          <a:ea typeface="Arial"/>
                          <a:cs typeface="Arial"/>
                        </a:rPr>
                        <a:t> qua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nhỏ</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Hoàn </a:t>
                      </a:r>
                      <a:r>
                        <a:rPr sz="1400" b="0" dirty="0" err="1">
                          <a:solidFill>
                            <a:srgbClr val="17325C"/>
                          </a:solidFill>
                          <a:latin typeface="Arial"/>
                          <a:ea typeface="Arial"/>
                          <a:cs typeface="Arial"/>
                        </a:rPr>
                        <a:t>toàn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Phân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vân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Ban </a:t>
                      </a:r>
                      <a:r>
                        <a:rPr sz="1400" b="0" dirty="0" err="1">
                          <a:solidFill>
                            <a:srgbClr val="17325C"/>
                          </a:solidFill>
                          <a:latin typeface="Arial"/>
                          <a:ea typeface="Arial"/>
                          <a:cs typeface="Arial"/>
                        </a:rPr>
                        <a:t>lãnh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đạo</a:t>
                      </a:r>
                      <a:r>
                        <a:rPr sz="1400" b="0" dirty="0">
                          <a:solidFill>
                            <a:srgbClr val="17325C"/>
                          </a:solidFill>
                          <a:latin typeface="Arial"/>
                          <a:ea typeface="Arial"/>
                          <a:cs typeface="Arial"/>
                        </a:rPr>
                        <a:t> FPT Retail /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CNTT</a:t>
                      </a:r>
                    </a:p>
                  </a:txBody>
                  <a:tcPr anchor="ctr">
                    <a:solidFill>
                      <a:srgbClr val="F1F6FC"/>
                    </a:solidFill>
                  </a:tcPr>
                </a:tc>
                <a:extLst>
                  <a:ext uri="{0D108BD9-81ED-4DB2-BD59-A6C34878D82A}">
                    <a16:rowId xmlns:a16="http://schemas.microsoft.com/office/drawing/2014/main" val="3790088803"/>
                  </a:ext>
                </a:extLst>
              </a:tr>
              <a:tr h="1383666">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Quý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trải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nghiệm</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đặt</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theo</a:t>
                      </a:r>
                      <a:r>
                        <a:rPr sz="1400" b="0" dirty="0">
                          <a:solidFill>
                            <a:srgbClr val="17325C"/>
                          </a:solidFill>
                          <a:latin typeface="Arial"/>
                          <a:ea typeface="Arial"/>
                          <a:cs typeface="Arial"/>
                        </a:rPr>
                        <a:t> </a:t>
                      </a:r>
                      <a:r>
                        <a:rPr sz="1400" b="0" dirty="0" err="1">
                          <a:solidFill>
                            <a:srgbClr val="17325C"/>
                          </a:solidFill>
                          <a:latin typeface="Arial"/>
                          <a:ea typeface="Arial"/>
                          <a:cs typeface="Arial"/>
                        </a:rPr>
                        <a:t>dõi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website/</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FPT Shop ở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Rất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Tốt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Kém</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165060367"/>
                  </a:ext>
                </a:extLst>
              </a:tr>
            </a:tbl>
          </a:graphicData>
        </a:graphic>
      </p:graphicFrame>
    </p:spTree>
    <p:extLst>
      <p:ext uri="{BB962C8B-B14F-4D97-AF65-F5344CB8AC3E}">
        <p14:creationId xmlns:p14="http://schemas.microsoft.com/office/powerpoint/2010/main" val="3037865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27</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KHÔNG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2984567961"/>
              </p:ext>
            </p:extLst>
          </p:nvPr>
        </p:nvGraphicFramePr>
        <p:xfrm>
          <a:off x="742950" y="1714500"/>
          <a:ext cx="10763250" cy="4382969"/>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715155">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Ông</a:t>
                      </a:r>
                      <a:r>
                        <a:rPr sz="1400" b="0" dirty="0">
                          <a:solidFill>
                            <a:srgbClr val="17325C"/>
                          </a:solidFill>
                          <a:latin typeface="Arial"/>
                          <a:ea typeface="Arial"/>
                          <a:cs typeface="Arial"/>
                        </a:rPr>
                        <a:t>/</a:t>
                      </a:r>
                      <a:r>
                        <a:rPr sz="1400" b="0" dirty="0" err="1">
                          <a:solidFill>
                            <a:srgbClr val="17325C"/>
                          </a:solidFill>
                          <a:latin typeface="Arial"/>
                          <a:ea typeface="Arial"/>
                          <a:cs typeface="Arial"/>
                        </a:rPr>
                        <a:t>Bà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nghĩ</a:t>
                      </a:r>
                      <a:r>
                        <a:rPr sz="1400" b="0" dirty="0">
                          <a:solidFill>
                            <a:srgbClr val="17325C"/>
                          </a:solidFill>
                          <a:latin typeface="Arial"/>
                          <a:ea typeface="Arial"/>
                          <a:cs typeface="Arial"/>
                        </a:rPr>
                        <a:t> </a:t>
                      </a:r>
                      <a:r>
                        <a:rPr sz="1400" b="0" dirty="0" err="1">
                          <a:solidFill>
                            <a:srgbClr val="17325C"/>
                          </a:solidFill>
                          <a:latin typeface="Arial"/>
                          <a:ea typeface="Arial"/>
                          <a:cs typeface="Arial"/>
                        </a:rPr>
                        <a:t>gì</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năng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rộng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sản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lượng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đôi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đợt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mãi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lớn</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Ban </a:t>
                      </a:r>
                      <a:r>
                        <a:rPr sz="1400" b="0" dirty="0" err="1">
                          <a:solidFill>
                            <a:srgbClr val="17325C"/>
                          </a:solidFill>
                          <a:latin typeface="Arial"/>
                          <a:ea typeface="Arial"/>
                          <a:cs typeface="Arial"/>
                        </a:rPr>
                        <a:t>lãnh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đạo</a:t>
                      </a:r>
                      <a:r>
                        <a:rPr sz="1400" b="0" dirty="0">
                          <a:solidFill>
                            <a:srgbClr val="17325C"/>
                          </a:solidFill>
                          <a:latin typeface="Arial"/>
                          <a:ea typeface="Arial"/>
                          <a:cs typeface="Arial"/>
                        </a:rPr>
                        <a:t> FPT Retail</a:t>
                      </a:r>
                    </a:p>
                  </a:txBody>
                  <a:tcPr anchor="ctr">
                    <a:solidFill>
                      <a:srgbClr val="FFFFFF"/>
                    </a:solidFill>
                  </a:tcPr>
                </a:tc>
                <a:extLst>
                  <a:ext uri="{0D108BD9-81ED-4DB2-BD59-A6C34878D82A}">
                    <a16:rowId xmlns:a16="http://schemas.microsoft.com/office/drawing/2014/main" val="10001"/>
                  </a:ext>
                </a:extLst>
              </a:tr>
              <a:tr h="90844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Anh/Chị có thể chia sẻ một trường hợp đơn hàng gặp vấn đề nghiêm trọng nhất mà Anh/Chị từng xử lý (ví dụ giao sai, không liên lạc được khách) và cách giải quyết khi đó?</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Telesales / Bộ phận Giao vận</a:t>
                      </a:r>
                    </a:p>
                  </a:txBody>
                  <a:tcPr anchor="ctr">
                    <a:solidFill>
                      <a:srgbClr val="F1F6FC"/>
                    </a:solidFill>
                  </a:tcPr>
                </a:tc>
                <a:extLst>
                  <a:ext uri="{0D108BD9-81ED-4DB2-BD59-A6C34878D82A}">
                    <a16:rowId xmlns:a16="http://schemas.microsoft.com/office/drawing/2014/main" val="10002"/>
                  </a:ext>
                </a:extLst>
              </a:tr>
              <a:tr h="715155">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Theo Anh/Chị, khâu nào trong quy trình xử lý đơn hàng online tại cửa hàng cần cải tiến nhất và vì sao?</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cửa hàng</a:t>
                      </a:r>
                    </a:p>
                  </a:txBody>
                  <a:tcPr anchor="ctr">
                    <a:solidFill>
                      <a:srgbClr val="FFFFFF"/>
                    </a:solidFill>
                  </a:tcPr>
                </a:tc>
                <a:extLst>
                  <a:ext uri="{0D108BD9-81ED-4DB2-BD59-A6C34878D82A}">
                    <a16:rowId xmlns:a16="http://schemas.microsoft.com/office/drawing/2014/main" val="10003"/>
                  </a:ext>
                </a:extLst>
              </a:tr>
              <a:tr h="715155">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Khách hàng thường phản hồi những gì về trải nghiệm chờ xác nhận đơn hàng và nhận hàng qua kênh trực tuyến?</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Chăm sóc khách hàng / Telesales</a:t>
                      </a:r>
                    </a:p>
                  </a:txBody>
                  <a:tcPr anchor="ctr">
                    <a:solidFill>
                      <a:srgbClr val="F1F6FC"/>
                    </a:solidFill>
                  </a:tcPr>
                </a:tc>
                <a:extLst>
                  <a:ext uri="{0D108BD9-81ED-4DB2-BD59-A6C34878D82A}">
                    <a16:rowId xmlns:a16="http://schemas.microsoft.com/office/drawing/2014/main" val="10004"/>
                  </a:ext>
                </a:extLst>
              </a:tr>
              <a:tr h="90844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mong muốn sự phối hợp giữa hệ thống OMS của FPT Shop và các đối tác bên ngoài (đơn vị vận chuyển, công ty tài chính) được cải thiện như thế nào?</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CNTT /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Giao </a:t>
                      </a:r>
                      <a:r>
                        <a:rPr sz="1400" b="0" dirty="0" err="1">
                          <a:solidFill>
                            <a:srgbClr val="17325C"/>
                          </a:solidFill>
                          <a:latin typeface="Arial"/>
                          <a:ea typeface="Arial"/>
                          <a:cs typeface="Arial"/>
                        </a:rPr>
                        <a:t>vận</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28</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1633552665"/>
              </p:ext>
            </p:extLst>
          </p:nvPr>
        </p:nvGraphicFramePr>
        <p:xfrm>
          <a:off x="742950" y="1714501"/>
          <a:ext cx="10763250" cy="455828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32283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355428">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Trong 1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tổng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kênh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1.000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2.000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2.000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khu vực / Ban lãnh đạo</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đơn hàng</a:t>
                      </a:r>
                    </a:p>
                  </a:txBody>
                  <a:tcPr anchor="ctr">
                    <a:solidFill>
                      <a:srgbClr val="FFFFFF"/>
                    </a:solidFill>
                  </a:tcPr>
                </a:tc>
                <a:extLst>
                  <a:ext uri="{0D108BD9-81ED-4DB2-BD59-A6C34878D82A}">
                    <a16:rowId xmlns:a16="http://schemas.microsoft.com/office/drawing/2014/main" val="10001"/>
                  </a:ext>
                </a:extLst>
              </a:tr>
              <a:tr h="1355428">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Tỷ</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thanh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toán</a:t>
                      </a:r>
                      <a:r>
                        <a:rPr sz="1400" b="0" dirty="0">
                          <a:solidFill>
                            <a:srgbClr val="17325C"/>
                          </a:solidFill>
                          <a:latin typeface="Arial"/>
                          <a:ea typeface="Arial"/>
                          <a:cs typeface="Arial"/>
                        </a:rPr>
                        <a:t> COD so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tổng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65%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65%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80%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80%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toán</a:t>
                      </a:r>
                      <a:r>
                        <a:rPr sz="1400" b="0" dirty="0">
                          <a:solidFill>
                            <a:srgbClr val="17325C"/>
                          </a:solidFill>
                          <a:latin typeface="Arial"/>
                          <a:ea typeface="Arial"/>
                          <a:cs typeface="Arial"/>
                        </a:rPr>
                        <a:t> / </a:t>
                      </a:r>
                      <a:r>
                        <a:rPr sz="1400" b="0" dirty="0" err="1">
                          <a:solidFill>
                            <a:srgbClr val="17325C"/>
                          </a:solidFill>
                          <a:latin typeface="Arial"/>
                          <a:ea typeface="Arial"/>
                          <a:cs typeface="Arial"/>
                        </a:rPr>
                        <a:t>Telesales</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 đơn hàng</a:t>
                      </a:r>
                    </a:p>
                  </a:txBody>
                  <a:tcPr anchor="ctr">
                    <a:solidFill>
                      <a:srgbClr val="F1F6FC"/>
                    </a:solidFill>
                  </a:tcPr>
                </a:tc>
                <a:extLst>
                  <a:ext uri="{0D108BD9-81ED-4DB2-BD59-A6C34878D82A}">
                    <a16:rowId xmlns:a16="http://schemas.microsoft.com/office/drawing/2014/main" val="10002"/>
                  </a:ext>
                </a:extLst>
              </a:tr>
              <a:tr h="1355428">
                <a:tc>
                  <a:txBody>
                    <a:bodyPr/>
                    <a:lstStyle/>
                    <a:p>
                      <a:pPr algn="l">
                        <a:lnSpc>
                          <a:spcPct val="104000"/>
                        </a:lnSpc>
                        <a:buNone/>
                      </a:pPr>
                      <a:r>
                        <a:rPr sz="140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hoàn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soạn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đóng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gói</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lâu</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20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cửa hàng</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Phút</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29</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3129064161"/>
              </p:ext>
            </p:extLst>
          </p:nvPr>
        </p:nvGraphicFramePr>
        <p:xfrm>
          <a:off x="742950" y="1714500"/>
          <a:ext cx="10763250" cy="424815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914525">
                <a:tc>
                  <a:txBody>
                    <a:bodyPr/>
                    <a:lstStyle/>
                    <a:p>
                      <a:pPr algn="l">
                        <a:lnSpc>
                          <a:spcPct val="104000"/>
                        </a:lnSpc>
                        <a:buNone/>
                      </a:pPr>
                      <a:r>
                        <a:rPr sz="1400" b="0" dirty="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Trong 1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hủy</a:t>
                      </a:r>
                      <a:r>
                        <a:rPr sz="1400" b="0" dirty="0">
                          <a:solidFill>
                            <a:srgbClr val="17325C"/>
                          </a:solidFill>
                          <a:latin typeface="Arial"/>
                          <a:ea typeface="Arial"/>
                          <a:cs typeface="Arial"/>
                        </a:rPr>
                        <a:t> do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100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200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đơn hàng</a:t>
                      </a:r>
                    </a:p>
                  </a:txBody>
                  <a:tcPr anchor="ctr">
                    <a:solidFill>
                      <a:srgbClr val="FFFFFF"/>
                    </a:solidFill>
                  </a:tcPr>
                </a:tc>
                <a:extLst>
                  <a:ext uri="{0D108BD9-81ED-4DB2-BD59-A6C34878D82A}">
                    <a16:rowId xmlns:a16="http://schemas.microsoft.com/office/drawing/2014/main" val="10001"/>
                  </a:ext>
                </a:extLst>
              </a:tr>
              <a:tr h="1914525">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Trong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làm</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mỗi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Telesales</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60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60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100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Telesales</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30</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KHÔNG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2151330343"/>
              </p:ext>
            </p:extLst>
          </p:nvPr>
        </p:nvGraphicFramePr>
        <p:xfrm>
          <a:off x="742950" y="1714500"/>
          <a:ext cx="10763250" cy="426720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685800">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có thể cho biết thời gian chờ trung bình để nhận được cuộc gọi xác nhận sau khi đặt hàng là bao lâu?</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Khách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Phút / Giờ</a:t>
                      </a:r>
                    </a:p>
                  </a:txBody>
                  <a:tcPr anchor="ctr">
                    <a:solidFill>
                      <a:srgbClr val="FFFFFF"/>
                    </a:solidFill>
                  </a:tcPr>
                </a:tc>
                <a:extLst>
                  <a:ext uri="{0D108BD9-81ED-4DB2-BD59-A6C34878D82A}">
                    <a16:rowId xmlns:a16="http://schemas.microsoft.com/office/drawing/2014/main" val="10001"/>
                  </a:ext>
                </a:extLst>
              </a:tr>
              <a:tr h="68580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suất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xảy</a:t>
                      </a:r>
                      <a:r>
                        <a:rPr sz="1400" b="0" dirty="0">
                          <a:solidFill>
                            <a:srgbClr val="17325C"/>
                          </a:solidFill>
                          <a:latin typeface="Arial"/>
                          <a:ea typeface="Arial"/>
                          <a:cs typeface="Arial"/>
                        </a:rPr>
                        <a:t> </a:t>
                      </a:r>
                      <a:r>
                        <a:rPr sz="1400" b="0" dirty="0" err="1">
                          <a:solidFill>
                            <a:srgbClr val="17325C"/>
                          </a:solidFill>
                          <a:latin typeface="Arial"/>
                          <a:ea typeface="Arial"/>
                          <a:cs typeface="Arial"/>
                        </a:rPr>
                        <a:t>ra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sai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giữa</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tồn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thống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tồn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lần</a:t>
                      </a:r>
                      <a:r>
                        <a:rPr sz="1400" b="0" dirty="0">
                          <a:solidFill>
                            <a:srgbClr val="17325C"/>
                          </a:solidFill>
                          <a:latin typeface="Arial"/>
                          <a:ea typeface="Arial"/>
                          <a:cs typeface="Arial"/>
                        </a:rPr>
                        <a: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cửa hàng / Bộ phận CNTT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Số lần</a:t>
                      </a:r>
                    </a:p>
                  </a:txBody>
                  <a:tcPr anchor="ctr">
                    <a:solidFill>
                      <a:srgbClr val="F1F6FC"/>
                    </a:solidFill>
                  </a:tcPr>
                </a:tc>
                <a:extLst>
                  <a:ext uri="{0D108BD9-81ED-4DB2-BD59-A6C34878D82A}">
                    <a16:rowId xmlns:a16="http://schemas.microsoft.com/office/drawing/2014/main" val="10002"/>
                  </a:ext>
                </a:extLst>
              </a:tr>
              <a:tr h="685800">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Trong tháng qua, đơn vị giao vận đã phải hẹn giao lại bao nhiêu lần trên tổng số đơn được giao?</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Bộ phận Giao vận</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lần / % đơn</a:t>
                      </a:r>
                    </a:p>
                  </a:txBody>
                  <a:tcPr anchor="ctr">
                    <a:solidFill>
                      <a:srgbClr val="FFFFFF"/>
                    </a:solidFill>
                  </a:tcPr>
                </a:tc>
                <a:extLst>
                  <a:ext uri="{0D108BD9-81ED-4DB2-BD59-A6C34878D82A}">
                    <a16:rowId xmlns:a16="http://schemas.microsoft.com/office/drawing/2014/main" val="10003"/>
                  </a:ext>
                </a:extLst>
              </a:tr>
              <a:tr h="895350">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Thời gian trung bình để công ty tài chính thẩm định và phản hồi kết quả duyệt hồ sơ trả góp là bao lâu?</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Telesales / Công ty tài chính trả góp</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Giờ</a:t>
                      </a:r>
                    </a:p>
                  </a:txBody>
                  <a:tcPr anchor="ctr">
                    <a:solidFill>
                      <a:srgbClr val="F1F6FC"/>
                    </a:solidFill>
                  </a:tcPr>
                </a:tc>
                <a:extLst>
                  <a:ext uri="{0D108BD9-81ED-4DB2-BD59-A6C34878D82A}">
                    <a16:rowId xmlns:a16="http://schemas.microsoft.com/office/drawing/2014/main" val="10004"/>
                  </a:ext>
                </a:extLst>
              </a:tr>
              <a:tr h="89535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Tỷ lệ đơn hàng hoàn tất thành công (từ khởi tạo đến giao hàng) trong tháng trước là bao nhiêu phần trăm?</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Ban lãnh đạo FPT Retail / Bộ phận Vận hành</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 TUYỂN DỤNG NHÂN SỰ</a:t>
            </a:r>
          </a:p>
        </p:txBody>
      </p:sp>
      <p:graphicFrame>
        <p:nvGraphicFramePr>
          <p:cNvPr id="112" name="Table 111"/>
          <p:cNvGraphicFramePr/>
          <p:nvPr>
            <p:extLst>
              <p:ext uri="{D42A27DB-BD31-4B8C-83A1-F6EECF244321}">
                <p14:modId xmlns:p14="http://schemas.microsoft.com/office/powerpoint/2010/main" val="569799455"/>
              </p:ext>
            </p:extLst>
          </p:nvPr>
        </p:nvGraphicFramePr>
        <p:xfrm>
          <a:off x="742950" y="1714500"/>
          <a:ext cx="10763250" cy="40005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Ứng viên; Quản lý đơn vị/cửa hàng; Phòng Nhân sự; Ban Giám đốc.</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Đơn vị/cửa hàng có nhu cầu nhân sự; ứng viên tham gia tuyển dụng.</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Đề xuất, duyệt nhu cầu → tìm và sàng lọc ứng viên → phỏng vấn → phê duyệt, gửi đề nghị → tiếp nhận, thử việc → đánh giá và ký hợp đồng.</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dirty="0" err="1">
                          <a:solidFill>
                            <a:srgbClr val="17325C"/>
                          </a:solidFill>
                          <a:latin typeface="Arial"/>
                          <a:ea typeface="Arial"/>
                          <a:cs typeface="Arial"/>
                        </a:rPr>
                        <a:t>Bổ</a:t>
                      </a:r>
                      <a:r>
                        <a:rPr sz="1650" b="0" dirty="0">
                          <a:solidFill>
                            <a:srgbClr val="17325C"/>
                          </a:solidFill>
                          <a:latin typeface="Arial"/>
                          <a:ea typeface="Arial"/>
                          <a:cs typeface="Arial"/>
                        </a:rPr>
                        <a:t> sung </a:t>
                      </a:r>
                      <a:r>
                        <a:rPr sz="1650" b="0" dirty="0" err="1">
                          <a:solidFill>
                            <a:srgbClr val="17325C"/>
                          </a:solidFill>
                          <a:latin typeface="Arial"/>
                          <a:ea typeface="Arial"/>
                          <a:cs typeface="Arial"/>
                        </a:rPr>
                        <a:t>nhân</a:t>
                      </a:r>
                      <a:r>
                        <a:rPr sz="1650" b="0" dirty="0">
                          <a:solidFill>
                            <a:srgbClr val="17325C"/>
                          </a:solidFill>
                          <a:latin typeface="Arial"/>
                          <a:ea typeface="Arial"/>
                          <a:cs typeface="Arial"/>
                        </a:rPr>
                        <a:t> </a:t>
                      </a:r>
                      <a:r>
                        <a:rPr sz="1650" b="0" dirty="0" err="1">
                          <a:solidFill>
                            <a:srgbClr val="17325C"/>
                          </a:solidFill>
                          <a:latin typeface="Arial"/>
                          <a:ea typeface="Arial"/>
                          <a:cs typeface="Arial"/>
                        </a:rPr>
                        <a:t>sự</a:t>
                      </a:r>
                      <a:r>
                        <a:rPr sz="1650" b="0" dirty="0">
                          <a:solidFill>
                            <a:srgbClr val="17325C"/>
                          </a:solidFill>
                          <a:latin typeface="Arial"/>
                          <a:ea typeface="Arial"/>
                          <a:cs typeface="Arial"/>
                        </a:rPr>
                        <a:t> </a:t>
                      </a:r>
                      <a:r>
                        <a:rPr sz="1650" b="0" dirty="0" err="1">
                          <a:solidFill>
                            <a:srgbClr val="17325C"/>
                          </a:solidFill>
                          <a:latin typeface="Arial"/>
                          <a:ea typeface="Arial"/>
                          <a:cs typeface="Arial"/>
                        </a:rPr>
                        <a:t>phù</a:t>
                      </a:r>
                      <a:r>
                        <a:rPr sz="1650" b="0" dirty="0">
                          <a:solidFill>
                            <a:srgbClr val="17325C"/>
                          </a:solidFill>
                          <a:latin typeface="Arial"/>
                          <a:ea typeface="Arial"/>
                          <a:cs typeface="Arial"/>
                        </a:rPr>
                        <a:t> </a:t>
                      </a:r>
                      <a:r>
                        <a:rPr sz="1650" b="0" dirty="0" err="1">
                          <a:solidFill>
                            <a:srgbClr val="17325C"/>
                          </a:solidFill>
                          <a:latin typeface="Arial"/>
                          <a:ea typeface="Arial"/>
                          <a:cs typeface="Arial"/>
                        </a:rPr>
                        <a:t>hợp</a:t>
                      </a:r>
                      <a:r>
                        <a:rPr sz="1650" b="0" dirty="0">
                          <a:solidFill>
                            <a:srgbClr val="17325C"/>
                          </a:solidFill>
                          <a:latin typeface="Arial"/>
                          <a:ea typeface="Arial"/>
                          <a:cs typeface="Arial"/>
                        </a:rPr>
                        <a:t> </a:t>
                      </a:r>
                      <a:r>
                        <a:rPr sz="1650" b="0" dirty="0" err="1">
                          <a:solidFill>
                            <a:srgbClr val="17325C"/>
                          </a:solidFill>
                          <a:latin typeface="Arial"/>
                          <a:ea typeface="Arial"/>
                          <a:cs typeface="Arial"/>
                        </a:rPr>
                        <a:t>với</a:t>
                      </a:r>
                      <a:r>
                        <a:rPr sz="1650" b="0" dirty="0">
                          <a:solidFill>
                            <a:srgbClr val="17325C"/>
                          </a:solidFill>
                          <a:latin typeface="Arial"/>
                          <a:ea typeface="Arial"/>
                          <a:cs typeface="Arial"/>
                        </a:rPr>
                        <a:t> </a:t>
                      </a:r>
                      <a:r>
                        <a:rPr sz="1650" b="0" dirty="0" err="1">
                          <a:solidFill>
                            <a:srgbClr val="17325C"/>
                          </a:solidFill>
                          <a:latin typeface="Arial"/>
                          <a:ea typeface="Arial"/>
                          <a:cs typeface="Arial"/>
                        </a:rPr>
                        <a:t>nhu</a:t>
                      </a:r>
                      <a:r>
                        <a:rPr sz="1650" b="0" dirty="0">
                          <a:solidFill>
                            <a:srgbClr val="17325C"/>
                          </a:solidFill>
                          <a:latin typeface="Arial"/>
                          <a:ea typeface="Arial"/>
                          <a:cs typeface="Arial"/>
                        </a:rPr>
                        <a:t> </a:t>
                      </a:r>
                      <a:r>
                        <a:rPr sz="1650" b="0" dirty="0" err="1">
                          <a:solidFill>
                            <a:srgbClr val="17325C"/>
                          </a:solidFill>
                          <a:latin typeface="Arial"/>
                          <a:ea typeface="Arial"/>
                          <a:cs typeface="Arial"/>
                        </a:rPr>
                        <a:t>cầu</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đã</a:t>
                      </a:r>
                      <a:r>
                        <a:rPr sz="1650" b="0" dirty="0">
                          <a:solidFill>
                            <a:srgbClr val="17325C"/>
                          </a:solidFill>
                          <a:latin typeface="Arial"/>
                          <a:ea typeface="Arial"/>
                          <a:cs typeface="Arial"/>
                        </a:rPr>
                        <a:t> </a:t>
                      </a:r>
                      <a:r>
                        <a:rPr sz="1650" b="0" dirty="0" err="1">
                          <a:solidFill>
                            <a:srgbClr val="17325C"/>
                          </a:solidFill>
                          <a:latin typeface="Arial"/>
                          <a:ea typeface="Arial"/>
                          <a:cs typeface="Arial"/>
                        </a:rPr>
                        <a:t>được</a:t>
                      </a:r>
                      <a:r>
                        <a:rPr sz="1650" b="0" dirty="0">
                          <a:solidFill>
                            <a:srgbClr val="17325C"/>
                          </a:solidFill>
                          <a:latin typeface="Arial"/>
                          <a:ea typeface="Arial"/>
                          <a:cs typeface="Arial"/>
                        </a:rPr>
                        <a:t> </a:t>
                      </a:r>
                      <a:r>
                        <a:rPr sz="1650" b="0" dirty="0" err="1">
                          <a:solidFill>
                            <a:srgbClr val="17325C"/>
                          </a:solidFill>
                          <a:latin typeface="Arial"/>
                          <a:ea typeface="Arial"/>
                          <a:cs typeface="Arial"/>
                        </a:rPr>
                        <a:t>phê</a:t>
                      </a:r>
                      <a:r>
                        <a:rPr sz="1650" b="0" dirty="0">
                          <a:solidFill>
                            <a:srgbClr val="17325C"/>
                          </a:solidFill>
                          <a:latin typeface="Arial"/>
                          <a:ea typeface="Arial"/>
                          <a:cs typeface="Arial"/>
                        </a:rPr>
                        <a:t> </a:t>
                      </a:r>
                      <a:r>
                        <a:rPr sz="1650" b="0" dirty="0" err="1">
                          <a:solidFill>
                            <a:srgbClr val="17325C"/>
                          </a:solidFill>
                          <a:latin typeface="Arial"/>
                          <a:ea typeface="Arial"/>
                          <a:cs typeface="Arial"/>
                        </a:rPr>
                        <a:t>duyệt</a:t>
                      </a:r>
                      <a:r>
                        <a:rPr sz="1650" b="0" dirty="0">
                          <a:solidFill>
                            <a:srgbClr val="17325C"/>
                          </a:solidFill>
                          <a:latin typeface="Arial"/>
                          <a:ea typeface="Arial"/>
                          <a:cs typeface="Arial"/>
                        </a:rPr>
                        <a:t>.</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lang="en-US" sz="1650" b="0" dirty="0" err="1">
                          <a:solidFill>
                            <a:srgbClr val="17325C"/>
                          </a:solidFill>
                          <a:latin typeface="Arial"/>
                          <a:ea typeface="Arial"/>
                          <a:cs typeface="Arial"/>
                        </a:rPr>
                        <a:t>Đề</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xuất</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tuyển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dụng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phù</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hợp</a:t>
                      </a:r>
                      <a:r>
                        <a:rPr lang="en-US" sz="1650" b="0" dirty="0">
                          <a:solidFill>
                            <a:srgbClr val="17325C"/>
                          </a:solidFill>
                          <a:latin typeface="Arial"/>
                          <a:ea typeface="Arial"/>
                          <a:cs typeface="Arial"/>
                        </a:rPr>
                        <a:t> /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phê</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duyệt</a:t>
                      </a:r>
                      <a:r>
                        <a:rPr lang="en-US" sz="1650" b="0" dirty="0">
                          <a:solidFill>
                            <a:srgbClr val="17325C"/>
                          </a:solidFill>
                          <a:latin typeface="Arial"/>
                          <a:ea typeface="Arial"/>
                          <a:cs typeface="Arial"/>
                        </a:rPr>
                        <a:t>; CV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phù</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hợp</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phỏng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vấn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đạt</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thử</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việc</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không</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đat</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tiếp</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nhận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nhân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viên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chính</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thức</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hoàn</a:t>
                      </a:r>
                      <a:r>
                        <a:rPr lang="en-US" sz="1650" b="0" dirty="0">
                          <a:solidFill>
                            <a:srgbClr val="17325C"/>
                          </a:solidFill>
                          <a:latin typeface="Arial"/>
                          <a:ea typeface="Arial"/>
                          <a:cs typeface="Arial"/>
                        </a:rPr>
                        <a:t> </a:t>
                      </a:r>
                      <a:r>
                        <a:rPr lang="en-US" sz="1650" b="0" dirty="0" err="1">
                          <a:solidFill>
                            <a:srgbClr val="17325C"/>
                          </a:solidFill>
                          <a:latin typeface="Arial"/>
                          <a:ea typeface="Arial"/>
                          <a:cs typeface="Arial"/>
                        </a:rPr>
                        <a:t>thành</a:t>
                      </a:r>
                      <a:r>
                        <a:rPr lang="en-US" sz="1650" b="0" dirty="0">
                          <a:solidFill>
                            <a:srgbClr val="17325C"/>
                          </a:solidFill>
                          <a:latin typeface="Arial"/>
                          <a:ea typeface="Arial"/>
                          <a:cs typeface="Arial"/>
                        </a:rPr>
                        <a:t>)</a:t>
                      </a:r>
                      <a:endParaRPr sz="165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TUYỂN DỤNG NHÂN SỰ</a:t>
            </a:r>
          </a:p>
        </p:txBody>
      </p:sp>
      <p:pic>
        <p:nvPicPr>
          <p:cNvPr id="9" name="Graphic 8">
            <a:extLst>
              <a:ext uri="{FF2B5EF4-FFF2-40B4-BE49-F238E27FC236}">
                <a16:creationId xmlns:a16="http://schemas.microsoft.com/office/drawing/2014/main" id="{87EC9DEA-E218-F536-B570-EB0421DC4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225" y="1476375"/>
            <a:ext cx="11531600" cy="4253099"/>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28597"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SÀNG LỌC CV VÀ KẾT QUẢ THỬ VIỆC</a:t>
            </a:r>
          </a:p>
        </p:txBody>
      </p:sp>
      <p:sp>
        <p:nvSpPr>
          <p:cNvPr id="6" name="Crop panel Sàng lọc CV">
            <a:extLst>
              <a:ext uri="{FF2B5EF4-FFF2-40B4-BE49-F238E27FC236}">
                <a16:creationId xmlns:a16="http://schemas.microsoft.com/office/drawing/2014/main" id="{98E95DB7-E19C-959A-BB93-D754D1EBF2D0}"/>
              </a:ext>
            </a:extLst>
          </p:cNvPr>
          <p:cNvSpPr>
            <a:spLocks noGrp="1"/>
          </p:cNvSpPr>
          <p:nvPr/>
        </p:nvSpPr>
        <p:spPr>
          <a:xfrm>
            <a:off x="666750" y="1657350"/>
            <a:ext cx="5286375" cy="4343400"/>
          </a:xfrm>
          <a:prstGeom prst="roundRect">
            <a:avLst>
              <a:gd name="adj" fmla="val 1754"/>
            </a:avLst>
          </a:prstGeom>
          <a:solidFill>
            <a:srgbClr val="F7FAFE"/>
          </a:solidFill>
          <a:ln w="11430">
            <a:solidFill>
              <a:srgbClr val="C8D8EB"/>
            </a:solidFill>
          </a:ln>
        </p:spPr>
        <p:txBody>
          <a:bodyPr/>
          <a:lstStyle/>
          <a:p>
            <a:endParaRPr/>
          </a:p>
        </p:txBody>
      </p:sp>
      <p:sp>
        <p:nvSpPr>
          <p:cNvPr id="7" name="Crop panel Kết quả thử việc">
            <a:extLst>
              <a:ext uri="{FF2B5EF4-FFF2-40B4-BE49-F238E27FC236}">
                <a16:creationId xmlns:a16="http://schemas.microsoft.com/office/drawing/2014/main" id="{A48DA31D-AA08-DC31-CC48-0256E58CFE1E}"/>
              </a:ext>
            </a:extLst>
          </p:cNvPr>
          <p:cNvSpPr>
            <a:spLocks noGrp="1"/>
          </p:cNvSpPr>
          <p:nvPr/>
        </p:nvSpPr>
        <p:spPr>
          <a:xfrm>
            <a:off x="6238875" y="1657350"/>
            <a:ext cx="5286375" cy="4343400"/>
          </a:xfrm>
          <a:prstGeom prst="roundRect">
            <a:avLst>
              <a:gd name="adj" fmla="val 1754"/>
            </a:avLst>
          </a:prstGeom>
          <a:solidFill>
            <a:srgbClr val="F7FAFE"/>
          </a:solidFill>
          <a:ln w="11430">
            <a:solidFill>
              <a:srgbClr val="C8D8EB"/>
            </a:solidFill>
          </a:ln>
        </p:spPr>
        <p:txBody>
          <a:bodyPr/>
          <a:lstStyle/>
          <a:p>
            <a:endParaRPr/>
          </a:p>
        </p:txBody>
      </p:sp>
      <p:sp>
        <p:nvSpPr>
          <p:cNvPr id="8" name="Crop caption PHÒNG NHÂN SỰ — SÀNG LỌC CV">
            <a:extLst>
              <a:ext uri="{FF2B5EF4-FFF2-40B4-BE49-F238E27FC236}">
                <a16:creationId xmlns:a16="http://schemas.microsoft.com/office/drawing/2014/main" id="{75DFB259-4814-BAC8-4CED-90C428BE82A4}"/>
              </a:ext>
            </a:extLst>
          </p:cNvPr>
          <p:cNvSpPr>
            <a:spLocks noGrp="1"/>
          </p:cNvSpPr>
          <p:nvPr/>
        </p:nvSpPr>
        <p:spPr>
          <a:xfrm>
            <a:off x="838200" y="1752600"/>
            <a:ext cx="4905375" cy="342900"/>
          </a:xfrm>
          <a:prstGeom prst="rect">
            <a:avLst/>
          </a:prstGeom>
          <a:noFill/>
          <a:ln w="0">
            <a:noFill/>
          </a:ln>
        </p:spPr>
        <p:txBody>
          <a:bodyPr wrap="square" lIns="0" tIns="0" rIns="0" bIns="0" anchor="ctr">
            <a:noAutofit/>
          </a:bodyPr>
          <a:lstStyle/>
          <a:p>
            <a:pPr algn="l">
              <a:buNone/>
              <a:defRPr sz="1650" b="1">
                <a:solidFill>
                  <a:srgbClr val="EF8B22"/>
                </a:solidFill>
                <a:latin typeface="Arial"/>
                <a:ea typeface="Arial"/>
                <a:cs typeface="Arial"/>
              </a:defRPr>
            </a:pPr>
            <a:r>
              <a:rPr sz="1650" b="1">
                <a:solidFill>
                  <a:srgbClr val="EF8B22"/>
                </a:solidFill>
                <a:latin typeface="Arial"/>
                <a:ea typeface="Arial"/>
                <a:cs typeface="Arial"/>
              </a:rPr>
              <a:t>PHÒNG NHÂN SỰ — SÀNG LỌC CV</a:t>
            </a:r>
          </a:p>
        </p:txBody>
      </p:sp>
      <p:sp>
        <p:nvSpPr>
          <p:cNvPr id="9" name="Crop caption PHÒNG NHÂN SỰ — KẾT QUẢ THỬ VIỆC">
            <a:extLst>
              <a:ext uri="{FF2B5EF4-FFF2-40B4-BE49-F238E27FC236}">
                <a16:creationId xmlns:a16="http://schemas.microsoft.com/office/drawing/2014/main" id="{4157A3E3-D35C-9429-2CA7-1BDA60C822BE}"/>
              </a:ext>
            </a:extLst>
          </p:cNvPr>
          <p:cNvSpPr>
            <a:spLocks noGrp="1"/>
          </p:cNvSpPr>
          <p:nvPr/>
        </p:nvSpPr>
        <p:spPr>
          <a:xfrm>
            <a:off x="6410325" y="1752600"/>
            <a:ext cx="4905375" cy="342900"/>
          </a:xfrm>
          <a:prstGeom prst="rect">
            <a:avLst/>
          </a:prstGeom>
          <a:noFill/>
          <a:ln w="0">
            <a:noFill/>
          </a:ln>
        </p:spPr>
        <p:txBody>
          <a:bodyPr wrap="square" lIns="0" tIns="0" rIns="0" bIns="0" anchor="ctr">
            <a:noAutofit/>
          </a:bodyPr>
          <a:lstStyle/>
          <a:p>
            <a:pPr algn="l">
              <a:buNone/>
              <a:defRPr sz="1650" b="1">
                <a:solidFill>
                  <a:srgbClr val="EF8B22"/>
                </a:solidFill>
                <a:latin typeface="Arial"/>
                <a:ea typeface="Arial"/>
                <a:cs typeface="Arial"/>
              </a:defRPr>
            </a:pPr>
            <a:r>
              <a:rPr sz="1650" b="1">
                <a:solidFill>
                  <a:srgbClr val="EF8B22"/>
                </a:solidFill>
                <a:latin typeface="Arial"/>
                <a:ea typeface="Arial"/>
                <a:cs typeface="Arial"/>
              </a:rPr>
              <a:t>PHÒNG NHÂN SỰ — KẾT QUẢ THỬ VIỆC</a:t>
            </a:r>
          </a:p>
        </p:txBody>
      </p:sp>
      <p:pic>
        <p:nvPicPr>
          <p:cNvPr id="117" name="Graphic 5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822" y="2562083"/>
            <a:ext cx="5049708" cy="2840461"/>
          </a:xfrm>
          <a:prstGeom prst="rect">
            <a:avLst/>
          </a:prstGeom>
        </p:spPr>
      </p:pic>
      <p:pic>
        <p:nvPicPr>
          <p:cNvPr id="118" name="Graphic 6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3876" y="2562083"/>
            <a:ext cx="5055616" cy="2843784"/>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34</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16000418"/>
              </p:ext>
            </p:extLst>
          </p:nvPr>
        </p:nvGraphicFramePr>
        <p:xfrm>
          <a:off x="742950" y="1714500"/>
          <a:ext cx="10763250" cy="438912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0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extLst>
                  <a:ext uri="{0D108BD9-81ED-4DB2-BD59-A6C34878D82A}">
                    <a16:rowId xmlns:a16="http://schemas.microsoft.com/office/drawing/2014/main" val="10000"/>
                  </a:ext>
                </a:extLst>
              </a:tr>
              <a:tr h="1410770">
                <a:tc>
                  <a:txBody>
                    <a:bodyPr/>
                    <a:lstStyle/>
                    <a:p>
                      <a:pPr algn="l">
                        <a:lnSpc>
                          <a:spcPct val="104000"/>
                        </a:lnSpc>
                        <a:buNone/>
                      </a:pPr>
                      <a:r>
                        <a:rPr sz="140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Khi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bước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tiên</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Lập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Tìm</a:t>
                      </a:r>
                      <a:r>
                        <a:rPr sz="1400" b="0" dirty="0">
                          <a:solidFill>
                            <a:srgbClr val="17325C"/>
                          </a:solidFill>
                          <a:latin typeface="Arial"/>
                          <a:ea typeface="Arial"/>
                          <a:cs typeface="Arial"/>
                        </a:rPr>
                        <a:t> </a:t>
                      </a:r>
                      <a:r>
                        <a:rPr sz="1400" b="0" dirty="0" err="1">
                          <a:solidFill>
                            <a:srgbClr val="17325C"/>
                          </a:solidFill>
                          <a:latin typeface="Arial"/>
                          <a:ea typeface="Arial"/>
                          <a:cs typeface="Arial"/>
                        </a:rPr>
                        <a:t>kiếm</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Gửi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extLst>
                  <a:ext uri="{0D108BD9-81ED-4DB2-BD59-A6C34878D82A}">
                    <a16:rowId xmlns:a16="http://schemas.microsoft.com/office/drawing/2014/main" val="10001"/>
                  </a:ext>
                </a:extLst>
              </a:tr>
              <a:tr h="1279163">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Sau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Kiểm</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tra</a:t>
                      </a:r>
                      <a:r>
                        <a:rPr sz="1400" b="0" dirty="0">
                          <a:solidFill>
                            <a:srgbClr val="17325C"/>
                          </a:solidFill>
                          <a:latin typeface="Arial"/>
                          <a:ea typeface="Arial"/>
                          <a:cs typeface="Arial"/>
                        </a:rPr>
                        <a:t> </a:t>
                      </a:r>
                      <a:r>
                        <a:rPr sz="1400" b="0" dirty="0" err="1">
                          <a:solidFill>
                            <a:srgbClr val="17325C"/>
                          </a:solidFill>
                          <a:latin typeface="Arial"/>
                          <a:ea typeface="Arial"/>
                          <a:cs typeface="Arial"/>
                        </a:rPr>
                        <a:t>tính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phù</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thức</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extLst>
                  <a:ext uri="{0D108BD9-81ED-4DB2-BD59-A6C34878D82A}">
                    <a16:rowId xmlns:a16="http://schemas.microsoft.com/office/drawing/2014/main" val="10002"/>
                  </a:ext>
                </a:extLst>
              </a:tr>
              <a:tr h="1279163">
                <a:tc>
                  <a:txBody>
                    <a:bodyPr/>
                    <a:lstStyle/>
                    <a:p>
                      <a:pPr algn="l">
                        <a:lnSpc>
                          <a:spcPct val="104000"/>
                        </a:lnSpc>
                        <a:buNone/>
                      </a:pPr>
                      <a:r>
                        <a:rPr sz="140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Sau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xuất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phê</a:t>
                      </a:r>
                      <a:r>
                        <a:rPr sz="1400" b="0" dirty="0">
                          <a:solidFill>
                            <a:srgbClr val="17325C"/>
                          </a:solidFill>
                          <a:latin typeface="Arial"/>
                          <a:ea typeface="Arial"/>
                          <a:cs typeface="Arial"/>
                        </a:rPr>
                        <a:t> </a:t>
                      </a:r>
                      <a:r>
                        <a:rPr sz="1400" b="0" dirty="0" err="1">
                          <a:solidFill>
                            <a:srgbClr val="17325C"/>
                          </a:solidFill>
                          <a:latin typeface="Arial"/>
                          <a:ea typeface="Arial"/>
                          <a:cs typeface="Arial"/>
                        </a:rPr>
                        <a:t>duyệt</a:t>
                      </a:r>
                      <a:r>
                        <a:rPr sz="1400" b="0" dirty="0">
                          <a:solidFill>
                            <a:srgbClr val="17325C"/>
                          </a:solidFill>
                          <a:latin typeface="Arial"/>
                          <a:ea typeface="Arial"/>
                          <a:cs typeface="Arial"/>
                        </a:rPr>
                        <a:t>, FPT Shop </a:t>
                      </a:r>
                      <a:r>
                        <a:rPr sz="1400" b="0" dirty="0" err="1">
                          <a:solidFill>
                            <a:srgbClr val="17325C"/>
                          </a:solidFill>
                          <a:latin typeface="Arial"/>
                          <a:ea typeface="Arial"/>
                          <a:cs typeface="Arial"/>
                        </a:rPr>
                        <a:t>ưu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bước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Kiểm</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tra</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điều</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nội</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hay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mới</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thức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Đào </a:t>
                      </a:r>
                      <a:r>
                        <a:rPr sz="1400" b="0" dirty="0" err="1">
                          <a:solidFill>
                            <a:srgbClr val="17325C"/>
                          </a:solidFill>
                          <a:latin typeface="Arial"/>
                          <a:ea typeface="Arial"/>
                          <a:cs typeface="Arial"/>
                        </a:rPr>
                        <a:t>tạo</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hội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nhập</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35</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3095141260"/>
              </p:ext>
            </p:extLst>
          </p:nvPr>
        </p:nvGraphicFramePr>
        <p:xfrm>
          <a:off x="742950" y="1714500"/>
          <a:ext cx="10763250" cy="4389121"/>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3300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extLst>
                  <a:ext uri="{0D108BD9-81ED-4DB2-BD59-A6C34878D82A}">
                    <a16:rowId xmlns:a16="http://schemas.microsoft.com/office/drawing/2014/main" val="10000"/>
                  </a:ext>
                </a:extLst>
              </a:tr>
              <a:tr h="1978057">
                <a:tc>
                  <a:txBody>
                    <a:bodyPr/>
                    <a:lstStyle/>
                    <a:p>
                      <a:pPr algn="l">
                        <a:lnSpc>
                          <a:spcPct val="104000"/>
                        </a:lnSpc>
                        <a:buNone/>
                      </a:pPr>
                      <a:r>
                        <a:rPr sz="1400" b="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Khi CV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phù</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phù</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Lưu CV </a:t>
                      </a:r>
                      <a:r>
                        <a:rPr sz="1400" b="0" dirty="0" err="1">
                          <a:solidFill>
                            <a:srgbClr val="17325C"/>
                          </a:solidFill>
                          <a:latin typeface="Arial"/>
                          <a:ea typeface="Arial"/>
                          <a:cs typeface="Arial"/>
                        </a:rPr>
                        <a:t>cho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Mời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ngay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extLst>
                  <a:ext uri="{0D108BD9-81ED-4DB2-BD59-A6C34878D82A}">
                    <a16:rowId xmlns:a16="http://schemas.microsoft.com/office/drawing/2014/main" val="10001"/>
                  </a:ext>
                </a:extLst>
              </a:tr>
              <a:tr h="1978057">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Khi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bước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theo</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gì</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lao</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thức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Tìm</a:t>
                      </a:r>
                      <a:r>
                        <a:rPr sz="1400" b="0" dirty="0">
                          <a:solidFill>
                            <a:srgbClr val="17325C"/>
                          </a:solidFill>
                          <a:latin typeface="Arial"/>
                          <a:ea typeface="Arial"/>
                          <a:cs typeface="Arial"/>
                        </a:rPr>
                        <a:t> </a:t>
                      </a:r>
                      <a:r>
                        <a:rPr sz="1400" b="0" dirty="0" err="1">
                          <a:solidFill>
                            <a:srgbClr val="17325C"/>
                          </a:solidFill>
                          <a:latin typeface="Arial"/>
                          <a:ea typeface="Arial"/>
                          <a:cs typeface="Arial"/>
                        </a:rPr>
                        <a:t>kiếm</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mới</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Sàng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lọc</a:t>
                      </a:r>
                      <a:r>
                        <a:rPr sz="1400" b="0" dirty="0">
                          <a:solidFill>
                            <a:srgbClr val="17325C"/>
                          </a:solidFill>
                          <a:latin typeface="Arial"/>
                          <a:ea typeface="Arial"/>
                          <a:cs typeface="Arial"/>
                        </a:rPr>
                        <a:t> CV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lại</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36</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KHÔNG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11525683"/>
              </p:ext>
            </p:extLst>
          </p:nvPr>
        </p:nvGraphicFramePr>
        <p:xfrm>
          <a:off x="742950" y="1714500"/>
          <a:ext cx="10763250" cy="424815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extLst>
                  <a:ext uri="{0D108BD9-81ED-4DB2-BD59-A6C34878D82A}">
                    <a16:rowId xmlns:a16="http://schemas.microsoft.com/office/drawing/2014/main" val="10000"/>
                  </a:ext>
                </a:extLst>
              </a:tr>
              <a:tr h="765810">
                <a:tc>
                  <a:txBody>
                    <a:bodyPr/>
                    <a:lstStyle/>
                    <a:p>
                      <a:pPr algn="l">
                        <a:lnSpc>
                          <a:spcPct val="104000"/>
                        </a:lnSpc>
                        <a:buNone/>
                      </a:pPr>
                      <a:r>
                        <a:rPr sz="1400" b="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có thể mô tả toàn bộ quá trình xử lý từ khi cửa hàng phát sinh nhu cầu bổ sung nhân sự cho đến khi nhân sự được tiếp nhận không?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extLst>
                  <a:ext uri="{0D108BD9-81ED-4DB2-BD59-A6C34878D82A}">
                    <a16:rowId xmlns:a16="http://schemas.microsoft.com/office/drawing/2014/main" val="10001"/>
                  </a:ext>
                </a:extLst>
              </a:tr>
              <a:tr h="76581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quá trình tiếp nhận và xử lý đề nghị tuyển dụng, những vấn đề nào thường phát sinh và được xử lý như thế nào?</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extLst>
                  <a:ext uri="{0D108BD9-81ED-4DB2-BD59-A6C34878D82A}">
                    <a16:rowId xmlns:a16="http://schemas.microsoft.com/office/drawing/2014/main" val="10002"/>
                  </a:ext>
                </a:extLst>
              </a:tr>
              <a:tr h="765810">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có thể mô tả cách thức Phòng Nhân sự tìm kiếm, tiếp nhận và sàng lọc CV của ứng viên không?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extLst>
                  <a:ext uri="{0D108BD9-81ED-4DB2-BD59-A6C34878D82A}">
                    <a16:rowId xmlns:a16="http://schemas.microsoft.com/office/drawing/2014/main" val="10003"/>
                  </a:ext>
                </a:extLst>
              </a:tr>
              <a:tr h="765810">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Theo thực tế tại đơn vị, những nguyên nhân nào thường khiến ứng viên không đạt phỏng vấn hoặc không tiếp tục nhận việc?</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extLst>
                  <a:ext uri="{0D108BD9-81ED-4DB2-BD59-A6C34878D82A}">
                    <a16:rowId xmlns:a16="http://schemas.microsoft.com/office/drawing/2014/main" val="10004"/>
                  </a:ext>
                </a:extLst>
              </a:tr>
              <a:tr h="76581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đánh giá như thế nào về những điểm thuận lợi và khó khăn trong quá trình tiếp nhận, thử việc và đánh giá nhân viên mới?</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Quản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37</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802806683"/>
              </p:ext>
            </p:extLst>
          </p:nvPr>
        </p:nvGraphicFramePr>
        <p:xfrm>
          <a:off x="742950" y="1714500"/>
          <a:ext cx="10763250" cy="4480561"/>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03422">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1424269">
                <a:tc>
                  <a:txBody>
                    <a:bodyPr/>
                    <a:lstStyle/>
                    <a:p>
                      <a:pPr algn="l">
                        <a:lnSpc>
                          <a:spcPct val="104000"/>
                        </a:lnSpc>
                        <a:buNone/>
                      </a:pPr>
                      <a:r>
                        <a:rPr sz="140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mỗi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1-2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6-10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Đề nghị/tháng</a:t>
                      </a:r>
                    </a:p>
                  </a:txBody>
                  <a:tcPr anchor="ctr">
                    <a:solidFill>
                      <a:srgbClr val="FFFFFF"/>
                    </a:solidFill>
                  </a:tcPr>
                </a:tc>
                <a:extLst>
                  <a:ext uri="{0D108BD9-81ED-4DB2-BD59-A6C34878D82A}">
                    <a16:rowId xmlns:a16="http://schemas.microsoft.com/office/drawing/2014/main" val="10001"/>
                  </a:ext>
                </a:extLst>
              </a:tr>
              <a:tr h="1424269">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lâu</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1–2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3–5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5 </a:t>
                      </a:r>
                      <a:r>
                        <a:rPr sz="1400" b="0" dirty="0" err="1">
                          <a:solidFill>
                            <a:srgbClr val="17325C"/>
                          </a:solidFill>
                          <a:latin typeface="Arial"/>
                          <a:ea typeface="Arial"/>
                          <a:cs typeface="Arial"/>
                        </a:rPr>
                        <a:t>ngày</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Ngày/đề nghị</a:t>
                      </a:r>
                    </a:p>
                  </a:txBody>
                  <a:tcPr anchor="ctr">
                    <a:solidFill>
                      <a:srgbClr val="F1F6FC"/>
                    </a:solidFill>
                  </a:tcPr>
                </a:tc>
                <a:extLst>
                  <a:ext uri="{0D108BD9-81ED-4DB2-BD59-A6C34878D82A}">
                    <a16:rowId xmlns:a16="http://schemas.microsoft.com/office/drawing/2014/main" val="10002"/>
                  </a:ext>
                </a:extLst>
              </a:tr>
              <a:tr h="1228601">
                <a:tc>
                  <a:txBody>
                    <a:bodyPr/>
                    <a:lstStyle/>
                    <a:p>
                      <a:pPr algn="l">
                        <a:lnSpc>
                          <a:spcPct val="104000"/>
                        </a:lnSpc>
                        <a:buNone/>
                      </a:pPr>
                      <a:r>
                        <a:rPr sz="140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CV?</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10–30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31–50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50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CV/</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38</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409972266"/>
              </p:ext>
            </p:extLst>
          </p:nvPr>
        </p:nvGraphicFramePr>
        <p:xfrm>
          <a:off x="742950" y="1714500"/>
          <a:ext cx="10763250" cy="4389121"/>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3300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1978057">
                <a:tc>
                  <a:txBody>
                    <a:bodyPr/>
                    <a:lstStyle/>
                    <a:p>
                      <a:pPr algn="l">
                        <a:lnSpc>
                          <a:spcPct val="104000"/>
                        </a:lnSpc>
                        <a:buNone/>
                      </a:pPr>
                      <a:r>
                        <a:rPr sz="1400" b="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Tỷ</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sau</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ở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25–50%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51–75%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75%</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 ứng viên</a:t>
                      </a:r>
                    </a:p>
                  </a:txBody>
                  <a:tcPr anchor="ctr">
                    <a:solidFill>
                      <a:srgbClr val="FFFFFF"/>
                    </a:solidFill>
                  </a:tcPr>
                </a:tc>
                <a:extLst>
                  <a:ext uri="{0D108BD9-81ED-4DB2-BD59-A6C34878D82A}">
                    <a16:rowId xmlns:a16="http://schemas.microsoft.com/office/drawing/2014/main" val="10001"/>
                  </a:ext>
                </a:extLst>
              </a:tr>
              <a:tr h="1978057">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Tỷ</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sau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ở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50–70%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71–90%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90%</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 / Quản lý cửa hàng</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39</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KHÔNG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447404255"/>
              </p:ext>
            </p:extLst>
          </p:nvPr>
        </p:nvGraphicFramePr>
        <p:xfrm>
          <a:off x="742950" y="1714500"/>
          <a:ext cx="10763250" cy="4389122"/>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3300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791223">
                <a:tc>
                  <a:txBody>
                    <a:bodyPr/>
                    <a:lstStyle/>
                    <a:p>
                      <a:pPr algn="l">
                        <a:lnSpc>
                          <a:spcPct val="104000"/>
                        </a:lnSpc>
                        <a:buNone/>
                      </a:pPr>
                      <a:r>
                        <a:rPr sz="1400" b="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Trong tháng gần nhất, cửa hàng đã phát sinh bao nhiêu đề nghị bổ sung nhân sự?</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Đề nghị/tháng</a:t>
                      </a:r>
                    </a:p>
                  </a:txBody>
                  <a:tcPr anchor="ctr">
                    <a:solidFill>
                      <a:srgbClr val="FFFFFF"/>
                    </a:solidFill>
                  </a:tcPr>
                </a:tc>
                <a:extLst>
                  <a:ext uri="{0D108BD9-81ED-4DB2-BD59-A6C34878D82A}">
                    <a16:rowId xmlns:a16="http://schemas.microsoft.com/office/drawing/2014/main" val="10001"/>
                  </a:ext>
                </a:extLst>
              </a:tr>
              <a:tr h="791223">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Trung bình mất bao nhiêu ngày từ khi Phòng Nhân sự nhận đề nghị đến khi Ban Giám đốc phê duyệt đề xuất tuyển dụng?</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Ngày/đề nghị</a:t>
                      </a:r>
                    </a:p>
                  </a:txBody>
                  <a:tcPr anchor="ctr">
                    <a:solidFill>
                      <a:srgbClr val="F1F6FC"/>
                    </a:solidFill>
                  </a:tcPr>
                </a:tc>
                <a:extLst>
                  <a:ext uri="{0D108BD9-81ED-4DB2-BD59-A6C34878D82A}">
                    <a16:rowId xmlns:a16="http://schemas.microsoft.com/office/drawing/2014/main" val="10002"/>
                  </a:ext>
                </a:extLst>
              </a:tr>
              <a:tr h="791223">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Trung bình một vị trí tuyển dụng cần bao nhiêu CV trước khi lựa chọn được ứng viên tham gia phỏng vấn?</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CV/vị trí</a:t>
                      </a:r>
                    </a:p>
                  </a:txBody>
                  <a:tcPr anchor="ctr">
                    <a:solidFill>
                      <a:srgbClr val="FFFFFF"/>
                    </a:solidFill>
                  </a:tcPr>
                </a:tc>
                <a:extLst>
                  <a:ext uri="{0D108BD9-81ED-4DB2-BD59-A6C34878D82A}">
                    <a16:rowId xmlns:a16="http://schemas.microsoft.com/office/drawing/2014/main" val="10003"/>
                  </a:ext>
                </a:extLst>
              </a:tr>
              <a:tr h="791223">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các ứng viên đã tham gia phỏng vấn trong tháng gần nhất, có bao nhiêu ứng viên đạt yêu cầu?</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Ứng viên/tháng</a:t>
                      </a:r>
                    </a:p>
                  </a:txBody>
                  <a:tcPr anchor="ctr">
                    <a:solidFill>
                      <a:srgbClr val="F1F6FC"/>
                    </a:solidFill>
                  </a:tcPr>
                </a:tc>
                <a:extLst>
                  <a:ext uri="{0D108BD9-81ED-4DB2-BD59-A6C34878D82A}">
                    <a16:rowId xmlns:a16="http://schemas.microsoft.com/office/drawing/2014/main" val="10004"/>
                  </a:ext>
                </a:extLst>
              </a:tr>
              <a:tr h="791223">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Trung bình một nhân viên cần bao nhiêu ngày từ khi bắt đầu thử việc đến khi được ký hợp đồng lao động chính thức?</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 / Quản lý cửa hàng</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Ngày</a:t>
                      </a:r>
                      <a:r>
                        <a:rPr sz="1400" b="0" dirty="0">
                          <a:solidFill>
                            <a:srgbClr val="17325C"/>
                          </a:solidFill>
                          <a:latin typeface="Arial"/>
                          <a:ea typeface="Arial"/>
                          <a:cs typeface="Arial"/>
                        </a:rPr>
                        <a:t>/</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40</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nhu cầu và tạo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Hiển thị sản phẩm và quản lý giỏ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TMĐT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Tiếp nhận nhu cầu và tạo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đơn hàng và sinh mã đơn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TMĐT</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nhu cầu và tạo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Gửi SMS/Email xác nhận tiếp nhận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TMĐT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Kiểm tra tồn kho toàn hệ thống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Điều phối đơn về cửa hàng gần nhất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Tư vấn sản phẩm thay thế khi hết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41</a:t>
            </a:r>
          </a:p>
        </p:txBody>
      </p:sp>
      <p:sp>
        <p:nvSpPr>
          <p:cNvPr id="6" name="Rectangle 5">
            <a:extLst>
              <a:ext uri="{FF2B5EF4-FFF2-40B4-BE49-F238E27FC236}">
                <a16:creationId xmlns:a16="http://schemas.microsoft.com/office/drawing/2014/main" id="{8FA3A130-243C-56C2-0F8E-1DE737AC37B9}"/>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7</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Gọi điện xác nhận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8</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Tiếp nhận và gửi hồ sơ trả góp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9</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Chờ và xác nhận giao dịch thanh toán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10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Giữ hàng và cập nhật trạng thái “Đang xử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11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Hủy đơn hàng và thông báo 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12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42</a:t>
            </a:r>
          </a:p>
        </p:txBody>
      </p:sp>
      <p:sp>
        <p:nvSpPr>
          <p:cNvPr id="6" name="Rectangle 5">
            <a:extLst>
              <a:ext uri="{FF2B5EF4-FFF2-40B4-BE49-F238E27FC236}">
                <a16:creationId xmlns:a16="http://schemas.microsoft.com/office/drawing/2014/main" id="{DCE38F47-A668-2E2E-BF20-A4D22C7E8B9D}"/>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13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Quét và ghi nhận IMEI/serial</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14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Đóng gói và dán tem niêm phong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15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Xuất hóa đơn VAT điện tử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16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Bàn giao sản phẩm tại cửa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17</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Bàn giao cho đơn vị vận chuyển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Giao vận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18</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cho khách đồng kiểm</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Bộ phận Giao vận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43</a:t>
            </a:r>
          </a:p>
        </p:txBody>
      </p:sp>
      <p:sp>
        <p:nvSpPr>
          <p:cNvPr id="6" name="Rectangle 5">
            <a:extLst>
              <a:ext uri="{FF2B5EF4-FFF2-40B4-BE49-F238E27FC236}">
                <a16:creationId xmlns:a16="http://schemas.microsoft.com/office/drawing/2014/main" id="{9CF12DAD-5C72-8110-C51E-4D25ACB57620}"/>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19</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Hẹn giao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Giao vận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20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Nhập kho lại hàng hoàn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21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Đối soát COD và ghi nhận doanh thu</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Kế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22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Kích hoạt bảo hành theo IMEI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23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Gửi khảo sát mức độ hài lòng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24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Cập nhật trạng thái “Hoàn thành”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44</a:t>
            </a:r>
          </a:p>
        </p:txBody>
      </p:sp>
      <p:sp>
        <p:nvSpPr>
          <p:cNvPr id="60" name="Rectangle 59">
            <a:extLst>
              <a:ext uri="{FF2B5EF4-FFF2-40B4-BE49-F238E27FC236}">
                <a16:creationId xmlns:a16="http://schemas.microsoft.com/office/drawing/2014/main" id="{85A9DFB4-7049-4FAA-8EDC-F162FE5A27A0}"/>
              </a:ext>
            </a:extLst>
          </p:cNvPr>
          <p:cNvSpPr>
            <a:spLocks noGrp="1"/>
          </p:cNvSpPr>
          <p:nvPr/>
        </p:nvSpPr>
        <p:spPr>
          <a:xfrm>
            <a:off x="571500" y="990600"/>
            <a:ext cx="10572750" cy="742950"/>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TỔNG HỢP PHÂN TÍCH GIÁ TRỊ GIA TĂNG</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4" name="Table 113"/>
          <p:cNvGraphicFramePr/>
          <p:nvPr/>
        </p:nvGraphicFramePr>
        <p:xfrm>
          <a:off x="742950" y="1714500"/>
          <a:ext cx="10763250" cy="3657600"/>
        </p:xfrm>
        <a:graphic>
          <a:graphicData uri="http://schemas.openxmlformats.org/drawingml/2006/table">
            <a:tbl>
              <a:tblPr firstRow="1"/>
              <a:tblGrid>
                <a:gridCol w="10477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gridCol w="3810000">
                  <a:extLst>
                    <a:ext uri="{9D8B030D-6E8A-4147-A177-3AD203B41FA5}">
                      <a16:colId xmlns:a16="http://schemas.microsoft.com/office/drawing/2014/main" val="20003"/>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Số lượng / Tỷ lệ</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Ý nghĩa</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Hướng cải tiến</a:t>
                      </a:r>
                    </a:p>
                  </a:txBody>
                  <a:tcPr anchor="ctr">
                    <a:solidFill>
                      <a:srgbClr val="009D9E"/>
                    </a:solidFill>
                  </a:tcPr>
                </a:tc>
                <a:extLst>
                  <a:ext uri="{0D108BD9-81ED-4DB2-BD59-A6C34878D82A}">
                    <a16:rowId xmlns:a16="http://schemas.microsoft.com/office/drawing/2014/main" val="10000"/>
                  </a:ext>
                </a:extLst>
              </a:tr>
              <a:tr h="1066800">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8 / 33,3%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Tạo giá trị trực tiếp cho 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Duy trì, tối ưu cách thực hiện.</a:t>
                      </a:r>
                    </a:p>
                  </a:txBody>
                  <a:tcPr anchor="ctr">
                    <a:solidFill>
                      <a:srgbClr val="FFFFFF"/>
                    </a:solidFill>
                  </a:tcPr>
                </a:tc>
                <a:extLst>
                  <a:ext uri="{0D108BD9-81ED-4DB2-BD59-A6C34878D82A}">
                    <a16:rowId xmlns:a16="http://schemas.microsoft.com/office/drawing/2014/main" val="10001"/>
                  </a:ext>
                </a:extLst>
              </a:tr>
              <a:tr h="1066800">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13 / 54,2%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Cần thiết cho vận hành và quản lý doanh nghiệp.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Tự động hóa, rút gọn hoặc gộp bước.</a:t>
                      </a:r>
                    </a:p>
                  </a:txBody>
                  <a:tcPr anchor="ctr">
                    <a:solidFill>
                      <a:srgbClr val="F1F6FC"/>
                    </a:solidFill>
                  </a:tcPr>
                </a:tc>
                <a:extLst>
                  <a:ext uri="{0D108BD9-81ED-4DB2-BD59-A6C34878D82A}">
                    <a16:rowId xmlns:a16="http://schemas.microsoft.com/office/drawing/2014/main" val="10002"/>
                  </a:ext>
                </a:extLst>
              </a:tr>
              <a:tr h="1066800">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 / 12,5%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Không tạo giá trị; phát sinh do thất bại hoặc làm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Loại bỏ hoặc giảm tần suất phát sinh.</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2" name="Content Phạm vi: 24 hoạt động được phân loạ">
            <a:extLst>
              <a:ext uri="{FF2B5EF4-FFF2-40B4-BE49-F238E27FC236}">
                <a16:creationId xmlns:a16="http://schemas.microsoft.com/office/drawing/2014/main" id="{F38E7C4F-ED87-4F56-885B-30E82BEB9820}"/>
              </a:ext>
            </a:extLst>
          </p:cNvPr>
          <p:cNvSpPr>
            <a:spLocks noGrp="1"/>
          </p:cNvSpPr>
          <p:nvPr/>
        </p:nvSpPr>
        <p:spPr>
          <a:xfrm>
            <a:off x="742950" y="5543550"/>
            <a:ext cx="10763250" cy="495300"/>
          </a:xfrm>
          <a:prstGeom prst="rect">
            <a:avLst/>
          </a:prstGeom>
          <a:noFill/>
          <a:ln w="0">
            <a:noFill/>
          </a:ln>
        </p:spPr>
        <p:txBody>
          <a:bodyPr wrap="square" lIns="95250" tIns="66675" rIns="95250" bIns="66675" anchor="t">
            <a:noAutofit/>
          </a:bodyPr>
          <a:lstStyle/>
          <a:p>
            <a:pPr algn="l">
              <a:lnSpc>
                <a:spcPct val="104000"/>
              </a:lnSpc>
              <a:buNone/>
              <a:defRPr sz="1650" b="1">
                <a:solidFill>
                  <a:srgbClr val="009D9E"/>
                </a:solidFill>
                <a:latin typeface="Arial"/>
                <a:ea typeface="Arial"/>
                <a:cs typeface="Arial"/>
              </a:defRPr>
            </a:pPr>
            <a:r>
              <a:rPr sz="1650" b="1">
                <a:solidFill>
                  <a:srgbClr val="009D9E"/>
                </a:solidFill>
                <a:latin typeface="Arial"/>
                <a:ea typeface="Arial"/>
                <a:cs typeface="Arial"/>
              </a:rPr>
              <a:t>Phạm vi: 24 hoạt động được phân loại trong bảng phân tích của báo cáo.</a:t>
            </a:r>
          </a:p>
        </p:txBody>
      </p:sp>
    </p:spTree>
    <p:extLst>
      <p:ext uri="{BB962C8B-B14F-4D97-AF65-F5344CB8AC3E}">
        <p14:creationId xmlns:p14="http://schemas.microsoft.com/office/powerpoint/2010/main" val="985234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45</a:t>
            </a:r>
          </a:p>
        </p:txBody>
      </p:sp>
      <p:sp>
        <p:nvSpPr>
          <p:cNvPr id="60" name="Rectangle 59">
            <a:extLst>
              <a:ext uri="{FF2B5EF4-FFF2-40B4-BE49-F238E27FC236}">
                <a16:creationId xmlns:a16="http://schemas.microsoft.com/office/drawing/2014/main" id="{329E0DBB-0442-41CB-A6D8-168CC1DDD3D0}"/>
              </a:ext>
            </a:extLst>
          </p:cNvPr>
          <p:cNvSpPr>
            <a:spLocks noGrp="1"/>
          </p:cNvSpPr>
          <p:nvPr/>
        </p:nvSpPr>
        <p:spPr>
          <a:xfrm>
            <a:off x="571500" y="990600"/>
            <a:ext cx="10572750" cy="723900"/>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SỰ LÃNG PHÍ</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1238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3571875">
                  <a:extLst>
                    <a:ext uri="{9D8B030D-6E8A-4147-A177-3AD203B41FA5}">
                      <a16:colId xmlns:a16="http://schemas.microsoft.com/office/drawing/2014/main" val="20003"/>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Biểu hiện trên quy trình</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Khắc phục</a:t>
                      </a:r>
                    </a:p>
                  </a:txBody>
                  <a:tcPr anchor="ctr">
                    <a:solidFill>
                      <a:srgbClr val="009D9E"/>
                    </a:solidFill>
                  </a:tcPr>
                </a:tc>
                <a:extLst>
                  <a:ext uri="{0D108BD9-81ED-4DB2-BD59-A6C34878D82A}">
                    <a16:rowId xmlns:a16="http://schemas.microsoft.com/office/drawing/2014/main" val="10000"/>
                  </a:ext>
                </a:extLst>
              </a:tr>
              <a:tr h="1219200">
                <a:tc>
                  <a:txBody>
                    <a:bodyPr/>
                    <a:lstStyle/>
                    <a:p>
                      <a:pPr algn="l">
                        <a:lnSpc>
                          <a:spcPct val="104000"/>
                        </a:lnSpc>
                        <a:buNone/>
                      </a:pPr>
                      <a:r>
                        <a:rPr sz="1650" b="0">
                          <a:solidFill>
                            <a:srgbClr val="17325C"/>
                          </a:solidFill>
                          <a:latin typeface="Arial"/>
                          <a:ea typeface="Arial"/>
                          <a:cs typeface="Arial"/>
                        </a:rPr>
                        <a:t>Move</a:t>
                      </a:r>
                    </a:p>
                    <a:p>
                      <a:pPr algn="l">
                        <a:lnSpc>
                          <a:spcPct val="104000"/>
                        </a:lnSpc>
                        <a:buNone/>
                      </a:pPr>
                      <a:r>
                        <a:rPr sz="1650" b="0">
                          <a:solidFill>
                            <a:srgbClr val="17325C"/>
                          </a:solidFill>
                          <a:latin typeface="Arial"/>
                          <a:ea typeface="Arial"/>
                          <a:cs typeface="Arial"/>
                        </a:rPr>
                        <a:t>Di chuyển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lại; vận chuyển hàng hoàn; di chuyển giữa quầy và khu soạn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Tăng quãng đường, công sức và chi phí.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Chuẩn hóa địa chỉ, hẹn khung giờ; bố trí khu soạn hàng.</a:t>
                      </a:r>
                    </a:p>
                  </a:txBody>
                  <a:tcPr anchor="ctr">
                    <a:solidFill>
                      <a:srgbClr val="FFFFFF"/>
                    </a:solidFill>
                  </a:tcPr>
                </a:tc>
                <a:extLst>
                  <a:ext uri="{0D108BD9-81ED-4DB2-BD59-A6C34878D82A}">
                    <a16:rowId xmlns:a16="http://schemas.microsoft.com/office/drawing/2014/main" val="10001"/>
                  </a:ext>
                </a:extLst>
              </a:tr>
              <a:tr h="1333500">
                <a:tc>
                  <a:txBody>
                    <a:bodyPr/>
                    <a:lstStyle/>
                    <a:p>
                      <a:pPr algn="l">
                        <a:lnSpc>
                          <a:spcPct val="104000"/>
                        </a:lnSpc>
                        <a:buNone/>
                      </a:pPr>
                      <a:r>
                        <a:rPr sz="1650" b="0">
                          <a:solidFill>
                            <a:srgbClr val="17325C"/>
                          </a:solidFill>
                          <a:latin typeface="Arial"/>
                          <a:ea typeface="Arial"/>
                          <a:cs typeface="Arial"/>
                        </a:rPr>
                        <a:t>Hold</a:t>
                      </a:r>
                    </a:p>
                    <a:p>
                      <a:pPr algn="l">
                        <a:lnSpc>
                          <a:spcPct val="104000"/>
                        </a:lnSpc>
                        <a:buNone/>
                      </a:pPr>
                      <a:r>
                        <a:rPr sz="1650" b="0">
                          <a:solidFill>
                            <a:srgbClr val="17325C"/>
                          </a:solidFill>
                          <a:latin typeface="Arial"/>
                          <a:ea typeface="Arial"/>
                          <a:cs typeface="Arial"/>
                        </a:rPr>
                        <a:t>Chờ/Lưu giữ</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Chờ gọi xác nhận, duyệt trả góp, soạn hàng; giữ hàng cho đơn sau đó bị hủy.</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Kéo dài chu kỳ; hạn chế hàng sẵn bán.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theo rủi ro; cam kết thời gian phản hồi; phân bổ nhân sự.</a:t>
                      </a:r>
                    </a:p>
                  </a:txBody>
                  <a:tcPr anchor="ctr">
                    <a:solidFill>
                      <a:srgbClr val="F1F6FC"/>
                    </a:solidFill>
                  </a:tcPr>
                </a:tc>
                <a:extLst>
                  <a:ext uri="{0D108BD9-81ED-4DB2-BD59-A6C34878D82A}">
                    <a16:rowId xmlns:a16="http://schemas.microsoft.com/office/drawing/2014/main" val="10002"/>
                  </a:ext>
                </a:extLst>
              </a:tr>
              <a:tr h="1219200">
                <a:tc>
                  <a:txBody>
                    <a:bodyPr/>
                    <a:lstStyle/>
                    <a:p>
                      <a:pPr algn="l">
                        <a:lnSpc>
                          <a:spcPct val="104000"/>
                        </a:lnSpc>
                        <a:buNone/>
                      </a:pPr>
                      <a:r>
                        <a:rPr sz="1650" b="0">
                          <a:solidFill>
                            <a:srgbClr val="17325C"/>
                          </a:solidFill>
                          <a:latin typeface="Arial"/>
                          <a:ea typeface="Arial"/>
                          <a:cs typeface="Arial"/>
                        </a:rPr>
                        <a:t>Overdo</a:t>
                      </a:r>
                    </a:p>
                    <a:p>
                      <a:pPr algn="l">
                        <a:lnSpc>
                          <a:spcPct val="104000"/>
                        </a:lnSpc>
                        <a:buNone/>
                      </a:pPr>
                      <a:r>
                        <a:rPr sz="1650" b="0">
                          <a:solidFill>
                            <a:srgbClr val="17325C"/>
                          </a:solidFill>
                          <a:latin typeface="Arial"/>
                          <a:ea typeface="Arial"/>
                          <a:cs typeface="Arial"/>
                        </a:rPr>
                        <a:t>Làm thừa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lại đơn đã trả tiền; nhập liệu trùng; sai IMEI/model dẫn đến làm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Tốn nhân lực, phát sinh lỗi và giảm trải nghiệm.</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Tích hợp dữ liệu; chuẩn hóa kiểm tra; quét mã thay nhập tay.</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46</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50367"/>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VII. PHÂN TÍCH THỜI GIAN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4" name="Table 113"/>
          <p:cNvGraphicFramePr/>
          <p:nvPr/>
        </p:nvGraphicFramePr>
        <p:xfrm>
          <a:off x="742950" y="1657350"/>
          <a:ext cx="10763250" cy="3810000"/>
        </p:xfrm>
        <a:graphic>
          <a:graphicData uri="http://schemas.openxmlformats.org/drawingml/2006/table">
            <a:tbl>
              <a:tblPr firstRow="1"/>
              <a:tblGrid>
                <a:gridCol w="6667500">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tblGrid>
              <a:tr h="38100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Xử lý (phút)</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Chờ (phút)</a:t>
                      </a:r>
                    </a:p>
                  </a:txBody>
                  <a:tcPr anchor="ctr">
                    <a:solidFill>
                      <a:srgbClr val="0B5ED7"/>
                    </a:solidFill>
                  </a:tcPr>
                </a:tc>
                <a:extLst>
                  <a:ext uri="{0D108BD9-81ED-4DB2-BD59-A6C34878D82A}">
                    <a16:rowId xmlns:a16="http://schemas.microsoft.com/office/drawing/2014/main" val="10000"/>
                  </a:ext>
                </a:extLst>
              </a:tr>
              <a:tr h="342900">
                <a:tc>
                  <a:txBody>
                    <a:bodyPr/>
                    <a:lstStyle/>
                    <a:p>
                      <a:pPr algn="l">
                        <a:lnSpc>
                          <a:spcPct val="104000"/>
                        </a:lnSpc>
                        <a:buNone/>
                      </a:pPr>
                      <a:r>
                        <a:rPr sz="1650" b="0">
                          <a:solidFill>
                            <a:srgbClr val="17325C"/>
                          </a:solidFill>
                          <a:latin typeface="Arial"/>
                          <a:ea typeface="Arial"/>
                          <a:cs typeface="Arial"/>
                        </a:rPr>
                        <a:t>Nhóm hoạt động tự động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342900">
                <a:tc>
                  <a:txBody>
                    <a:bodyPr/>
                    <a:lstStyle/>
                    <a:p>
                      <a:pPr algn="l">
                        <a:lnSpc>
                          <a:spcPct val="104000"/>
                        </a:lnSpc>
                        <a:buNone/>
                      </a:pPr>
                      <a:r>
                        <a:rPr sz="1650" b="0">
                          <a:solidFill>
                            <a:srgbClr val="17325C"/>
                          </a:solidFill>
                          <a:latin typeface="Arial"/>
                          <a:ea typeface="Arial"/>
                          <a:cs typeface="Arial"/>
                        </a:rPr>
                        <a:t>Gọi điện xác nhận đơn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240,0</a:t>
                      </a:r>
                    </a:p>
                  </a:txBody>
                  <a:tcPr anchor="ctr">
                    <a:solidFill>
                      <a:srgbClr val="F1F6FC"/>
                    </a:solidFill>
                  </a:tcPr>
                </a:tc>
                <a:extLst>
                  <a:ext uri="{0D108BD9-81ED-4DB2-BD59-A6C34878D82A}">
                    <a16:rowId xmlns:a16="http://schemas.microsoft.com/office/drawing/2014/main" val="10002"/>
                  </a:ext>
                </a:extLst>
              </a:tr>
              <a:tr h="342900">
                <a:tc>
                  <a:txBody>
                    <a:bodyPr/>
                    <a:lstStyle/>
                    <a:p>
                      <a:pPr algn="l">
                        <a:lnSpc>
                          <a:spcPct val="104000"/>
                        </a:lnSpc>
                        <a:buNone/>
                      </a:pPr>
                      <a:r>
                        <a:rPr sz="1650" b="0">
                          <a:solidFill>
                            <a:srgbClr val="17325C"/>
                          </a:solidFill>
                          <a:latin typeface="Arial"/>
                          <a:ea typeface="Arial"/>
                          <a:cs typeface="Arial"/>
                        </a:rPr>
                        <a:t>Thanh toán (bình quân có trọng số)</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4,85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74,4</a:t>
                      </a:r>
                    </a:p>
                  </a:txBody>
                  <a:tcPr anchor="ctr">
                    <a:solidFill>
                      <a:srgbClr val="FFFFFF"/>
                    </a:solidFill>
                  </a:tcPr>
                </a:tc>
                <a:extLst>
                  <a:ext uri="{0D108BD9-81ED-4DB2-BD59-A6C34878D82A}">
                    <a16:rowId xmlns:a16="http://schemas.microsoft.com/office/drawing/2014/main" val="10003"/>
                  </a:ext>
                </a:extLst>
              </a:tr>
              <a:tr h="342900">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90,0</a:t>
                      </a:r>
                    </a:p>
                  </a:txBody>
                  <a:tcPr anchor="ctr">
                    <a:solidFill>
                      <a:srgbClr val="F1F6FC"/>
                    </a:solidFill>
                  </a:tcPr>
                </a:tc>
                <a:extLst>
                  <a:ext uri="{0D108BD9-81ED-4DB2-BD59-A6C34878D82A}">
                    <a16:rowId xmlns:a16="http://schemas.microsoft.com/office/drawing/2014/main" val="10004"/>
                  </a:ext>
                </a:extLst>
              </a:tr>
              <a:tr h="342900">
                <a:tc>
                  <a:txBody>
                    <a:bodyPr/>
                    <a:lstStyle/>
                    <a:p>
                      <a:pPr algn="l">
                        <a:lnSpc>
                          <a:spcPct val="104000"/>
                        </a:lnSpc>
                        <a:buNone/>
                      </a:pPr>
                      <a:r>
                        <a:rPr sz="1650" b="0">
                          <a:solidFill>
                            <a:srgbClr val="17325C"/>
                          </a:solidFill>
                          <a:latin typeface="Arial"/>
                          <a:ea typeface="Arial"/>
                          <a:cs typeface="Arial"/>
                        </a:rPr>
                        <a:t>Quét IMEI, đóng gói, hóa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18,0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r h="342900">
                <a:tc>
                  <a:txBody>
                    <a:bodyPr/>
                    <a:lstStyle/>
                    <a:p>
                      <a:pPr algn="l">
                        <a:lnSpc>
                          <a:spcPct val="104000"/>
                        </a:lnSpc>
                        <a:buNone/>
                      </a:pPr>
                      <a:r>
                        <a:rPr sz="1650" b="0">
                          <a:solidFill>
                            <a:srgbClr val="17325C"/>
                          </a:solidFill>
                          <a:latin typeface="Arial"/>
                          <a:ea typeface="Arial"/>
                          <a:cs typeface="Arial"/>
                        </a:rPr>
                        <a:t>Bàn giao và giao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720,0</a:t>
                      </a:r>
                    </a:p>
                  </a:txBody>
                  <a:tcPr anchor="ctr">
                    <a:solidFill>
                      <a:srgbClr val="F1F6FC"/>
                    </a:solidFill>
                  </a:tcPr>
                </a:tc>
                <a:extLst>
                  <a:ext uri="{0D108BD9-81ED-4DB2-BD59-A6C34878D82A}">
                    <a16:rowId xmlns:a16="http://schemas.microsoft.com/office/drawing/2014/main" val="10006"/>
                  </a:ext>
                </a:extLst>
              </a:tr>
              <a:tr h="342900">
                <a:tc>
                  <a:txBody>
                    <a:bodyPr/>
                    <a:lstStyle/>
                    <a:p>
                      <a:pPr algn="l">
                        <a:lnSpc>
                          <a:spcPct val="104000"/>
                        </a:lnSpc>
                        <a:buNone/>
                      </a:pPr>
                      <a:r>
                        <a:rPr sz="1650" b="0">
                          <a:solidFill>
                            <a:srgbClr val="17325C"/>
                          </a:solidFill>
                          <a:latin typeface="Arial"/>
                          <a:ea typeface="Arial"/>
                          <a:cs typeface="Arial"/>
                        </a:rPr>
                        <a:t>Hẹn giao lại (trọng số 8%)</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115,2</a:t>
                      </a:r>
                    </a:p>
                  </a:txBody>
                  <a:tcPr anchor="ctr">
                    <a:solidFill>
                      <a:srgbClr val="FFFFFF"/>
                    </a:solidFill>
                  </a:tcPr>
                </a:tc>
                <a:extLst>
                  <a:ext uri="{0D108BD9-81ED-4DB2-BD59-A6C34878D82A}">
                    <a16:rowId xmlns:a16="http://schemas.microsoft.com/office/drawing/2014/main" val="10007"/>
                  </a:ext>
                </a:extLst>
              </a:tr>
              <a:tr h="342900">
                <a:tc>
                  <a:txBody>
                    <a:bodyPr/>
                    <a:lstStyle/>
                    <a:p>
                      <a:pPr algn="l">
                        <a:lnSpc>
                          <a:spcPct val="104000"/>
                        </a:lnSpc>
                        <a:buNone/>
                      </a:pPr>
                      <a:r>
                        <a:rPr sz="1650" b="0">
                          <a:solidFill>
                            <a:srgbClr val="17325C"/>
                          </a:solidFill>
                          <a:latin typeface="Arial"/>
                          <a:ea typeface="Arial"/>
                          <a:cs typeface="Arial"/>
                        </a:rPr>
                        <a:t>Đối soát COD</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1.440,0</a:t>
                      </a:r>
                    </a:p>
                  </a:txBody>
                  <a:tcPr anchor="ctr">
                    <a:solidFill>
                      <a:srgbClr val="F1F6FC"/>
                    </a:solidFill>
                  </a:tcPr>
                </a:tc>
                <a:extLst>
                  <a:ext uri="{0D108BD9-81ED-4DB2-BD59-A6C34878D82A}">
                    <a16:rowId xmlns:a16="http://schemas.microsoft.com/office/drawing/2014/main" val="10008"/>
                  </a:ext>
                </a:extLst>
              </a:tr>
              <a:tr h="342900">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9"/>
                  </a:ext>
                </a:extLst>
              </a:tr>
              <a:tr h="342900">
                <a:tc>
                  <a:txBody>
                    <a:bodyPr/>
                    <a:lstStyle/>
                    <a:p>
                      <a:pPr algn="l">
                        <a:lnSpc>
                          <a:spcPct val="104000"/>
                        </a:lnSpc>
                        <a:buNone/>
                      </a:pPr>
                      <a:r>
                        <a:rPr sz="1650" b="0">
                          <a:solidFill>
                            <a:srgbClr val="17325C"/>
                          </a:solidFill>
                          <a:latin typeface="Arial"/>
                          <a:ea typeface="Arial"/>
                          <a:cs typeface="Arial"/>
                        </a:rPr>
                        <a:t>Tổng cộng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96,25</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2.679,6</a:t>
                      </a:r>
                    </a:p>
                  </a:txBody>
                  <a:tcPr anchor="ctr">
                    <a:solidFill>
                      <a:srgbClr val="F1F6FC"/>
                    </a:solidFill>
                  </a:tcPr>
                </a:tc>
                <a:extLst>
                  <a:ext uri="{0D108BD9-81ED-4DB2-BD59-A6C34878D82A}">
                    <a16:rowId xmlns:a16="http://schemas.microsoft.com/office/drawing/2014/main" val="10010"/>
                  </a:ext>
                </a:extLst>
              </a:tr>
            </a:tbl>
          </a:graphicData>
        </a:graphic>
      </p:graphicFrame>
      <p:sp>
        <p:nvSpPr>
          <p:cNvPr id="62" name="Content Chu kỳ: 2.775,85 phút ≈ 46,26 giờ  ">
            <a:extLst>
              <a:ext uri="{FF2B5EF4-FFF2-40B4-BE49-F238E27FC236}">
                <a16:creationId xmlns:a16="http://schemas.microsoft.com/office/drawing/2014/main" id="{BFE32C11-709C-4A67-B729-C9B952C84D92}"/>
              </a:ext>
            </a:extLst>
          </p:cNvPr>
          <p:cNvSpPr>
            <a:spLocks noGrp="1"/>
          </p:cNvSpPr>
          <p:nvPr/>
        </p:nvSpPr>
        <p:spPr>
          <a:xfrm>
            <a:off x="742950" y="5534025"/>
            <a:ext cx="10763250" cy="53340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Chu kỳ: 2.775,85 phút ≈ 46,26 giờ  •  CTE = 96,25 / 2.775,85 = 3,47%</a:t>
            </a:r>
          </a:p>
        </p:txBody>
      </p:sp>
    </p:spTree>
    <p:extLst>
      <p:ext uri="{BB962C8B-B14F-4D97-AF65-F5344CB8AC3E}">
        <p14:creationId xmlns:p14="http://schemas.microsoft.com/office/powerpoint/2010/main" val="985234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47</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TỶ LỆ PHÂN NHÁNH: XÁC NHẬN VÀ THANH TOÁN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pic>
        <p:nvPicPr>
          <p:cNvPr id="118" name="Picture 117"/>
          <p:cNvPicPr>
            <a:picLocks noChangeAspect="1"/>
          </p:cNvPicPr>
          <p:nvPr/>
        </p:nvPicPr>
        <p:blipFill>
          <a:blip r:embed="rId3"/>
          <a:stretch/>
        </p:blipFill>
        <p:spPr>
          <a:xfrm>
            <a:off x="1107281" y="1809750"/>
            <a:ext cx="4510088" cy="1905000"/>
          </a:xfrm>
          <a:prstGeom prst="rect">
            <a:avLst/>
          </a:prstGeom>
        </p:spPr>
      </p:pic>
      <p:pic>
        <p:nvPicPr>
          <p:cNvPr id="119" name="Picture 118"/>
          <p:cNvPicPr>
            <a:picLocks noChangeAspect="1"/>
          </p:cNvPicPr>
          <p:nvPr/>
        </p:nvPicPr>
        <p:blipFill>
          <a:blip r:embed="rId4"/>
          <a:stretch/>
        </p:blipFill>
        <p:spPr>
          <a:xfrm>
            <a:off x="745507" y="4029814"/>
            <a:ext cx="5233635" cy="1512996"/>
          </a:xfrm>
          <a:prstGeom prst="rect">
            <a:avLst/>
          </a:prstGeom>
        </p:spPr>
      </p:pic>
      <p:graphicFrame>
        <p:nvGraphicFramePr>
          <p:cNvPr id="120" name="Table 119"/>
          <p:cNvGraphicFramePr/>
          <p:nvPr/>
        </p:nvGraphicFramePr>
        <p:xfrm>
          <a:off x="6267450" y="1828800"/>
          <a:ext cx="5238750" cy="3619500"/>
        </p:xfrm>
        <a:graphic>
          <a:graphicData uri="http://schemas.openxmlformats.org/drawingml/2006/table">
            <a:tbl>
              <a:tblPr firstRow="1"/>
              <a:tblGrid>
                <a:gridCol w="309562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tblGrid>
              <a:tr h="438150">
                <a:tc>
                  <a:txBody>
                    <a:bodyPr/>
                    <a:lstStyle/>
                    <a:p>
                      <a:pPr algn="l">
                        <a:lnSpc>
                          <a:spcPct val="104000"/>
                        </a:lnSpc>
                        <a:buNone/>
                      </a:pPr>
                      <a:r>
                        <a:rPr sz="1650" b="1">
                          <a:solidFill>
                            <a:srgbClr val="FFFFFF"/>
                          </a:solidFill>
                          <a:latin typeface="Arial"/>
                          <a:ea typeface="Arial"/>
                          <a:cs typeface="Arial"/>
                        </a:rPr>
                        <a:t>Cổng quyết định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Tỷ lệ</a:t>
                      </a:r>
                    </a:p>
                  </a:txBody>
                  <a:tcPr anchor="ctr">
                    <a:solidFill>
                      <a:srgbClr val="0B5ED7"/>
                    </a:solidFill>
                  </a:tcPr>
                </a:tc>
                <a:extLst>
                  <a:ext uri="{0D108BD9-81ED-4DB2-BD59-A6C34878D82A}">
                    <a16:rowId xmlns:a16="http://schemas.microsoft.com/office/drawing/2014/main" val="10000"/>
                  </a:ext>
                </a:extLst>
              </a:tr>
              <a:tr h="933450">
                <a:tc>
                  <a:txBody>
                    <a:bodyPr/>
                    <a:lstStyle/>
                    <a:p>
                      <a:pPr algn="l">
                        <a:lnSpc>
                          <a:spcPct val="104000"/>
                        </a:lnSpc>
                        <a:buNone/>
                      </a:pPr>
                      <a:r>
                        <a:rPr sz="1650" b="0">
                          <a:solidFill>
                            <a:srgbClr val="17325C"/>
                          </a:solidFill>
                          <a:latin typeface="Arial"/>
                          <a:ea typeface="Arial"/>
                          <a:cs typeface="Arial"/>
                        </a:rPr>
                        <a:t>Còn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Còn: 95%</a:t>
                      </a:r>
                    </a:p>
                    <a:p>
                      <a:pPr algn="l">
                        <a:lnSpc>
                          <a:spcPct val="104000"/>
                        </a:lnSpc>
                        <a:buNone/>
                      </a:pPr>
                      <a:r>
                        <a:rPr sz="1650" b="0">
                          <a:solidFill>
                            <a:srgbClr val="17325C"/>
                          </a:solidFill>
                          <a:latin typeface="Arial"/>
                          <a:ea typeface="Arial"/>
                          <a:cs typeface="Arial"/>
                        </a:rPr>
                        <a:t>Hết: 5%</a:t>
                      </a:r>
                    </a:p>
                  </a:txBody>
                  <a:tcPr anchor="ctr">
                    <a:solidFill>
                      <a:srgbClr val="FFFFFF"/>
                    </a:solidFill>
                  </a:tcPr>
                </a:tc>
                <a:extLst>
                  <a:ext uri="{0D108BD9-81ED-4DB2-BD59-A6C34878D82A}">
                    <a16:rowId xmlns:a16="http://schemas.microsoft.com/office/drawing/2014/main" val="10001"/>
                  </a:ext>
                </a:extLst>
              </a:tr>
              <a:tr h="933450">
                <a:tc>
                  <a:txBody>
                    <a:bodyPr/>
                    <a:lstStyle/>
                    <a:p>
                      <a:pPr algn="l">
                        <a:lnSpc>
                          <a:spcPct val="104000"/>
                        </a:lnSpc>
                        <a:buNone/>
                      </a:pPr>
                      <a:r>
                        <a:rPr sz="1650" b="0">
                          <a:solidFill>
                            <a:srgbClr val="17325C"/>
                          </a:solidFill>
                          <a:latin typeface="Arial"/>
                          <a:ea typeface="Arial"/>
                          <a:cs typeface="Arial"/>
                        </a:rPr>
                        <a:t>Khách xác nhận?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Có: 88%</a:t>
                      </a:r>
                    </a:p>
                    <a:p>
                      <a:pPr algn="l">
                        <a:lnSpc>
                          <a:spcPct val="104000"/>
                        </a:lnSpc>
                        <a:buNone/>
                      </a:pPr>
                      <a:r>
                        <a:rPr sz="1650" b="0">
                          <a:solidFill>
                            <a:srgbClr val="17325C"/>
                          </a:solidFill>
                          <a:latin typeface="Arial"/>
                          <a:ea typeface="Arial"/>
                          <a:cs typeface="Arial"/>
                        </a:rPr>
                        <a:t>Không: 12%</a:t>
                      </a:r>
                    </a:p>
                  </a:txBody>
                  <a:tcPr anchor="ctr">
                    <a:solidFill>
                      <a:srgbClr val="F1F6FC"/>
                    </a:solidFill>
                  </a:tcPr>
                </a:tc>
                <a:extLst>
                  <a:ext uri="{0D108BD9-81ED-4DB2-BD59-A6C34878D82A}">
                    <a16:rowId xmlns:a16="http://schemas.microsoft.com/office/drawing/2014/main" val="10002"/>
                  </a:ext>
                </a:extLst>
              </a:tr>
              <a:tr h="1314450">
                <a:tc>
                  <a:txBody>
                    <a:bodyPr/>
                    <a:lstStyle/>
                    <a:p>
                      <a:pPr algn="l">
                        <a:lnSpc>
                          <a:spcPct val="104000"/>
                        </a:lnSpc>
                        <a:buNone/>
                      </a:pPr>
                      <a:r>
                        <a:rPr sz="1650" b="0">
                          <a:solidFill>
                            <a:srgbClr val="17325C"/>
                          </a:solidFill>
                          <a:latin typeface="Arial"/>
                          <a:ea typeface="Arial"/>
                          <a:cs typeface="Arial"/>
                        </a:rPr>
                        <a:t>Phương thức</a:t>
                      </a:r>
                    </a:p>
                    <a:p>
                      <a:pPr algn="l">
                        <a:lnSpc>
                          <a:spcPct val="104000"/>
                        </a:lnSpc>
                        <a:buNone/>
                      </a:pPr>
                      <a:r>
                        <a:rPr sz="1650" b="0">
                          <a:solidFill>
                            <a:srgbClr val="17325C"/>
                          </a:solidFill>
                          <a:latin typeface="Arial"/>
                          <a:ea typeface="Arial"/>
                          <a:cs typeface="Arial"/>
                        </a:rPr>
                        <a:t>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COD: 67%</a:t>
                      </a:r>
                    </a:p>
                    <a:p>
                      <a:pPr algn="l">
                        <a:lnSpc>
                          <a:spcPct val="104000"/>
                        </a:lnSpc>
                        <a:buNone/>
                      </a:pPr>
                      <a:r>
                        <a:rPr sz="1650" b="0">
                          <a:solidFill>
                            <a:srgbClr val="17325C"/>
                          </a:solidFill>
                          <a:latin typeface="Arial"/>
                          <a:ea typeface="Arial"/>
                          <a:cs typeface="Arial"/>
                        </a:rPr>
                        <a:t>Online: 20%</a:t>
                      </a:r>
                    </a:p>
                    <a:p>
                      <a:pPr algn="l">
                        <a:lnSpc>
                          <a:spcPct val="104000"/>
                        </a:lnSpc>
                        <a:buNone/>
                      </a:pPr>
                      <a:r>
                        <a:rPr sz="1650" b="0">
                          <a:solidFill>
                            <a:srgbClr val="17325C"/>
                          </a:solidFill>
                          <a:latin typeface="Arial"/>
                          <a:ea typeface="Arial"/>
                          <a:cs typeface="Arial"/>
                        </a:rPr>
                        <a:t>Trả góp: 13%</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48</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TỶ LỆ PHÂN NHÁNH: DUYỆT VÀ GIAO HÀNG</a:t>
            </a:r>
          </a:p>
          <a:p>
            <a:pPr>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pic>
        <p:nvPicPr>
          <p:cNvPr id="118" name="Picture 117"/>
          <p:cNvPicPr>
            <a:picLocks noChangeAspect="1"/>
          </p:cNvPicPr>
          <p:nvPr/>
        </p:nvPicPr>
        <p:blipFill>
          <a:blip r:embed="rId3"/>
          <a:stretch/>
        </p:blipFill>
        <p:spPr>
          <a:xfrm>
            <a:off x="1614488" y="1733550"/>
            <a:ext cx="3495675" cy="1905000"/>
          </a:xfrm>
          <a:prstGeom prst="rect">
            <a:avLst/>
          </a:prstGeom>
        </p:spPr>
      </p:pic>
      <p:pic>
        <p:nvPicPr>
          <p:cNvPr id="119" name="Picture 118"/>
          <p:cNvPicPr>
            <a:picLocks noChangeAspect="1"/>
          </p:cNvPicPr>
          <p:nvPr/>
        </p:nvPicPr>
        <p:blipFill>
          <a:blip r:embed="rId4"/>
          <a:stretch/>
        </p:blipFill>
        <p:spPr>
          <a:xfrm>
            <a:off x="745508" y="4163020"/>
            <a:ext cx="5233634" cy="1218009"/>
          </a:xfrm>
          <a:prstGeom prst="rect">
            <a:avLst/>
          </a:prstGeom>
        </p:spPr>
      </p:pic>
      <p:graphicFrame>
        <p:nvGraphicFramePr>
          <p:cNvPr id="120" name="Table 119"/>
          <p:cNvGraphicFramePr/>
          <p:nvPr/>
        </p:nvGraphicFramePr>
        <p:xfrm>
          <a:off x="6267450" y="1771650"/>
          <a:ext cx="5238750" cy="3581400"/>
        </p:xfrm>
        <a:graphic>
          <a:graphicData uri="http://schemas.openxmlformats.org/drawingml/2006/table">
            <a:tbl>
              <a:tblPr firstRow="1"/>
              <a:tblGrid>
                <a:gridCol w="27622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Cổng quyết định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Tỷ lệ</a:t>
                      </a:r>
                    </a:p>
                  </a:txBody>
                  <a:tcPr anchor="ctr">
                    <a:solidFill>
                      <a:srgbClr val="0B5ED7"/>
                    </a:solidFill>
                  </a:tcPr>
                </a:tc>
                <a:extLst>
                  <a:ext uri="{0D108BD9-81ED-4DB2-BD59-A6C34878D82A}">
                    <a16:rowId xmlns:a16="http://schemas.microsoft.com/office/drawing/2014/main" val="10000"/>
                  </a:ext>
                </a:extLst>
              </a:tr>
              <a:tr h="790575">
                <a:tc>
                  <a:txBody>
                    <a:bodyPr/>
                    <a:lstStyle/>
                    <a:p>
                      <a:pPr algn="l">
                        <a:lnSpc>
                          <a:spcPct val="104000"/>
                        </a:lnSpc>
                        <a:buNone/>
                      </a:pPr>
                      <a:r>
                        <a:rPr sz="1650" b="0">
                          <a:solidFill>
                            <a:srgbClr val="17325C"/>
                          </a:solidFill>
                          <a:latin typeface="Arial"/>
                          <a:ea typeface="Arial"/>
                          <a:cs typeface="Arial"/>
                        </a:rPr>
                        <a:t>Hồ sơ trả góp?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Duyệt: 80%</a:t>
                      </a:r>
                    </a:p>
                    <a:p>
                      <a:pPr algn="l">
                        <a:lnSpc>
                          <a:spcPct val="104000"/>
                        </a:lnSpc>
                        <a:buNone/>
                      </a:pPr>
                      <a:r>
                        <a:rPr sz="1650" b="0">
                          <a:solidFill>
                            <a:srgbClr val="17325C"/>
                          </a:solidFill>
                          <a:latin typeface="Arial"/>
                          <a:ea typeface="Arial"/>
                          <a:cs typeface="Arial"/>
                        </a:rPr>
                        <a:t>Từ chối: 20%</a:t>
                      </a:r>
                    </a:p>
                  </a:txBody>
                  <a:tcPr anchor="ctr">
                    <a:solidFill>
                      <a:srgbClr val="FFFFFF"/>
                    </a:solidFill>
                  </a:tcPr>
                </a:tc>
                <a:extLst>
                  <a:ext uri="{0D108BD9-81ED-4DB2-BD59-A6C34878D82A}">
                    <a16:rowId xmlns:a16="http://schemas.microsoft.com/office/drawing/2014/main" val="10001"/>
                  </a:ext>
                </a:extLst>
              </a:tr>
              <a:tr h="790575">
                <a:tc>
                  <a:txBody>
                    <a:bodyPr/>
                    <a:lstStyle/>
                    <a:p>
                      <a:pPr algn="l">
                        <a:lnSpc>
                          <a:spcPct val="104000"/>
                        </a:lnSpc>
                        <a:buNone/>
                      </a:pPr>
                      <a:r>
                        <a:rPr sz="1650" b="0">
                          <a:solidFill>
                            <a:srgbClr val="17325C"/>
                          </a:solidFill>
                          <a:latin typeface="Arial"/>
                          <a:ea typeface="Arial"/>
                          <a:cs typeface="Arial"/>
                        </a:rPr>
                        <a:t>Thanh toán online?</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Thành công: 92%</a:t>
                      </a:r>
                    </a:p>
                    <a:p>
                      <a:pPr algn="l">
                        <a:lnSpc>
                          <a:spcPct val="104000"/>
                        </a:lnSpc>
                        <a:buNone/>
                      </a:pPr>
                      <a:r>
                        <a:rPr sz="1650" b="0">
                          <a:solidFill>
                            <a:srgbClr val="17325C"/>
                          </a:solidFill>
                          <a:latin typeface="Arial"/>
                          <a:ea typeface="Arial"/>
                          <a:cs typeface="Arial"/>
                        </a:rPr>
                        <a:t>Thất bại: 8%</a:t>
                      </a:r>
                    </a:p>
                  </a:txBody>
                  <a:tcPr anchor="ctr">
                    <a:solidFill>
                      <a:srgbClr val="F1F6FC"/>
                    </a:solidFill>
                  </a:tcPr>
                </a:tc>
                <a:extLst>
                  <a:ext uri="{0D108BD9-81ED-4DB2-BD59-A6C34878D82A}">
                    <a16:rowId xmlns:a16="http://schemas.microsoft.com/office/drawing/2014/main" val="10002"/>
                  </a:ext>
                </a:extLst>
              </a:tr>
              <a:tr h="790575">
                <a:tc>
                  <a:txBody>
                    <a:bodyPr/>
                    <a:lstStyle/>
                    <a:p>
                      <a:pPr algn="l">
                        <a:lnSpc>
                          <a:spcPct val="104000"/>
                        </a:lnSpc>
                        <a:buNone/>
                      </a:pPr>
                      <a:r>
                        <a:rPr sz="1650" b="0">
                          <a:solidFill>
                            <a:srgbClr val="17325C"/>
                          </a:solidFill>
                          <a:latin typeface="Arial"/>
                          <a:ea typeface="Arial"/>
                          <a:cs typeface="Arial"/>
                        </a:rPr>
                        <a:t>Hình thức nhận?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Tại nhà: 80%</a:t>
                      </a:r>
                    </a:p>
                    <a:p>
                      <a:pPr algn="l">
                        <a:lnSpc>
                          <a:spcPct val="104000"/>
                        </a:lnSpc>
                        <a:buNone/>
                      </a:pPr>
                      <a:r>
                        <a:rPr sz="1650" b="0">
                          <a:solidFill>
                            <a:srgbClr val="17325C"/>
                          </a:solidFill>
                          <a:latin typeface="Arial"/>
                          <a:ea typeface="Arial"/>
                          <a:cs typeface="Arial"/>
                        </a:rPr>
                        <a:t>Tại cửa hàng: 20%</a:t>
                      </a:r>
                    </a:p>
                  </a:txBody>
                  <a:tcPr anchor="ctr">
                    <a:solidFill>
                      <a:srgbClr val="FFFFFF"/>
                    </a:solidFill>
                  </a:tcPr>
                </a:tc>
                <a:extLst>
                  <a:ext uri="{0D108BD9-81ED-4DB2-BD59-A6C34878D82A}">
                    <a16:rowId xmlns:a16="http://schemas.microsoft.com/office/drawing/2014/main" val="10003"/>
                  </a:ext>
                </a:extLst>
              </a:tr>
              <a:tr h="790575">
                <a:tc>
                  <a:txBody>
                    <a:bodyPr/>
                    <a:lstStyle/>
                    <a:p>
                      <a:pPr algn="l">
                        <a:lnSpc>
                          <a:spcPct val="104000"/>
                        </a:lnSpc>
                        <a:buNone/>
                      </a:pPr>
                      <a:r>
                        <a:rPr sz="1650" b="0">
                          <a:solidFill>
                            <a:srgbClr val="17325C"/>
                          </a:solidFill>
                          <a:latin typeface="Arial"/>
                          <a:ea typeface="Arial"/>
                          <a:cs typeface="Arial"/>
                        </a:rPr>
                        <a:t>Giao lần đầu?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Thành công: 90%</a:t>
                      </a:r>
                    </a:p>
                    <a:p>
                      <a:pPr algn="l">
                        <a:lnSpc>
                          <a:spcPct val="104000"/>
                        </a:lnSpc>
                        <a:buNone/>
                      </a:pPr>
                      <a:r>
                        <a:rPr sz="1650" b="0">
                          <a:solidFill>
                            <a:srgbClr val="17325C"/>
                          </a:solidFill>
                          <a:latin typeface="Arial"/>
                          <a:ea typeface="Arial"/>
                          <a:cs typeface="Arial"/>
                        </a:rPr>
                        <a:t>Không thành công: 10%</a:t>
                      </a:r>
                    </a:p>
                  </a:txBody>
                  <a:tcPr anchor="ctr">
                    <a:solidFill>
                      <a:srgbClr val="F1F6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49</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CHẤT LƯỢNG</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40957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438150">
                <a:tc>
                  <a:txBody>
                    <a:bodyPr/>
                    <a:lstStyle/>
                    <a:p>
                      <a:pPr algn="l">
                        <a:lnSpc>
                          <a:spcPct val="104000"/>
                        </a:lnSpc>
                        <a:buNone/>
                      </a:pPr>
                      <a:r>
                        <a:rPr sz="1650" b="1">
                          <a:solidFill>
                            <a:srgbClr val="FFFFFF"/>
                          </a:solidFill>
                          <a:latin typeface="Arial"/>
                          <a:ea typeface="Arial"/>
                          <a:cs typeface="Arial"/>
                        </a:rPr>
                        <a:t>Chỉ tiêu theo mô hình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Kết quả</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Ý nghĩa</a:t>
                      </a:r>
                    </a:p>
                  </a:txBody>
                  <a:tcPr anchor="ctr">
                    <a:solidFill>
                      <a:srgbClr val="0B5ED7"/>
                    </a:solidFill>
                  </a:tcPr>
                </a:tc>
                <a:extLst>
                  <a:ext uri="{0D108BD9-81ED-4DB2-BD59-A6C34878D82A}">
                    <a16:rowId xmlns:a16="http://schemas.microsoft.com/office/drawing/2014/main" val="10000"/>
                  </a:ext>
                </a:extLst>
              </a:tr>
              <a:tr h="733425">
                <a:tc>
                  <a:txBody>
                    <a:bodyPr/>
                    <a:lstStyle/>
                    <a:p>
                      <a:pPr algn="l">
                        <a:lnSpc>
                          <a:spcPct val="104000"/>
                        </a:lnSpc>
                        <a:buNone/>
                      </a:pPr>
                      <a:r>
                        <a:rPr sz="1650" b="0">
                          <a:solidFill>
                            <a:srgbClr val="17325C"/>
                          </a:solidFill>
                          <a:latin typeface="Arial"/>
                          <a:ea typeface="Arial"/>
                          <a:cs typeface="Arial"/>
                        </a:rPr>
                        <a:t>Đơn còn hàng / 100 đơn khởi tạo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95,0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5 đơn thiếu hàng theo tỷ lệ phân nhánh.</a:t>
                      </a:r>
                    </a:p>
                  </a:txBody>
                  <a:tcPr anchor="ctr">
                    <a:solidFill>
                      <a:srgbClr val="FFFFFF"/>
                    </a:solidFill>
                  </a:tcPr>
                </a:tc>
                <a:extLst>
                  <a:ext uri="{0D108BD9-81ED-4DB2-BD59-A6C34878D82A}">
                    <a16:rowId xmlns:a16="http://schemas.microsoft.com/office/drawing/2014/main" val="10001"/>
                  </a:ext>
                </a:extLst>
              </a:tr>
              <a:tr h="733425">
                <a:tc>
                  <a:txBody>
                    <a:bodyPr/>
                    <a:lstStyle/>
                    <a:p>
                      <a:pPr algn="l">
                        <a:lnSpc>
                          <a:spcPct val="104000"/>
                        </a:lnSpc>
                        <a:buNone/>
                      </a:pPr>
                      <a:r>
                        <a:rPr sz="1650" b="0">
                          <a:solidFill>
                            <a:srgbClr val="17325C"/>
                          </a:solidFill>
                          <a:latin typeface="Arial"/>
                          <a:ea typeface="Arial"/>
                          <a:cs typeface="Arial"/>
                        </a:rPr>
                        <a:t>Đơn được xác nhận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83,6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95 × 88%; mất 11,4 đơn tại bước xác nhận.</a:t>
                      </a:r>
                    </a:p>
                  </a:txBody>
                  <a:tcPr anchor="ctr">
                    <a:solidFill>
                      <a:srgbClr val="F1F6FC"/>
                    </a:solidFill>
                  </a:tcPr>
                </a:tc>
                <a:extLst>
                  <a:ext uri="{0D108BD9-81ED-4DB2-BD59-A6C34878D82A}">
                    <a16:rowId xmlns:a16="http://schemas.microsoft.com/office/drawing/2014/main" val="10002"/>
                  </a:ext>
                </a:extLst>
              </a:tr>
              <a:tr h="733425">
                <a:tc>
                  <a:txBody>
                    <a:bodyPr/>
                    <a:lstStyle/>
                    <a:p>
                      <a:pPr algn="l">
                        <a:lnSpc>
                          <a:spcPct val="104000"/>
                        </a:lnSpc>
                        <a:buNone/>
                      </a:pPr>
                      <a:r>
                        <a:rPr sz="1650" b="0">
                          <a:solidFill>
                            <a:srgbClr val="17325C"/>
                          </a:solidFill>
                          <a:latin typeface="Arial"/>
                          <a:ea typeface="Arial"/>
                          <a:cs typeface="Arial"/>
                        </a:rPr>
                        <a:t>Đơn qua bước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 80,1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COD + online thành công + trả góp được duyệt.</a:t>
                      </a:r>
                    </a:p>
                  </a:txBody>
                  <a:tcPr anchor="ctr">
                    <a:solidFill>
                      <a:srgbClr val="FFFFFF"/>
                    </a:solidFill>
                  </a:tcPr>
                </a:tc>
                <a:extLst>
                  <a:ext uri="{0D108BD9-81ED-4DB2-BD59-A6C34878D82A}">
                    <a16:rowId xmlns:a16="http://schemas.microsoft.com/office/drawing/2014/main" val="10003"/>
                  </a:ext>
                </a:extLst>
              </a:tr>
              <a:tr h="733425">
                <a:tc>
                  <a:txBody>
                    <a:bodyPr/>
                    <a:lstStyle/>
                    <a:p>
                      <a:pPr algn="l">
                        <a:lnSpc>
                          <a:spcPct val="104000"/>
                        </a:lnSpc>
                        <a:buNone/>
                      </a:pPr>
                      <a:r>
                        <a:rPr sz="1650" b="0">
                          <a:solidFill>
                            <a:srgbClr val="17325C"/>
                          </a:solidFill>
                          <a:latin typeface="Arial"/>
                          <a:ea typeface="Arial"/>
                          <a:cs typeface="Arial"/>
                        </a:rPr>
                        <a:t>Đơn hoàn tất</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 78,2%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Kết quả tổng hợp theo các giả định trong báo cáo.</a:t>
                      </a:r>
                    </a:p>
                  </a:txBody>
                  <a:tcPr anchor="ctr">
                    <a:solidFill>
                      <a:srgbClr val="F1F6FC"/>
                    </a:solidFill>
                  </a:tcPr>
                </a:tc>
                <a:extLst>
                  <a:ext uri="{0D108BD9-81ED-4DB2-BD59-A6C34878D82A}">
                    <a16:rowId xmlns:a16="http://schemas.microsoft.com/office/drawing/2014/main" val="10004"/>
                  </a:ext>
                </a:extLst>
              </a:tr>
              <a:tr h="838200">
                <a:tc>
                  <a:txBody>
                    <a:bodyPr/>
                    <a:lstStyle/>
                    <a:p>
                      <a:pPr algn="l">
                        <a:lnSpc>
                          <a:spcPct val="104000"/>
                        </a:lnSpc>
                        <a:buNone/>
                      </a:pPr>
                      <a:r>
                        <a:rPr sz="1650" b="0">
                          <a:solidFill>
                            <a:srgbClr val="17325C"/>
                          </a:solidFill>
                          <a:latin typeface="Arial"/>
                          <a:ea typeface="Arial"/>
                          <a:cs typeface="Arial"/>
                        </a:rPr>
                        <a:t>Ưu tiên cải tiến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giao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tầng xác nhận theo rủi ro; hẹn giao và chuẩn hóa địa chỉ.</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50</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CHI PHÍ</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3"/>
          <p:cNvGraphicFramePr/>
          <p:nvPr>
            <p:extLst>
              <p:ext uri="{D42A27DB-BD31-4B8C-83A1-F6EECF244321}">
                <p14:modId xmlns:p14="http://schemas.microsoft.com/office/powerpoint/2010/main" val="1884479686"/>
              </p:ext>
            </p:extLst>
          </p:nvPr>
        </p:nvGraphicFramePr>
        <p:xfrm>
          <a:off x="742950" y="1676400"/>
          <a:ext cx="10763250" cy="3971925"/>
        </p:xfrm>
        <a:graphic>
          <a:graphicData uri="http://schemas.openxmlformats.org/drawingml/2006/table">
            <a:tbl>
              <a:tblPr firstRow="1"/>
              <a:tblGrid>
                <a:gridCol w="385762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tính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Chi phí (đ)</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B5ED7"/>
                    </a:solidFill>
                  </a:tcPr>
                </a:tc>
                <a:extLst>
                  <a:ext uri="{0D108BD9-81ED-4DB2-BD59-A6C34878D82A}">
                    <a16:rowId xmlns:a16="http://schemas.microsoft.com/office/drawing/2014/main" val="10000"/>
                  </a:ext>
                </a:extLst>
              </a:tr>
              <a:tr h="504825">
                <a:tc>
                  <a:txBody>
                    <a:bodyPr/>
                    <a:lstStyle/>
                    <a:p>
                      <a:pPr algn="l">
                        <a:lnSpc>
                          <a:spcPct val="104000"/>
                        </a:lnSpc>
                        <a:buNone/>
                      </a:pPr>
                      <a:r>
                        <a:rPr sz="1650" b="0">
                          <a:solidFill>
                            <a:srgbClr val="17325C"/>
                          </a:solidFill>
                          <a:latin typeface="Arial"/>
                          <a:ea typeface="Arial"/>
                          <a:cs typeface="Arial"/>
                        </a:rPr>
                        <a:t>Hoạt động tự động + SMS/Email</a:t>
                      </a:r>
                    </a:p>
                  </a:txBody>
                  <a:tcPr anchor="ctr">
                    <a:solidFill>
                      <a:srgbClr val="FFFFFF"/>
                    </a:solidFill>
                  </a:tcPr>
                </a:tc>
                <a:tc>
                  <a:txBody>
                    <a:bodyPr/>
                    <a:lstStyle/>
                    <a:p>
                      <a:pPr algn="l">
                        <a:lnSpc>
                          <a:spcPct val="104000"/>
                        </a:lnSpc>
                        <a:buNone/>
                      </a:pPr>
                      <a:r>
                        <a:rPr sz="1650" b="0" dirty="0">
                          <a:solidFill>
                            <a:srgbClr val="17325C"/>
                          </a:solidFill>
                          <a:latin typeface="Arial"/>
                          <a:ea typeface="Arial"/>
                          <a:cs typeface="Arial"/>
                        </a:rPr>
                        <a:t>8 × 250 + </a:t>
                      </a:r>
                      <a:r>
                        <a:rPr lang="en-US" sz="1650" b="0" dirty="0">
                          <a:solidFill>
                            <a:srgbClr val="17325C"/>
                          </a:solidFill>
                          <a:latin typeface="Arial"/>
                          <a:ea typeface="Arial"/>
                          <a:cs typeface="Arial"/>
                        </a:rPr>
                        <a:t>5</a:t>
                      </a:r>
                      <a:r>
                        <a:rPr sz="1650" b="0" dirty="0">
                          <a:solidFill>
                            <a:srgbClr val="17325C"/>
                          </a:solidFill>
                          <a:latin typeface="Arial"/>
                          <a:ea typeface="Arial"/>
                          <a:cs typeface="Arial"/>
                        </a:rPr>
                        <a:t>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504825">
                <a:tc>
                  <a:txBody>
                    <a:bodyPr/>
                    <a:lstStyle/>
                    <a:p>
                      <a:pPr algn="l">
                        <a:lnSpc>
                          <a:spcPct val="104000"/>
                        </a:lnSpc>
                        <a:buNone/>
                      </a:pPr>
                      <a:r>
                        <a:rPr sz="1650" b="0">
                          <a:solidFill>
                            <a:srgbClr val="17325C"/>
                          </a:solidFill>
                          <a:latin typeface="Arial"/>
                          <a:ea typeface="Arial"/>
                          <a:cs typeface="Arial"/>
                        </a:rPr>
                        <a:t>Gọi điện xác nhận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 phút × 1.400 × 1,4 lần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9.800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504825">
                <a:tc>
                  <a:txBody>
                    <a:bodyPr/>
                    <a:lstStyle/>
                    <a:p>
                      <a:pPr algn="l">
                        <a:lnSpc>
                          <a:spcPct val="104000"/>
                        </a:lnSpc>
                        <a:buNone/>
                      </a:pPr>
                      <a:r>
                        <a:rPr sz="1650" b="0">
                          <a:solidFill>
                            <a:srgbClr val="17325C"/>
                          </a:solidFill>
                          <a:latin typeface="Arial"/>
                          <a:ea typeface="Arial"/>
                          <a:cs typeface="Arial"/>
                        </a:rPr>
                        <a:t>Xử lý thanh toán (trả góp +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(25×1.400×0,13) + (3×1.400×0,20)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5.390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504825">
                <a:tc>
                  <a:txBody>
                    <a:bodyPr/>
                    <a:lstStyle/>
                    <a:p>
                      <a:pPr algn="l">
                        <a:lnSpc>
                          <a:spcPct val="104000"/>
                        </a:lnSpc>
                        <a:buNone/>
                      </a:pPr>
                      <a:r>
                        <a:rPr sz="1650" b="0">
                          <a:solidFill>
                            <a:srgbClr val="17325C"/>
                          </a:solidFill>
                          <a:latin typeface="Arial"/>
                          <a:ea typeface="Arial"/>
                          <a:cs typeface="Arial"/>
                        </a:rPr>
                        <a:t>Phí cổng thanh toán trực tuyến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9.000.000 × 1,1% × 20%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19.800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504825">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15 × 1.300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19.500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5"/>
                  </a:ext>
                </a:extLst>
              </a:tr>
              <a:tr h="504825">
                <a:tc>
                  <a:txBody>
                    <a:bodyPr/>
                    <a:lstStyle/>
                    <a:p>
                      <a:pPr algn="l">
                        <a:lnSpc>
                          <a:spcPct val="104000"/>
                        </a:lnSpc>
                        <a:buNone/>
                      </a:pPr>
                      <a:r>
                        <a:rPr sz="1650" b="0">
                          <a:solidFill>
                            <a:srgbClr val="17325C"/>
                          </a:solidFill>
                          <a:latin typeface="Arial"/>
                          <a:ea typeface="Arial"/>
                          <a:cs typeface="Arial"/>
                        </a:rPr>
                        <a:t>Quét và ghi nhận IMEI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 × 1.300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6.500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6"/>
                  </a:ext>
                </a:extLst>
              </a:tr>
              <a:tr h="504825">
                <a:tc>
                  <a:txBody>
                    <a:bodyPr/>
                    <a:lstStyle/>
                    <a:p>
                      <a:pPr algn="l">
                        <a:lnSpc>
                          <a:spcPct val="104000"/>
                        </a:lnSpc>
                        <a:buNone/>
                      </a:pPr>
                      <a:r>
                        <a:rPr sz="1650" b="0">
                          <a:solidFill>
                            <a:srgbClr val="17325C"/>
                          </a:solidFill>
                          <a:latin typeface="Arial"/>
                          <a:ea typeface="Arial"/>
                          <a:cs typeface="Arial"/>
                        </a:rPr>
                        <a:t>Đóng gói, dán tem + vật tư</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10 × 1.300 + 15.000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28.000</a:t>
                      </a:r>
                    </a:p>
                  </a:txBody>
                  <a:tcPr anchor="ctr">
                    <a:solidFill>
                      <a:srgbClr val="FFFFFF"/>
                    </a:solidFill>
                  </a:tcPr>
                </a:tc>
                <a:tc>
                  <a:txBody>
                    <a:bodyPr/>
                    <a:lstStyle/>
                    <a:p>
                      <a:pPr algn="l">
                        <a:lnSpc>
                          <a:spcPct val="104000"/>
                        </a:lnSpc>
                        <a:buNone/>
                      </a:pPr>
                      <a:r>
                        <a:rPr sz="1650" b="0" dirty="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51</a:t>
            </a:r>
          </a:p>
        </p:txBody>
      </p:sp>
      <p:graphicFrame>
        <p:nvGraphicFramePr>
          <p:cNvPr id="113" name="Table 113"/>
          <p:cNvGraphicFramePr/>
          <p:nvPr/>
        </p:nvGraphicFramePr>
        <p:xfrm>
          <a:off x="742950" y="1676400"/>
          <a:ext cx="10763250" cy="3971925"/>
        </p:xfrm>
        <a:graphic>
          <a:graphicData uri="http://schemas.openxmlformats.org/drawingml/2006/table">
            <a:tbl>
              <a:tblPr firstRow="1"/>
              <a:tblGrid>
                <a:gridCol w="385762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tính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Chi phí (đ)</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B5ED7"/>
                    </a:solidFill>
                  </a:tcPr>
                </a:tc>
                <a:extLst>
                  <a:ext uri="{0D108BD9-81ED-4DB2-BD59-A6C34878D82A}">
                    <a16:rowId xmlns:a16="http://schemas.microsoft.com/office/drawing/2014/main" val="10000"/>
                  </a:ext>
                </a:extLst>
              </a:tr>
              <a:tr h="504825">
                <a:tc>
                  <a:txBody>
                    <a:bodyPr/>
                    <a:lstStyle/>
                    <a:p>
                      <a:pPr algn="l">
                        <a:lnSpc>
                          <a:spcPct val="104000"/>
                        </a:lnSpc>
                        <a:buNone/>
                      </a:pPr>
                      <a:r>
                        <a:rPr sz="1650" b="0">
                          <a:solidFill>
                            <a:srgbClr val="17325C"/>
                          </a:solidFill>
                          <a:latin typeface="Arial"/>
                          <a:ea typeface="Arial"/>
                          <a:cs typeface="Arial"/>
                        </a:rPr>
                        <a:t>Xuất hóa đơn VAT điện tử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 × 1.300 + 500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4.400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504825">
                <a:tc>
                  <a:txBody>
                    <a:bodyPr/>
                    <a:lstStyle/>
                    <a:p>
                      <a:pPr algn="l">
                        <a:lnSpc>
                          <a:spcPct val="104000"/>
                        </a:lnSpc>
                        <a:buNone/>
                      </a:pPr>
                      <a:r>
                        <a:rPr sz="1650" b="0">
                          <a:solidFill>
                            <a:srgbClr val="17325C"/>
                          </a:solidFill>
                          <a:latin typeface="Arial"/>
                          <a:ea typeface="Arial"/>
                          <a:cs typeface="Arial"/>
                        </a:rPr>
                        <a:t>Bàn giao và giao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0,2×19.500 + 0,8×(13.000+30.000)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38.300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2"/>
                  </a:ext>
                </a:extLst>
              </a:tr>
              <a:tr h="504825">
                <a:tc>
                  <a:txBody>
                    <a:bodyPr/>
                    <a:lstStyle/>
                    <a:p>
                      <a:pPr algn="l">
                        <a:lnSpc>
                          <a:spcPct val="104000"/>
                        </a:lnSpc>
                        <a:buNone/>
                      </a:pPr>
                      <a:r>
                        <a:rPr sz="1650" b="0">
                          <a:solidFill>
                            <a:srgbClr val="17325C"/>
                          </a:solidFill>
                          <a:latin typeface="Arial"/>
                          <a:ea typeface="Arial"/>
                          <a:cs typeface="Arial"/>
                        </a:rPr>
                        <a:t>Hẹn giao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10% × 80% × 30.000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3"/>
                  </a:ext>
                </a:extLst>
              </a:tr>
              <a:tr h="504825">
                <a:tc>
                  <a:txBody>
                    <a:bodyPr/>
                    <a:lstStyle/>
                    <a:p>
                      <a:pPr algn="l">
                        <a:lnSpc>
                          <a:spcPct val="104000"/>
                        </a:lnSpc>
                        <a:buNone/>
                      </a:pPr>
                      <a:r>
                        <a:rPr sz="1650" b="0">
                          <a:solidFill>
                            <a:srgbClr val="17325C"/>
                          </a:solidFill>
                          <a:latin typeface="Arial"/>
                          <a:ea typeface="Arial"/>
                          <a:cs typeface="Arial"/>
                        </a:rPr>
                        <a:t>Hoàn hàng và nhập kho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 × 80% × 43.000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1.030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4"/>
                  </a:ext>
                </a:extLst>
              </a:tr>
              <a:tr h="504825">
                <a:tc>
                  <a:txBody>
                    <a:bodyPr/>
                    <a:lstStyle/>
                    <a:p>
                      <a:pPr algn="l">
                        <a:lnSpc>
                          <a:spcPct val="104000"/>
                        </a:lnSpc>
                        <a:buNone/>
                      </a:pPr>
                      <a:r>
                        <a:rPr sz="1650" b="0">
                          <a:solidFill>
                            <a:srgbClr val="17325C"/>
                          </a:solidFill>
                          <a:latin typeface="Arial"/>
                          <a:ea typeface="Arial"/>
                          <a:cs typeface="Arial"/>
                        </a:rPr>
                        <a:t>Đối soát COD</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bổ theo lô</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504825">
                <a:tc>
                  <a:txBody>
                    <a:bodyPr/>
                    <a:lstStyle/>
                    <a:p>
                      <a:pPr algn="l">
                        <a:lnSpc>
                          <a:spcPct val="104000"/>
                        </a:lnSpc>
                        <a:buNone/>
                      </a:pPr>
                      <a:r>
                        <a:rPr sz="1650" b="0">
                          <a:solidFill>
                            <a:srgbClr val="17325C"/>
                          </a:solidFill>
                          <a:latin typeface="Arial"/>
                          <a:ea typeface="Arial"/>
                          <a:cs typeface="Arial"/>
                        </a:rPr>
                        <a:t>Xử lý hủy đơn và thông báo khách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21,8% × 10 phút × 1.400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3.050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6"/>
                  </a:ext>
                </a:extLst>
              </a:tr>
              <a:tr h="504825">
                <a:tc gridSpan="2">
                  <a:txBody>
                    <a:bodyPr/>
                    <a:lstStyle/>
                    <a:p>
                      <a:pPr algn="l">
                        <a:lnSpc>
                          <a:spcPct val="104000"/>
                        </a:lnSpc>
                        <a:buNone/>
                      </a:pPr>
                      <a:r>
                        <a:rPr sz="1650" b="0">
                          <a:solidFill>
                            <a:srgbClr val="17325C"/>
                          </a:solidFill>
                          <a:latin typeface="Arial"/>
                          <a:ea typeface="Arial"/>
                          <a:cs typeface="Arial"/>
                        </a:rPr>
                        <a:t>Tổng chi phí/đơn khởi tạo</a:t>
                      </a:r>
                    </a:p>
                  </a:txBody>
                  <a:tcPr anchor="ctr">
                    <a:solidFill>
                      <a:srgbClr val="FFFFFF"/>
                    </a:solidFill>
                  </a:tcPr>
                </a:tc>
                <a:tc hMerge="1">
                  <a:txBody>
                    <a:bodyPr/>
                    <a:lstStyle/>
                    <a:p>
                      <a:endParaRP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142.670</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7"/>
                  </a:ext>
                </a:extLst>
              </a:tr>
            </a:tbl>
          </a:graphicData>
        </a:graphic>
      </p:graphicFrame>
      <p:sp>
        <p:nvSpPr>
          <p:cNvPr id="62" name="Content VA: 85.800 đ  •  BVA: 50.390 đ  •  ">
            <a:extLst>
              <a:ext uri="{FF2B5EF4-FFF2-40B4-BE49-F238E27FC236}">
                <a16:creationId xmlns:a16="http://schemas.microsoft.com/office/drawing/2014/main" id="{28B187D9-3A27-4D11-902F-DB398054141C}"/>
              </a:ext>
            </a:extLst>
          </p:cNvPr>
          <p:cNvSpPr>
            <a:spLocks noGrp="1"/>
          </p:cNvSpPr>
          <p:nvPr/>
        </p:nvSpPr>
        <p:spPr>
          <a:xfrm>
            <a:off x="742950" y="5715000"/>
            <a:ext cx="10763250" cy="495300"/>
          </a:xfrm>
          <a:prstGeom prst="rect">
            <a:avLst/>
          </a:prstGeom>
          <a:noFill/>
          <a:ln w="0">
            <a:noFill/>
          </a:ln>
        </p:spPr>
        <p:txBody>
          <a:bodyPr wrap="square" lIns="0" tIns="0" rIns="0" bIns="0"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VA: 85.800 đ  •  BVA: 50.390 đ  •  NVA: 6.480 đ
Chi phí/đơn hoàn tất ≈ 182.442 đ (142.670 / 78,2%).</a:t>
            </a:r>
          </a:p>
        </p:txBody>
      </p:sp>
      <p:sp>
        <p:nvSpPr>
          <p:cNvPr id="6" name="Rectangle 5">
            <a:extLst>
              <a:ext uri="{FF2B5EF4-FFF2-40B4-BE49-F238E27FC236}">
                <a16:creationId xmlns:a16="http://schemas.microsoft.com/office/drawing/2014/main" id="{1FF8B43E-B65B-121D-08AA-AE6B616F0DE0}"/>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CHI PHÍ</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52</a:t>
            </a:r>
          </a:p>
        </p:txBody>
      </p:sp>
      <p:sp>
        <p:nvSpPr>
          <p:cNvPr id="60" name="Rectangle 59">
            <a:extLst>
              <a:ext uri="{FF2B5EF4-FFF2-40B4-BE49-F238E27FC236}">
                <a16:creationId xmlns:a16="http://schemas.microsoft.com/office/drawing/2014/main" id="{00E387D5-AD0D-489D-B892-3D1FB1634AE1}"/>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VIII. PHÂN TÍCH CÁC BÊN LIÊN QUAN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95300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Bên liên quan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Quan tâm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Lợi ích/Kỳ vọng</a:t>
                      </a: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Xử lý nhanh; đúng hàng, đúng hẹn; theo dõi được đơn.</a:t>
                      </a:r>
                    </a:p>
                  </a:txBody>
                  <a:tcPr anchor="ctr">
                    <a:solidFill>
                      <a:srgbClr val="FFFFFF"/>
                    </a:solidFill>
                  </a:tcPr>
                </a:tc>
                <a:extLst>
                  <a:ext uri="{0D108BD9-81ED-4DB2-BD59-A6C34878D82A}">
                    <a16:rowId xmlns:a16="http://schemas.microsoft.com/office/drawing/2014/main" val="10001"/>
                  </a:ext>
                </a:extLst>
              </a:tr>
              <a:tr h="628650">
                <a:tc>
                  <a:txBody>
                    <a:bodyPr/>
                    <a:lstStyle/>
                    <a:p>
                      <a:pPr algn="l">
                        <a:lnSpc>
                          <a:spcPct val="104000"/>
                        </a:lnSpc>
                        <a:buNone/>
                      </a:pPr>
                      <a:r>
                        <a:rPr sz="1650" b="0">
                          <a:solidFill>
                            <a:srgbClr val="17325C"/>
                          </a:solidFill>
                          <a:latin typeface="Arial"/>
                          <a:ea typeface="Arial"/>
                          <a:cs typeface="Arial"/>
                        </a:rPr>
                        <a:t>Ban lãnh đạo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Tăng tỷ lệ hoàn tất, hiệu quả vận hành và khả năng mở rộng.</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650" b="0">
                          <a:solidFill>
                            <a:srgbClr val="17325C"/>
                          </a:solidFill>
                          <a:latin typeface="Arial"/>
                          <a:ea typeface="Arial"/>
                          <a:cs typeface="Arial"/>
                        </a:rPr>
                        <a:t>Telesales/CSKH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Giảm gọi lặp lại; tập trung tư vấn và xử lý ngoại lệ.</a:t>
                      </a:r>
                    </a:p>
                  </a:txBody>
                  <a:tcPr anchor="ctr">
                    <a:solidFill>
                      <a:srgbClr val="FFFFFF"/>
                    </a:solidFill>
                  </a:tcPr>
                </a:tc>
                <a:extLst>
                  <a:ext uri="{0D108BD9-81ED-4DB2-BD59-A6C34878D82A}">
                    <a16:rowId xmlns:a16="http://schemas.microsoft.com/office/drawing/2014/main" val="10003"/>
                  </a:ext>
                </a:extLst>
              </a:tr>
              <a:tr h="628650">
                <a:tc>
                  <a:txBody>
                    <a:bodyPr/>
                    <a:lstStyle/>
                    <a:p>
                      <a:pPr algn="l">
                        <a:lnSpc>
                          <a:spcPct val="104000"/>
                        </a:lnSpc>
                        <a:buNone/>
                      </a:pPr>
                      <a:r>
                        <a:rPr sz="1650" b="0">
                          <a:solidFill>
                            <a:srgbClr val="17325C"/>
                          </a:solidFill>
                          <a:latin typeface="Arial"/>
                          <a:ea typeface="Arial"/>
                          <a:cs typeface="Arial"/>
                        </a:rPr>
                        <a:t>CNTT/OMS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Đồng bộ tồn kho, trạng thái và tích hợp đối tác.</a:t>
                      </a:r>
                    </a:p>
                  </a:txBody>
                  <a:tcPr anchor="ctr">
                    <a:solidFill>
                      <a:srgbClr val="F1F6FC"/>
                    </a:solidFill>
                  </a:tcPr>
                </a:tc>
                <a:extLst>
                  <a:ext uri="{0D108BD9-81ED-4DB2-BD59-A6C34878D82A}">
                    <a16:rowId xmlns:a16="http://schemas.microsoft.com/office/drawing/2014/main" val="10004"/>
                  </a:ext>
                </a:extLst>
              </a:tr>
              <a:tr h="628650">
                <a:tc>
                  <a:txBody>
                    <a:bodyPr/>
                    <a:lstStyle/>
                    <a:p>
                      <a:pPr algn="l">
                        <a:lnSpc>
                          <a:spcPct val="104000"/>
                        </a:lnSpc>
                        <a:buNone/>
                      </a:pPr>
                      <a:r>
                        <a:rPr sz="1650" b="0">
                          <a:solidFill>
                            <a:srgbClr val="17325C"/>
                          </a:solidFill>
                          <a:latin typeface="Arial"/>
                          <a:ea typeface="Arial"/>
                          <a:cs typeface="Arial"/>
                        </a:rPr>
                        <a:t>Công ty tài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Hồ sơ đầy đủ, thẩm định nhanh, kiểm soát rủi ro.</a:t>
                      </a:r>
                    </a:p>
                  </a:txBody>
                  <a:tcPr anchor="ctr">
                    <a:solidFill>
                      <a:srgbClr val="FFFFFF"/>
                    </a:solidFill>
                  </a:tcPr>
                </a:tc>
                <a:extLst>
                  <a:ext uri="{0D108BD9-81ED-4DB2-BD59-A6C34878D82A}">
                    <a16:rowId xmlns:a16="http://schemas.microsoft.com/office/drawing/2014/main" val="10005"/>
                  </a:ext>
                </a:extLst>
              </a:tr>
              <a:tr h="628650">
                <a:tc>
                  <a:txBody>
                    <a:bodyPr/>
                    <a:lstStyle/>
                    <a:p>
                      <a:pPr algn="l">
                        <a:lnSpc>
                          <a:spcPct val="104000"/>
                        </a:lnSpc>
                        <a:buNone/>
                      </a:pPr>
                      <a:r>
                        <a:rPr sz="1650" b="0">
                          <a:solidFill>
                            <a:srgbClr val="17325C"/>
                          </a:solidFill>
                          <a:latin typeface="Arial"/>
                          <a:ea typeface="Arial"/>
                          <a:cs typeface="Arial"/>
                        </a:rPr>
                        <a:t>Cơ quan quản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Tuân thủ quy định về giao dịch và dữ liệu.</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53</a:t>
            </a:r>
          </a:p>
        </p:txBody>
      </p:sp>
      <p:graphicFrame>
        <p:nvGraphicFramePr>
          <p:cNvPr id="110" name="Table 111"/>
          <p:cNvGraphicFramePr/>
          <p:nvPr/>
        </p:nvGraphicFramePr>
        <p:xfrm>
          <a:off x="742950" y="1714500"/>
          <a:ext cx="10763250" cy="42100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95300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Bên liên quan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Quan tâm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Lợi ích/Kỳ vọng</a:t>
                      </a: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Cân đối khách tại quầy và đơn online; giảm sai sót.</a:t>
                      </a:r>
                    </a:p>
                  </a:txBody>
                  <a:tcPr anchor="ctr">
                    <a:solidFill>
                      <a:srgbClr val="FFFFFF"/>
                    </a:solidFill>
                  </a:tcPr>
                </a:tc>
                <a:extLst>
                  <a:ext uri="{0D108BD9-81ED-4DB2-BD59-A6C34878D82A}">
                    <a16:rowId xmlns:a16="http://schemas.microsoft.com/office/drawing/2014/main" val="10001"/>
                  </a:ext>
                </a:extLst>
              </a:tr>
              <a:tr h="628650">
                <a:tc>
                  <a:txBody>
                    <a:bodyPr/>
                    <a:lstStyle/>
                    <a:p>
                      <a:pPr algn="l">
                        <a:lnSpc>
                          <a:spcPct val="104000"/>
                        </a:lnSpc>
                        <a:buNone/>
                      </a:pPr>
                      <a:r>
                        <a:rPr sz="1650" b="0">
                          <a:solidFill>
                            <a:srgbClr val="17325C"/>
                          </a:solidFill>
                          <a:latin typeface="Arial"/>
                          <a:ea typeface="Arial"/>
                          <a:cs typeface="Arial"/>
                        </a:rPr>
                        <a:t>Giao vận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thành công lần đầu; tối ưu lộ trình.</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650" b="0">
                          <a:solidFill>
                            <a:srgbClr val="17325C"/>
                          </a:solidFill>
                          <a:latin typeface="Arial"/>
                          <a:ea typeface="Arial"/>
                          <a:cs typeface="Arial"/>
                        </a:rPr>
                        <a:t>Kế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Đối soát kịp thời, chính xác, đủ chứng từ.</a:t>
                      </a:r>
                    </a:p>
                  </a:txBody>
                  <a:tcPr anchor="ctr">
                    <a:solidFill>
                      <a:srgbClr val="FFFFFF"/>
                    </a:solidFill>
                  </a:tcPr>
                </a:tc>
                <a:extLst>
                  <a:ext uri="{0D108BD9-81ED-4DB2-BD59-A6C34878D82A}">
                    <a16:rowId xmlns:a16="http://schemas.microsoft.com/office/drawing/2014/main" val="10003"/>
                  </a:ext>
                </a:extLst>
              </a:tr>
              <a:tr h="628650">
                <a:tc>
                  <a:txBody>
                    <a:bodyPr/>
                    <a:lstStyle/>
                    <a:p>
                      <a:pPr algn="l">
                        <a:lnSpc>
                          <a:spcPct val="104000"/>
                        </a:lnSpc>
                        <a:buNone/>
                      </a:pPr>
                      <a:r>
                        <a:rPr sz="1650" b="0">
                          <a:solidFill>
                            <a:srgbClr val="17325C"/>
                          </a:solidFill>
                          <a:latin typeface="Arial"/>
                          <a:ea typeface="Arial"/>
                          <a:cs typeface="Arial"/>
                        </a:rPr>
                        <a:t>Đối tác vận chuyển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Địa chỉ chính xác và sản lượng ổn định.</a:t>
                      </a:r>
                    </a:p>
                  </a:txBody>
                  <a:tcPr anchor="ctr">
                    <a:solidFill>
                      <a:srgbClr val="F1F6FC"/>
                    </a:solidFill>
                  </a:tcPr>
                </a:tc>
                <a:extLst>
                  <a:ext uri="{0D108BD9-81ED-4DB2-BD59-A6C34878D82A}">
                    <a16:rowId xmlns:a16="http://schemas.microsoft.com/office/drawing/2014/main" val="10004"/>
                  </a:ext>
                </a:extLst>
              </a:tr>
              <a:tr h="628650">
                <a:tc>
                  <a:txBody>
                    <a:bodyPr/>
                    <a:lstStyle/>
                    <a:p>
                      <a:pPr algn="l">
                        <a:lnSpc>
                          <a:spcPct val="104000"/>
                        </a:lnSpc>
                        <a:buNone/>
                      </a:pPr>
                      <a:r>
                        <a:rPr sz="1650" b="0">
                          <a:solidFill>
                            <a:srgbClr val="17325C"/>
                          </a:solidFill>
                          <a:latin typeface="Arial"/>
                          <a:ea typeface="Arial"/>
                          <a:cs typeface="Arial"/>
                        </a:rPr>
                        <a:t>Cổng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dịch an toàn, ít lỗi và tranh chấp.</a:t>
                      </a:r>
                    </a:p>
                  </a:txBody>
                  <a:tcPr anchor="ctr">
                    <a:solidFill>
                      <a:srgbClr val="FFFFFF"/>
                    </a:solidFill>
                  </a:tcPr>
                </a:tc>
                <a:extLst>
                  <a:ext uri="{0D108BD9-81ED-4DB2-BD59-A6C34878D82A}">
                    <a16:rowId xmlns:a16="http://schemas.microsoft.com/office/drawing/2014/main" val="10005"/>
                  </a:ext>
                </a:extLst>
              </a:tr>
              <a:tr h="628650">
                <a:tc>
                  <a:txBody>
                    <a:bodyPr/>
                    <a:lstStyle/>
                    <a:p>
                      <a:pPr algn="l">
                        <a:lnSpc>
                          <a:spcPct val="104000"/>
                        </a:lnSpc>
                        <a:buNone/>
                      </a:pPr>
                      <a:r>
                        <a:rPr sz="1650" b="0">
                          <a:solidFill>
                            <a:srgbClr val="17325C"/>
                          </a:solidFill>
                          <a:latin typeface="Arial"/>
                          <a:ea typeface="Arial"/>
                          <a:cs typeface="Arial"/>
                        </a:rPr>
                        <a:t>Nhà cung cấp/hãng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Dữ liệu bán hàng và IMEI chính xác.</a:t>
                      </a: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99C16721-6580-ED5B-EEA3-EDB826F37120}"/>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dirty="0">
                <a:solidFill>
                  <a:srgbClr val="062B8D"/>
                </a:solidFill>
                <a:latin typeface="Arial"/>
                <a:ea typeface="Arial"/>
                <a:cs typeface="Arial"/>
              </a:rPr>
              <a:t>VIII. PHÂN TÍCH CÁC BÊN LIÊN QUAN</a:t>
            </a:r>
          </a:p>
          <a:p>
            <a:pPr>
              <a:lnSpc>
                <a:spcPct val="104000"/>
              </a:lnSpc>
              <a:buNone/>
              <a:defRPr sz="2550" b="1">
                <a:solidFill>
                  <a:srgbClr val="062B8D"/>
                </a:solidFill>
                <a:latin typeface="Arial"/>
                <a:ea typeface="Arial"/>
                <a:cs typeface="Arial"/>
              </a:defRPr>
            </a:pPr>
            <a:r>
              <a:rPr sz="1500" b="1" dirty="0">
                <a:solidFill>
                  <a:srgbClr val="009D9E"/>
                </a:solidFill>
                <a:latin typeface="Arial"/>
                <a:ea typeface="Arial"/>
                <a:cs typeface="Arial"/>
              </a:rPr>
              <a:t>QUY TRÌNH BÁN HÀNG TRỰC TUYẾN</a:t>
            </a:r>
            <a:endParaRPr sz="1500" b="1" dirty="0">
              <a:solidFill>
                <a:srgbClr val="062B8D"/>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hape 0">
            <a:extLst>
              <a:ext uri="{FF2B5EF4-FFF2-40B4-BE49-F238E27FC236}">
                <a16:creationId xmlns:a16="http://schemas.microsoft.com/office/drawing/2014/main" id="{5AD8F907-0D9E-9A12-7C48-EA51F520F49C}"/>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7" name="Shape 1">
            <a:extLst>
              <a:ext uri="{FF2B5EF4-FFF2-40B4-BE49-F238E27FC236}">
                <a16:creationId xmlns:a16="http://schemas.microsoft.com/office/drawing/2014/main" id="{94743A46-EBA6-8332-8AEB-2E2E7E68BF17}"/>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8" name="Shape 2">
            <a:extLst>
              <a:ext uri="{FF2B5EF4-FFF2-40B4-BE49-F238E27FC236}">
                <a16:creationId xmlns:a16="http://schemas.microsoft.com/office/drawing/2014/main" id="{FDB59ADF-65CD-A6E9-3753-2DF561FAC15A}"/>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9" name="Shape 3">
            <a:extLst>
              <a:ext uri="{FF2B5EF4-FFF2-40B4-BE49-F238E27FC236}">
                <a16:creationId xmlns:a16="http://schemas.microsoft.com/office/drawing/2014/main" id="{C083645F-9270-18D1-97ED-9AFA61104BE5}"/>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0" name="Shape 11">
            <a:extLst>
              <a:ext uri="{FF2B5EF4-FFF2-40B4-BE49-F238E27FC236}">
                <a16:creationId xmlns:a16="http://schemas.microsoft.com/office/drawing/2014/main" id="{F81B7223-2EF0-B75E-9BD3-2E8AA78E1376}"/>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2">
            <a:extLst>
              <a:ext uri="{FF2B5EF4-FFF2-40B4-BE49-F238E27FC236}">
                <a16:creationId xmlns:a16="http://schemas.microsoft.com/office/drawing/2014/main" id="{D78AA25D-6215-09E2-15D1-6E4B8C2CBD61}"/>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3">
            <a:extLst>
              <a:ext uri="{FF2B5EF4-FFF2-40B4-BE49-F238E27FC236}">
                <a16:creationId xmlns:a16="http://schemas.microsoft.com/office/drawing/2014/main" id="{C6998CA6-8894-C666-9460-94A8BE2C51FF}"/>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57" name="Shape 14">
            <a:extLst>
              <a:ext uri="{FF2B5EF4-FFF2-40B4-BE49-F238E27FC236}">
                <a16:creationId xmlns:a16="http://schemas.microsoft.com/office/drawing/2014/main" id="{C72D0CD0-86AA-F8D4-226B-C96286EC6E74}"/>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58" name="Shape 15">
            <a:extLst>
              <a:ext uri="{FF2B5EF4-FFF2-40B4-BE49-F238E27FC236}">
                <a16:creationId xmlns:a16="http://schemas.microsoft.com/office/drawing/2014/main" id="{403620DE-D098-133C-BFFC-ED87EEFF3261}"/>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1" name="Shape 16">
            <a:extLst>
              <a:ext uri="{FF2B5EF4-FFF2-40B4-BE49-F238E27FC236}">
                <a16:creationId xmlns:a16="http://schemas.microsoft.com/office/drawing/2014/main" id="{964841BA-B85D-9694-365B-3D991FB1915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2" name="Shape 17">
            <a:extLst>
              <a:ext uri="{FF2B5EF4-FFF2-40B4-BE49-F238E27FC236}">
                <a16:creationId xmlns:a16="http://schemas.microsoft.com/office/drawing/2014/main" id="{9325B7E7-D7B8-531C-BC5A-D28E2D707598}"/>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3" name="Shape 18">
            <a:extLst>
              <a:ext uri="{FF2B5EF4-FFF2-40B4-BE49-F238E27FC236}">
                <a16:creationId xmlns:a16="http://schemas.microsoft.com/office/drawing/2014/main" id="{F751A004-FD94-FB20-9EFB-251877B4405F}"/>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4" name="Shape 19">
            <a:extLst>
              <a:ext uri="{FF2B5EF4-FFF2-40B4-BE49-F238E27FC236}">
                <a16:creationId xmlns:a16="http://schemas.microsoft.com/office/drawing/2014/main" id="{B9A3DEC9-356F-B3B3-2CC3-096D45727957}"/>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5" name="Shape 20">
            <a:extLst>
              <a:ext uri="{FF2B5EF4-FFF2-40B4-BE49-F238E27FC236}">
                <a16:creationId xmlns:a16="http://schemas.microsoft.com/office/drawing/2014/main" id="{B27FDD6B-C81F-6CCA-F366-A2DE845AB573}"/>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6" name="Shape 21">
            <a:extLst>
              <a:ext uri="{FF2B5EF4-FFF2-40B4-BE49-F238E27FC236}">
                <a16:creationId xmlns:a16="http://schemas.microsoft.com/office/drawing/2014/main" id="{2A2947D6-D5F4-BA1F-5853-03EB7367C0EE}"/>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7" name="Shape 22">
            <a:extLst>
              <a:ext uri="{FF2B5EF4-FFF2-40B4-BE49-F238E27FC236}">
                <a16:creationId xmlns:a16="http://schemas.microsoft.com/office/drawing/2014/main" id="{2C749F03-FAA0-033E-0EB7-BC20DD6C366E}"/>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8" name="Shape 23">
            <a:extLst>
              <a:ext uri="{FF2B5EF4-FFF2-40B4-BE49-F238E27FC236}">
                <a16:creationId xmlns:a16="http://schemas.microsoft.com/office/drawing/2014/main" id="{95216F16-0ADF-DF9A-9F11-66DD62953BA8}"/>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69" name="Shape 24">
            <a:extLst>
              <a:ext uri="{FF2B5EF4-FFF2-40B4-BE49-F238E27FC236}">
                <a16:creationId xmlns:a16="http://schemas.microsoft.com/office/drawing/2014/main" id="{639A8BFA-4BEB-5824-BC0D-DA259E6FC048}"/>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0" name="Shape 25">
            <a:extLst>
              <a:ext uri="{FF2B5EF4-FFF2-40B4-BE49-F238E27FC236}">
                <a16:creationId xmlns:a16="http://schemas.microsoft.com/office/drawing/2014/main" id="{E15D9C2A-901E-5C58-689B-F27B88701ED0}"/>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1" name="Shape 26">
            <a:extLst>
              <a:ext uri="{FF2B5EF4-FFF2-40B4-BE49-F238E27FC236}">
                <a16:creationId xmlns:a16="http://schemas.microsoft.com/office/drawing/2014/main" id="{A288553B-905B-6CCC-4CD7-10AEFED19DD3}"/>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2" name="Shape 27">
            <a:extLst>
              <a:ext uri="{FF2B5EF4-FFF2-40B4-BE49-F238E27FC236}">
                <a16:creationId xmlns:a16="http://schemas.microsoft.com/office/drawing/2014/main" id="{C140D47F-EB10-9384-3CDB-19146DA1F105}"/>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3" name="Shape 28">
            <a:extLst>
              <a:ext uri="{FF2B5EF4-FFF2-40B4-BE49-F238E27FC236}">
                <a16:creationId xmlns:a16="http://schemas.microsoft.com/office/drawing/2014/main" id="{D6A3670F-FFAF-9E48-C078-BC314B2997AA}"/>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4" name="Shape 29">
            <a:extLst>
              <a:ext uri="{FF2B5EF4-FFF2-40B4-BE49-F238E27FC236}">
                <a16:creationId xmlns:a16="http://schemas.microsoft.com/office/drawing/2014/main" id="{A046726D-38B9-FF09-67B5-A2CD3DD59EBE}"/>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5" name="Shape 30">
            <a:extLst>
              <a:ext uri="{FF2B5EF4-FFF2-40B4-BE49-F238E27FC236}">
                <a16:creationId xmlns:a16="http://schemas.microsoft.com/office/drawing/2014/main" id="{1B0333B4-47FA-C126-5CC5-12EC98158A2B}"/>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6" name="Shape 31">
            <a:extLst>
              <a:ext uri="{FF2B5EF4-FFF2-40B4-BE49-F238E27FC236}">
                <a16:creationId xmlns:a16="http://schemas.microsoft.com/office/drawing/2014/main" id="{8DF88D82-1CA3-BC40-9646-40B55E80335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7" name="Shape 32">
            <a:extLst>
              <a:ext uri="{FF2B5EF4-FFF2-40B4-BE49-F238E27FC236}">
                <a16:creationId xmlns:a16="http://schemas.microsoft.com/office/drawing/2014/main" id="{9C1AD72A-ECB8-74D9-7A0B-033837A7D2F4}"/>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8" name="Shape 33">
            <a:extLst>
              <a:ext uri="{FF2B5EF4-FFF2-40B4-BE49-F238E27FC236}">
                <a16:creationId xmlns:a16="http://schemas.microsoft.com/office/drawing/2014/main" id="{ADF6FE33-1BF6-F164-1C5C-38984C1325E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9" name="Shape 34">
            <a:extLst>
              <a:ext uri="{FF2B5EF4-FFF2-40B4-BE49-F238E27FC236}">
                <a16:creationId xmlns:a16="http://schemas.microsoft.com/office/drawing/2014/main" id="{30D62936-0C03-5ECC-D80E-371AF160C586}"/>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0" name="Shape 35">
            <a:extLst>
              <a:ext uri="{FF2B5EF4-FFF2-40B4-BE49-F238E27FC236}">
                <a16:creationId xmlns:a16="http://schemas.microsoft.com/office/drawing/2014/main" id="{AE1B58ED-5AE4-9E9E-ECE7-08C0201E386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1" name="Shape 36">
            <a:extLst>
              <a:ext uri="{FF2B5EF4-FFF2-40B4-BE49-F238E27FC236}">
                <a16:creationId xmlns:a16="http://schemas.microsoft.com/office/drawing/2014/main" id="{C7B540E9-D834-EC69-922A-3161C6916680}"/>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2" name="Shape 37">
            <a:extLst>
              <a:ext uri="{FF2B5EF4-FFF2-40B4-BE49-F238E27FC236}">
                <a16:creationId xmlns:a16="http://schemas.microsoft.com/office/drawing/2014/main" id="{2774FC18-ADE1-3ECE-D260-6D7D757E7EC4}"/>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3" name="Shape 38">
            <a:extLst>
              <a:ext uri="{FF2B5EF4-FFF2-40B4-BE49-F238E27FC236}">
                <a16:creationId xmlns:a16="http://schemas.microsoft.com/office/drawing/2014/main" id="{54E772D7-CDE9-061D-A1AD-71D15114B5A4}"/>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4" name="Shape 39">
            <a:extLst>
              <a:ext uri="{FF2B5EF4-FFF2-40B4-BE49-F238E27FC236}">
                <a16:creationId xmlns:a16="http://schemas.microsoft.com/office/drawing/2014/main" id="{F10DBE3D-0988-B99C-30D7-B3677035B2F4}"/>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5" name="Shape 40">
            <a:extLst>
              <a:ext uri="{FF2B5EF4-FFF2-40B4-BE49-F238E27FC236}">
                <a16:creationId xmlns:a16="http://schemas.microsoft.com/office/drawing/2014/main" id="{E324FDD4-189B-35BC-7EB2-CD4C38A04BAB}"/>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6" name="Shape 41">
            <a:extLst>
              <a:ext uri="{FF2B5EF4-FFF2-40B4-BE49-F238E27FC236}">
                <a16:creationId xmlns:a16="http://schemas.microsoft.com/office/drawing/2014/main" id="{36C1B506-1A15-C442-FFC4-9BC16D9839E3}"/>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7" name="Shape 42">
            <a:extLst>
              <a:ext uri="{FF2B5EF4-FFF2-40B4-BE49-F238E27FC236}">
                <a16:creationId xmlns:a16="http://schemas.microsoft.com/office/drawing/2014/main" id="{339CC067-0EB0-F1EF-287D-F6B33FB3C797}"/>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8" name="Shape 43">
            <a:extLst>
              <a:ext uri="{FF2B5EF4-FFF2-40B4-BE49-F238E27FC236}">
                <a16:creationId xmlns:a16="http://schemas.microsoft.com/office/drawing/2014/main" id="{D2D72717-1C57-AE71-85D9-8D7F50CA3323}"/>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89" name="Shape 44">
            <a:extLst>
              <a:ext uri="{FF2B5EF4-FFF2-40B4-BE49-F238E27FC236}">
                <a16:creationId xmlns:a16="http://schemas.microsoft.com/office/drawing/2014/main" id="{268FADED-F4C0-4210-B298-45C7D6740D6F}"/>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0" name="Shape 45">
            <a:extLst>
              <a:ext uri="{FF2B5EF4-FFF2-40B4-BE49-F238E27FC236}">
                <a16:creationId xmlns:a16="http://schemas.microsoft.com/office/drawing/2014/main" id="{37142D39-D20A-118D-0723-71F60142A5CC}"/>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1" name="Shape 46">
            <a:extLst>
              <a:ext uri="{FF2B5EF4-FFF2-40B4-BE49-F238E27FC236}">
                <a16:creationId xmlns:a16="http://schemas.microsoft.com/office/drawing/2014/main" id="{683FFC88-EBFC-5107-2D2C-1605C6E18866}"/>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2" name="Shape 47">
            <a:extLst>
              <a:ext uri="{FF2B5EF4-FFF2-40B4-BE49-F238E27FC236}">
                <a16:creationId xmlns:a16="http://schemas.microsoft.com/office/drawing/2014/main" id="{EC6BAE1E-5A0A-E6EA-E53E-2B35A1F1E36C}"/>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3" name="Shape 48">
            <a:extLst>
              <a:ext uri="{FF2B5EF4-FFF2-40B4-BE49-F238E27FC236}">
                <a16:creationId xmlns:a16="http://schemas.microsoft.com/office/drawing/2014/main" id="{D71BF710-9EF9-FB00-912E-94FE8F9CCC58}"/>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4" name="Shape 49">
            <a:extLst>
              <a:ext uri="{FF2B5EF4-FFF2-40B4-BE49-F238E27FC236}">
                <a16:creationId xmlns:a16="http://schemas.microsoft.com/office/drawing/2014/main" id="{17A02CE5-5DE2-0E52-3291-282E1751ABE1}"/>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5" name="Shape 50">
            <a:extLst>
              <a:ext uri="{FF2B5EF4-FFF2-40B4-BE49-F238E27FC236}">
                <a16:creationId xmlns:a16="http://schemas.microsoft.com/office/drawing/2014/main" id="{BCD8BB82-38A3-7088-97B1-C57BABA905F4}"/>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6" name="Shape 51">
            <a:extLst>
              <a:ext uri="{FF2B5EF4-FFF2-40B4-BE49-F238E27FC236}">
                <a16:creationId xmlns:a16="http://schemas.microsoft.com/office/drawing/2014/main" id="{3F75CAC4-05E2-6AC6-CCC4-91344343A570}"/>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7" name="Shape 52">
            <a:extLst>
              <a:ext uri="{FF2B5EF4-FFF2-40B4-BE49-F238E27FC236}">
                <a16:creationId xmlns:a16="http://schemas.microsoft.com/office/drawing/2014/main" id="{2602C5C4-7B7C-6180-53E8-069E855F7FD7}"/>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98" name="Shape 53">
            <a:extLst>
              <a:ext uri="{FF2B5EF4-FFF2-40B4-BE49-F238E27FC236}">
                <a16:creationId xmlns:a16="http://schemas.microsoft.com/office/drawing/2014/main" id="{470060EB-1FE1-0010-57CE-6107248EA54F}"/>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100" name="Text 57">
            <a:extLst>
              <a:ext uri="{FF2B5EF4-FFF2-40B4-BE49-F238E27FC236}">
                <a16:creationId xmlns:a16="http://schemas.microsoft.com/office/drawing/2014/main" id="{452E37D8-0A78-3840-AC0E-64F2419C409A}"/>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54</a:t>
            </a:r>
          </a:p>
        </p:txBody>
      </p:sp>
      <p:sp>
        <p:nvSpPr>
          <p:cNvPr id="101" name="Rectangle 100">
            <a:extLst>
              <a:ext uri="{FF2B5EF4-FFF2-40B4-BE49-F238E27FC236}">
                <a16:creationId xmlns:a16="http://schemas.microsoft.com/office/drawing/2014/main" id="{F7A3A694-12D1-1B3C-F515-4B4F25B587C4}"/>
              </a:ext>
            </a:extLst>
          </p:cNvPr>
          <p:cNvSpPr>
            <a:spLocks noGrp="1"/>
          </p:cNvSpPr>
          <p:nvPr/>
        </p:nvSpPr>
        <p:spPr>
          <a:xfrm>
            <a:off x="571500" y="1016407"/>
            <a:ext cx="10572750" cy="609161"/>
          </a:xfrm>
          <a:prstGeom prst="rect">
            <a:avLst/>
          </a:prstGeom>
          <a:noFill/>
          <a:ln w="0">
            <a:noFill/>
            <a:prstDash val="solid"/>
          </a:ln>
        </p:spPr>
        <p:txBody>
          <a:bodyPr wrap="none" lIns="0" tIns="0" rIns="0" bIns="0" anchor="t">
            <a:noAutofit/>
          </a:bodyPr>
          <a:lstStyle/>
          <a:p>
            <a:r>
              <a:rPr sz="2550" b="1" dirty="0">
                <a:solidFill>
                  <a:srgbClr val="062B8D"/>
                </a:solidFill>
                <a:latin typeface="Arial"/>
                <a:ea typeface="Arial"/>
                <a:cs typeface="Arial"/>
              </a:rPr>
              <a:t>PHÂN TÍCH PARETO</a:t>
            </a:r>
          </a:p>
          <a:p>
            <a:r>
              <a:rPr sz="1500" b="1" dirty="0">
                <a:solidFill>
                  <a:srgbClr val="009D9E"/>
                </a:solidFill>
                <a:latin typeface="Arial"/>
                <a:ea typeface="Arial"/>
                <a:cs typeface="Arial"/>
              </a:rPr>
              <a:t>QUY TRÌNH BÁN HÀNG TRỰC TUYẾN</a:t>
            </a:r>
          </a:p>
        </p:txBody>
      </p:sp>
      <p:pic>
        <p:nvPicPr>
          <p:cNvPr id="102" name="Picture 101">
            <a:extLst>
              <a:ext uri="{FF2B5EF4-FFF2-40B4-BE49-F238E27FC236}">
                <a16:creationId xmlns:a16="http://schemas.microsoft.com/office/drawing/2014/main" id="{79A74354-8493-40C1-1B4D-2E93C7E69F42}"/>
              </a:ext>
            </a:extLst>
          </p:cNvPr>
          <p:cNvPicPr>
            <a:picLocks noChangeAspect="1"/>
          </p:cNvPicPr>
          <p:nvPr/>
        </p:nvPicPr>
        <p:blipFill>
          <a:blip r:embed="rId3"/>
          <a:stretch/>
        </p:blipFill>
        <p:spPr>
          <a:xfrm>
            <a:off x="1649396" y="1644140"/>
            <a:ext cx="8964244" cy="4710939"/>
          </a:xfrm>
          <a:prstGeom prst="rect">
            <a:avLst/>
          </a:prstGeom>
        </p:spPr>
      </p:pic>
      <p:sp>
        <p:nvSpPr>
          <p:cNvPr id="99" name="Shape 54">
            <a:extLst>
              <a:ext uri="{FF2B5EF4-FFF2-40B4-BE49-F238E27FC236}">
                <a16:creationId xmlns:a16="http://schemas.microsoft.com/office/drawing/2014/main" id="{8F064022-89A2-BFB8-14D3-72A63903B7BA}"/>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Tree>
    <p:extLst>
      <p:ext uri="{BB962C8B-B14F-4D97-AF65-F5344CB8AC3E}">
        <p14:creationId xmlns:p14="http://schemas.microsoft.com/office/powerpoint/2010/main" val="9852347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55</a:t>
            </a:r>
          </a:p>
        </p:txBody>
      </p:sp>
      <p:sp>
        <p:nvSpPr>
          <p:cNvPr id="60" name="Rectangle 59">
            <a:extLst>
              <a:ext uri="{FF2B5EF4-FFF2-40B4-BE49-F238E27FC236}">
                <a16:creationId xmlns:a16="http://schemas.microsoft.com/office/drawing/2014/main" id="{7174E477-877C-4D5F-B364-BB2E9AB37535}"/>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KẾT LUẬN</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24125">
                  <a:extLst>
                    <a:ext uri="{9D8B030D-6E8A-4147-A177-3AD203B41FA5}">
                      <a16:colId xmlns:a16="http://schemas.microsoft.com/office/drawing/2014/main" val="20000"/>
                    </a:ext>
                  </a:extLst>
                </a:gridCol>
                <a:gridCol w="8239125">
                  <a:extLst>
                    <a:ext uri="{9D8B030D-6E8A-4147-A177-3AD203B41FA5}">
                      <a16:colId xmlns:a16="http://schemas.microsoft.com/office/drawing/2014/main" val="20001"/>
                    </a:ext>
                  </a:extLst>
                </a:gridCol>
              </a:tblGrid>
              <a:tr h="4572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Kết luận</a:t>
                      </a:r>
                    </a:p>
                  </a:txBody>
                  <a:tcPr anchor="ctr">
                    <a:solidFill>
                      <a:srgbClr val="0B5ED7"/>
                    </a:solidFill>
                  </a:tcPr>
                </a:tc>
                <a:extLst>
                  <a:ext uri="{0D108BD9-81ED-4DB2-BD59-A6C34878D82A}">
                    <a16:rowId xmlns:a16="http://schemas.microsoft.com/office/drawing/2014/main" val="10000"/>
                  </a:ext>
                </a:extLst>
              </a:tr>
              <a:tr h="657225">
                <a:tc>
                  <a:txBody>
                    <a:bodyPr/>
                    <a:lstStyle/>
                    <a:p>
                      <a:pPr algn="l">
                        <a:lnSpc>
                          <a:spcPct val="104000"/>
                        </a:lnSpc>
                        <a:buNone/>
                      </a:pPr>
                      <a:r>
                        <a:rPr sz="1650" b="0">
                          <a:solidFill>
                            <a:srgbClr val="17325C"/>
                          </a:solidFill>
                          <a:latin typeface="Arial"/>
                          <a:ea typeface="Arial"/>
                          <a:cs typeface="Arial"/>
                        </a:rPr>
                        <a:t>Kiến trúc</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17 quy trình: 5 quản lý, 8 cốt lõi, 4 hỗ trợ.</a:t>
                      </a:r>
                    </a:p>
                  </a:txBody>
                  <a:tcPr anchor="ctr">
                    <a:solidFill>
                      <a:srgbClr val="FFFFFF"/>
                    </a:solidFill>
                  </a:tcPr>
                </a:tc>
                <a:extLst>
                  <a:ext uri="{0D108BD9-81ED-4DB2-BD59-A6C34878D82A}">
                    <a16:rowId xmlns:a16="http://schemas.microsoft.com/office/drawing/2014/main" val="10001"/>
                  </a:ext>
                </a:extLst>
              </a:tr>
              <a:tr h="752475">
                <a:tc>
                  <a:txBody>
                    <a:bodyPr/>
                    <a:lstStyle/>
                    <a:p>
                      <a:pPr algn="l">
                        <a:lnSpc>
                          <a:spcPct val="104000"/>
                        </a:lnSpc>
                        <a:buNone/>
                      </a:pPr>
                      <a:r>
                        <a:rPr sz="1650" b="0">
                          <a:solidFill>
                            <a:srgbClr val="17325C"/>
                          </a:solidFill>
                          <a:latin typeface="Arial"/>
                          <a:ea typeface="Arial"/>
                          <a:cs typeface="Arial"/>
                        </a:rPr>
                        <a:t>Mô hình hóa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Ba quy trình được trình bày với tác nhân, khách hàng, kết quả và BPMN.</a:t>
                      </a:r>
                    </a:p>
                  </a:txBody>
                  <a:tcPr anchor="ctr">
                    <a:solidFill>
                      <a:srgbClr val="F1F6FC"/>
                    </a:solidFill>
                  </a:tcPr>
                </a:tc>
                <a:extLst>
                  <a:ext uri="{0D108BD9-81ED-4DB2-BD59-A6C34878D82A}">
                    <a16:rowId xmlns:a16="http://schemas.microsoft.com/office/drawing/2014/main" val="10002"/>
                  </a:ext>
                </a:extLst>
              </a:tr>
              <a:tr h="752475">
                <a:tc>
                  <a:txBody>
                    <a:bodyPr/>
                    <a:lstStyle/>
                    <a:p>
                      <a:pPr algn="l">
                        <a:lnSpc>
                          <a:spcPct val="104000"/>
                        </a:lnSpc>
                        <a:buNone/>
                      </a:pPr>
                      <a:r>
                        <a:rPr sz="1650" b="0">
                          <a:solidFill>
                            <a:srgbClr val="17325C"/>
                          </a:solidFill>
                          <a:latin typeface="Arial"/>
                          <a:ea typeface="Arial"/>
                          <a:cs typeface="Arial"/>
                        </a:rPr>
                        <a:t>Bán hàng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 hoạt động được phân loại: 8 VA, 13 BVA, 3 NVA.</a:t>
                      </a:r>
                    </a:p>
                  </a:txBody>
                  <a:tcPr anchor="ctr">
                    <a:solidFill>
                      <a:srgbClr val="FFFFFF"/>
                    </a:solidFill>
                  </a:tcPr>
                </a:tc>
                <a:extLst>
                  <a:ext uri="{0D108BD9-81ED-4DB2-BD59-A6C34878D82A}">
                    <a16:rowId xmlns:a16="http://schemas.microsoft.com/office/drawing/2014/main" val="10003"/>
                  </a:ext>
                </a:extLst>
              </a:tr>
              <a:tr h="752475">
                <a:tc>
                  <a:txBody>
                    <a:bodyPr/>
                    <a:lstStyle/>
                    <a:p>
                      <a:pPr algn="l">
                        <a:lnSpc>
                          <a:spcPct val="104000"/>
                        </a:lnSpc>
                        <a:buNone/>
                      </a:pPr>
                      <a:r>
                        <a:rPr sz="1650" b="0">
                          <a:solidFill>
                            <a:srgbClr val="17325C"/>
                          </a:solidFill>
                          <a:latin typeface="Arial"/>
                          <a:ea typeface="Arial"/>
                          <a:cs typeface="Arial"/>
                        </a:rPr>
                        <a:t>Kết quả định lượng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Chu kỳ 46,26 giờ; CTE 3,47%; tỷ lệ hoàn tất khoảng 78,2% theo mô hình.</a:t>
                      </a:r>
                    </a:p>
                  </a:txBody>
                  <a:tcPr anchor="ctr">
                    <a:solidFill>
                      <a:srgbClr val="F1F6FC"/>
                    </a:solidFill>
                  </a:tcPr>
                </a:tc>
                <a:extLst>
                  <a:ext uri="{0D108BD9-81ED-4DB2-BD59-A6C34878D82A}">
                    <a16:rowId xmlns:a16="http://schemas.microsoft.com/office/drawing/2014/main" val="10004"/>
                  </a:ext>
                </a:extLst>
              </a:tr>
              <a:tr h="838200">
                <a:tc>
                  <a:txBody>
                    <a:bodyPr/>
                    <a:lstStyle/>
                    <a:p>
                      <a:pPr algn="l">
                        <a:lnSpc>
                          <a:spcPct val="104000"/>
                        </a:lnSpc>
                        <a:buNone/>
                      </a:pPr>
                      <a:r>
                        <a:rPr sz="1650" b="0">
                          <a:solidFill>
                            <a:srgbClr val="17325C"/>
                          </a:solidFill>
                          <a:latin typeface="Arial"/>
                          <a:ea typeface="Arial"/>
                          <a:cs typeface="Arial"/>
                        </a:rPr>
                        <a:t>Hướng cải tiến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tầng xác nhận đơn; giảm chờ; chuẩn hóa thông tin và hẹn giao; tăng tích hợp dữ liệu.</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5CC11C-9F3C-4801-A5B8-1EB217EB9A3A}"/>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036D439-0E73-4392-A9D1-DB40D6A1D843}"/>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AED8D72-39BA-4813-BE9A-5896B83C2C1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3574399-47D7-4DFE-841F-7CBC1D185DA3}"/>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63A1E588-873C-49E4-A7B4-C071921A31F0}"/>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271C43D6-2330-42E7-B7B5-7400A7FA4873}"/>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CF8A0900-F5E1-4D59-A602-AB1E03354068}"/>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75A24BE-7317-4DD6-81AF-C3D9A22C2390}"/>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9BE8A7C2-3867-4E64-B9BA-2969AABE627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BA8BF9B7-B58D-4A1E-B783-E2C5DE9BA49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B79444E-2FEF-457A-B9A8-5DB6F9015EAF}"/>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5A54038-D365-4073-9E33-FE7D4FC106DE}"/>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A6349F5B-B8DE-4F73-AD5D-4EE4A5157851}"/>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6384A8-3645-4409-97CD-214A1F577CD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E67814AE-C778-44B3-874E-734AA82C69D7}"/>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EA007EB5-A087-4079-8D0A-CC1711AEF46A}"/>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CCF1187D-22E6-476B-8232-89860501D41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92207862-5C10-4EC6-ACDA-5F590A006E2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8462D05-CCAD-4D78-A04E-CD858C17C332}"/>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E3202425-D841-46E9-B743-2A5CD5469D55}"/>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3C480BB1-7A5A-4EA9-9FFA-AF398F1B3B58}"/>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2BD954FB-597A-47E3-9084-321EF22D1C2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EBDB9D8-6335-4462-885E-260CB94BAD31}"/>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F098F66B-8E04-4B20-91D8-694E3F9E7C8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B266D2B-4EA7-4140-85DD-4E5DDBF47C5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75575F64-6AFF-42B2-8BCA-F255C6E350CD}"/>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A3D82C0E-E6F8-4BBE-8DD1-D59A3A499870}"/>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3BBAEA0-C484-4F3B-8586-B35BC61323D7}"/>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04998151-1E82-4B41-92E2-359CDEB20B7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CF18467F-5A25-42FF-BAD4-22293F1A5D54}"/>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0C3FB8E-36B3-4877-908E-E248DEF9A22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F1BE9BD3-9958-4803-9DCC-1F21F76C95E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57A7F0A8-5AB7-4F59-B55D-3AA405035D87}"/>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176F6BA3-9A04-4715-B065-EDD40C5AC44C}"/>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FED2EFED-A076-45F8-9EEA-A0E7F947BC7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3EFAFA65-725E-44A6-BAAA-0A23F747953D}"/>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8C50E4F-F5CE-4418-83BC-758110F9E70E}"/>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0DB5F52-9B78-4BD4-8279-E5199A3350EE}"/>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8C251EE7-B0CA-4D19-BA4D-4CBCFCEDF4FA}"/>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7307CBA-4C5A-4599-8903-AF15BEA22CC5}"/>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953831D1-ADEE-4D37-8904-386C0634E1F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0AF42F2-2DC5-4514-AAF3-C433C4DAED57}"/>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5B28F3F4-F236-4F2C-A089-18E8CD36A13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7FFEA110-EC4E-458B-99D9-B3538DC373E9}"/>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D311505-5119-4998-A9F8-67EE39C20A1A}"/>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C6B9823A-FA75-46F5-8859-0C42C1D8DE8E}"/>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FA847331-BE75-472F-9F64-51484B74675C}"/>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8DEBE1CA-A31B-4C3D-BBD6-73DFF0D3C96E}"/>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8F8336FF-426C-4552-B77C-AC482F27F556}"/>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56</a:t>
            </a:r>
          </a:p>
        </p:txBody>
      </p:sp>
      <p:sp>
        <p:nvSpPr>
          <p:cNvPr id="60" name="Rectangle 59">
            <a:extLst>
              <a:ext uri="{FF2B5EF4-FFF2-40B4-BE49-F238E27FC236}">
                <a16:creationId xmlns:a16="http://schemas.microsoft.com/office/drawing/2014/main" id="{8DB12A28-7354-4532-843E-01DDEA84E786}"/>
              </a:ext>
            </a:extLst>
          </p:cNvPr>
          <p:cNvSpPr>
            <a:spLocks noGrp="1"/>
          </p:cNvSpPr>
          <p:nvPr/>
        </p:nvSpPr>
        <p:spPr>
          <a:xfrm>
            <a:off x="1905000" y="2381250"/>
            <a:ext cx="8382000" cy="762000"/>
          </a:xfrm>
          <a:prstGeom prst="rect">
            <a:avLst/>
          </a:prstGeom>
          <a:noFill/>
          <a:ln w="0">
            <a:noFill/>
            <a:prstDash val="solid"/>
          </a:ln>
        </p:spPr>
        <p:txBody>
          <a:bodyPr wrap="square" lIns="95250" tIns="66675" rIns="95250" bIns="66675" anchor="ctr">
            <a:noAutofit/>
          </a:bodyPr>
          <a:lstStyle/>
          <a:p>
            <a:pPr algn="ctr">
              <a:lnSpc>
                <a:spcPct val="104000"/>
              </a:lnSpc>
              <a:buNone/>
              <a:defRPr sz="3300" b="1">
                <a:solidFill>
                  <a:srgbClr val="062B8D"/>
                </a:solidFill>
                <a:latin typeface="Arial"/>
                <a:ea typeface="Arial"/>
                <a:cs typeface="Arial"/>
              </a:defRPr>
            </a:pPr>
            <a:r>
              <a:rPr sz="3300" b="1" dirty="0">
                <a:solidFill>
                  <a:srgbClr val="062B8D"/>
                </a:solidFill>
                <a:latin typeface="Arial"/>
                <a:ea typeface="Arial"/>
                <a:cs typeface="Arial"/>
              </a:rPr>
              <a:t>CẢM ƠN</a:t>
            </a:r>
            <a:r>
              <a:rPr lang="en-US" sz="3300" b="1" dirty="0">
                <a:solidFill>
                  <a:srgbClr val="062B8D"/>
                </a:solidFill>
                <a:latin typeface="Arial"/>
                <a:ea typeface="Arial"/>
                <a:cs typeface="Arial"/>
              </a:rPr>
              <a:t> ĐÃ LẮNG NGHE</a:t>
            </a:r>
            <a:endParaRPr sz="3300" b="1" dirty="0">
              <a:solidFill>
                <a:srgbClr val="062B8D"/>
              </a:solidFill>
              <a:latin typeface="Arial"/>
              <a:ea typeface="Arial"/>
              <a:cs typeface="Arial"/>
            </a:endParaRPr>
          </a:p>
        </p:txBody>
      </p:sp>
      <p:sp>
        <p:nvSpPr>
          <p:cNvPr id="61" name="Rectangle 60">
            <a:extLst>
              <a:ext uri="{FF2B5EF4-FFF2-40B4-BE49-F238E27FC236}">
                <a16:creationId xmlns:a16="http://schemas.microsoft.com/office/drawing/2014/main" id="{090BE7C8-79F9-4F7F-AB63-0BCFF6D7A861}"/>
              </a:ext>
            </a:extLst>
          </p:cNvPr>
          <p:cNvSpPr>
            <a:spLocks noGrp="1"/>
          </p:cNvSpPr>
          <p:nvPr/>
        </p:nvSpPr>
        <p:spPr>
          <a:xfrm>
            <a:off x="1238250" y="3162300"/>
            <a:ext cx="9715500" cy="552450"/>
          </a:xfrm>
          <a:prstGeom prst="rect">
            <a:avLst/>
          </a:prstGeom>
          <a:noFill/>
          <a:ln w="0">
            <a:noFill/>
            <a:prstDash val="solid"/>
          </a:ln>
        </p:spPr>
        <p:txBody>
          <a:bodyPr wrap="square" lIns="95250" tIns="66675" rIns="95250" bIns="66675" anchor="t">
            <a:noAutofit/>
          </a:bodyPr>
          <a:lstStyle/>
          <a:p>
            <a:pPr algn="ctr">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NHÓM 8 • HỆ THỐNG QUẢN TRỊ QUY TRÌNH NGHIỆP VỤ</a:t>
            </a:r>
          </a:p>
        </p:txBody>
      </p:sp>
      <p:sp>
        <p:nvSpPr>
          <p:cNvPr id="62" name="Rectangle: Rounded Corners 61">
            <a:extLst>
              <a:ext uri="{FF2B5EF4-FFF2-40B4-BE49-F238E27FC236}">
                <a16:creationId xmlns:a16="http://schemas.microsoft.com/office/drawing/2014/main" id="{DB8C3267-CAEE-4241-A1E9-57470B0CBEE9}"/>
              </a:ext>
            </a:extLst>
          </p:cNvPr>
          <p:cNvSpPr>
            <a:spLocks noGrp="1"/>
          </p:cNvSpPr>
          <p:nvPr/>
        </p:nvSpPr>
        <p:spPr>
          <a:xfrm>
            <a:off x="3905250" y="4286250"/>
            <a:ext cx="4381500" cy="914400"/>
          </a:xfrm>
          <a:prstGeom prst="roundRect">
            <a:avLst>
              <a:gd name="adj" fmla="val 15625"/>
            </a:avLst>
          </a:prstGeom>
          <a:solidFill>
            <a:srgbClr val="009B91">
              <a:alpha val="6275"/>
            </a:srgbClr>
          </a:solidFill>
          <a:ln w="10478">
            <a:solidFill>
              <a:srgbClr val="009B91">
                <a:alpha val="33333"/>
              </a:srgbClr>
            </a:solidFill>
            <a:prstDash val="solid"/>
          </a:ln>
        </p:spPr>
        <p:txBody>
          <a:bodyPr wrap="square" lIns="95250" tIns="66675" rIns="95250" bIns="66675" anchor="t">
            <a:noAutofit/>
          </a:bodyPr>
          <a:lstStyle/>
          <a:p>
            <a:pPr algn="ctr">
              <a:lnSpc>
                <a:spcPct val="200000"/>
              </a:lnSpc>
              <a:buNone/>
              <a:defRPr sz="1650" b="0">
                <a:solidFill>
                  <a:srgbClr val="17325C"/>
                </a:solidFill>
                <a:latin typeface="Arial"/>
                <a:ea typeface="Arial"/>
                <a:cs typeface="Arial"/>
              </a:defRPr>
            </a:pPr>
            <a:r>
              <a:rPr sz="1650" b="0">
                <a:solidFill>
                  <a:srgbClr val="17325C"/>
                </a:solidFill>
                <a:latin typeface="Arial"/>
                <a:ea typeface="Arial"/>
                <a:cs typeface="Arial"/>
              </a:rPr>
              <a:t>Q &amp; A</a:t>
            </a:r>
          </a:p>
        </p:txBody>
      </p:sp>
    </p:spTree>
    <p:extLst>
      <p:ext uri="{BB962C8B-B14F-4D97-AF65-F5344CB8AC3E}">
        <p14:creationId xmlns:p14="http://schemas.microsoft.com/office/powerpoint/2010/main" val="52387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11132</Words>
  <Application>Microsoft Office PowerPoint</Application>
  <DocSecurity>0</DocSecurity>
  <PresentationFormat>Widescreen</PresentationFormat>
  <Paragraphs>1365</Paragraphs>
  <Slides>56</Slides>
  <Notes>56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56</vt:i4>
      </vt:variant>
    </vt:vector>
  </HeadingPairs>
  <TitlesOfParts>
    <vt:vector size="5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cp:lastModifiedBy>
  <cp:revision>99</cp:revision>
  <dcterms:created xsi:type="dcterms:W3CDTF">2026-09-07T04:58:40Z</dcterms:created>
  <dcterms:modified xsi:type="dcterms:W3CDTF">2026-09-11T04:14:06Z</dcterms:modified>
</cp:coreProperties>
</file>