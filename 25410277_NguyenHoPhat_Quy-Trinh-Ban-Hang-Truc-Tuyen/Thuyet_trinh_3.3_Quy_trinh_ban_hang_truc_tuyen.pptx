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Phân loại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A5F"/>
              </a:solidFill>
              <a:effectLst/>
            </c:spPr>
          </c:dPt>
          <c:dPt>
            <c:idx val="1"/>
            <c:bubble3D val="0"/>
            <c:spPr>
              <a:solidFill>
                <a:srgbClr val="B8860B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VA — Tạo giá trị khách hàng</c:v>
                </c:pt>
                <c:pt idx="1">
                  <c:v>BVA — Tạo giá trị doanh nghiệp</c:v>
                </c:pt>
                <c:pt idx="2">
                  <c:v>NVA — Không tạo giá trị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33.3</c:v>
                </c:pt>
                <c:pt idx="1">
                  <c:v>54.2</c:v>
                </c:pt>
                <c:pt idx="2">
                  <c:v>12.5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Thời gian chờ (giờ)</c:v>
                </c:pt>
              </c:strCache>
            </c:strRef>
          </c:tx>
          <c:spPr>
            <a:solidFill>
              <a:srgbClr val="F265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Chờ xác nhận đơn</c:v>
                  </c:pt>
                  <c:pt idx="1">
                    <c:v>Chờ soạn hàng cao điểm</c:v>
                  </c:pt>
                  <c:pt idx="2">
                    <c:v>Chờ giao hàng</c:v>
                  </c:pt>
                  <c:pt idx="3">
                    <c:v>Chờ đối soát COD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1.5</c:v>
                </c:pt>
                <c:pt idx="2">
                  <c:v>12</c:v>
                </c:pt>
                <c:pt idx="3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7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72"/>
                    </a:solidFill>
                    <a:latin typeface="Arial"/>
                  </a:rPr>
                  <a:t>Giờ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 · MỤC 3.3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Quy trình bán hàng trực tuyến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&amp; mô hình hóa BPMN quy trình bán hàng trực tuyến của FPT Shop — cấu trúc, giá trị gia tăng, lãng phí, các bên liên quan và hiệu suất định lượng.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8 · FPT Shop · Đồ án Hệ thống quản trị quy trình nghiệp vụ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3.3.2 · MÔ TẢ QUY TRÌNH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quan &amp; năm giai đoạn vận hành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cốt lõi, hướng khách hàng.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khi khách phát sinh nhu cầu trên website/app, kết thúc khi đơn giao thành công. Khách đặt online nhưng đơn được thực hiện bởi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cửa hàng vật lý gần nhất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(mô hình ship-from-store, mạng lưới 623 cửa hàng).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03020" y="2834640"/>
            <a:ext cx="502920" cy="50292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/>
          <p:nvPr/>
        </p:nvSpPr>
        <p:spPr>
          <a:xfrm>
            <a:off x="130302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78608" y="3086100"/>
            <a:ext cx="164592" cy="0"/>
          </a:xfrm>
          <a:prstGeom prst="line">
            <a:avLst/>
          </a:prstGeom>
          <a:noFill/>
          <a:ln w="25400">
            <a:solidFill>
              <a:srgbClr val="E7E9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61188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70332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nhận nhu cầu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41605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đơn trên website/app, chọn thanh toán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15868" y="2834640"/>
            <a:ext cx="502920" cy="50292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/>
          <p:nvPr/>
        </p:nvSpPr>
        <p:spPr>
          <a:xfrm>
            <a:off x="3515868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91456" y="3086100"/>
            <a:ext cx="164592" cy="0"/>
          </a:xfrm>
          <a:prstGeom prst="line">
            <a:avLst/>
          </a:prstGeom>
          <a:noFill/>
          <a:ln w="25400">
            <a:solidFill>
              <a:srgbClr val="E7E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361188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2871216" y="370332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 &amp; điều phối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71216" y="41605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Gọi xác nhận, điều phối về cửa hàng gần nhất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28716" y="2834640"/>
            <a:ext cx="502920" cy="50292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8" name="Text 16"/>
          <p:cNvSpPr/>
          <p:nvPr/>
        </p:nvSpPr>
        <p:spPr>
          <a:xfrm>
            <a:off x="5728716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04304" y="3086100"/>
            <a:ext cx="164592" cy="0"/>
          </a:xfrm>
          <a:prstGeom prst="line">
            <a:avLst/>
          </a:prstGeom>
          <a:noFill/>
          <a:ln w="25400">
            <a:solidFill>
              <a:srgbClr val="E7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4336" y="361188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5084064" y="370332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Soạn hàng &amp; xuất kho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84064" y="41605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IMEI, đóng gói, xuất hóa đơn VAT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41564" y="2834640"/>
            <a:ext cx="502920" cy="50292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4" name="Text 22"/>
          <p:cNvSpPr/>
          <p:nvPr/>
        </p:nvSpPr>
        <p:spPr>
          <a:xfrm>
            <a:off x="7941564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17152" y="3086100"/>
            <a:ext cx="164592" cy="0"/>
          </a:xfrm>
          <a:prstGeom prst="line">
            <a:avLst/>
          </a:prstGeom>
          <a:noFill/>
          <a:ln w="25400">
            <a:solidFill>
              <a:srgbClr val="E7E9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87184" y="361188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/>
        </p:spPr>
      </p:sp>
      <p:sp>
        <p:nvSpPr>
          <p:cNvPr id="27" name="Text 25"/>
          <p:cNvSpPr/>
          <p:nvPr/>
        </p:nvSpPr>
        <p:spPr>
          <a:xfrm>
            <a:off x="7296912" y="370332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hàng &amp; thanh toán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96912" y="41605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kiểm, thu COD, đối soát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154412" y="2834640"/>
            <a:ext cx="502920" cy="50292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30" name="Text 28"/>
          <p:cNvSpPr/>
          <p:nvPr/>
        </p:nvSpPr>
        <p:spPr>
          <a:xfrm>
            <a:off x="10154412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400032" y="3611880"/>
            <a:ext cx="20116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/>
        </p:spPr>
      </p:sp>
      <p:sp>
        <p:nvSpPr>
          <p:cNvPr id="32" name="Text 30"/>
          <p:cNvSpPr/>
          <p:nvPr/>
        </p:nvSpPr>
        <p:spPr>
          <a:xfrm>
            <a:off x="9509760" y="370332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Hậu mãi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509760" y="41605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Kích hoạt bảo hành, khảo sát hài lòng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bán hàng trực tuyến — FPT Shop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3.3.4 · PHÂN TÍCH QUY TRÌNH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Đặc điểm cấu trúc &amp; nút thắt cổ chai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09928"/>
            <a:ext cx="233172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33172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09928"/>
            <a:ext cx="233172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286000"/>
            <a:ext cx="233172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Cổng quyết định (XOR)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709928"/>
            <a:ext cx="233172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233172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phận nội bộ tham gia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1080" y="160020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32520" y="1709928"/>
            <a:ext cx="233172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732520" y="2286000"/>
            <a:ext cx="233172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tác bên ngoài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11064240" cy="2606040"/>
          </a:xfrm>
          <a:prstGeom prst="roundRect">
            <a:avLst>
              <a:gd name="adj" fmla="val 3509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NGHẼN LỚN NHẤT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6393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Gọi điện xác nhận đơn hàng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thủ công 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buộc cho mọi đơn hàng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có thể kéo dài tới 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giờ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nếu không liên lạc được khách, và chặn đứng toàn bộ luồng xử lý phía sau (soạn hàng, giao hàng chỉ bắt đầu sau khi xác nhận xong).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bán hàng trực tuyến — FPT Shop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3.3.5.1 · PHÂN TÍCH ĐỊNH TÍNH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tích giá trị gia tăng (24 hoạt động)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0020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8A5F"/>
          </a:solidFill>
          <a:ln/>
        </p:spPr>
      </p:sp>
      <p:sp>
        <p:nvSpPr>
          <p:cNvPr id="6" name="Text 3"/>
          <p:cNvSpPr/>
          <p:nvPr/>
        </p:nvSpPr>
        <p:spPr>
          <a:xfrm>
            <a:off x="6355080" y="154533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33,3% · 8 hoạt động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55080" y="192024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sẵn sàng trả tiền — vd. hiển thị sản phẩm, soạn hàng, giao hàng.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0" y="27889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B8860B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27340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BVA 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54,2% · 13 hoạt động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55080" y="310896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buộc vì pháp lý/kiểm soát rủi ro — vd. gọi xác nhận, quét IMEI, xuất hóa đơn.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0" y="39776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392277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NVA 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12,5% · 3 hoạt động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5080" y="429768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Lãng phí thuần túy, chỉ phát sinh khi thất bại — vd. hủy đơn, nhập kho lại.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bán hàng trực tuyến — FPT Shop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3.3.5.2 · PHÂN TÍCH ĐỊNH TÍNH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 lãng phí nghiêm trọng nhất (khung Lean)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520440" cy="128016"/>
          </a:xfrm>
          <a:prstGeom prst="round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MỨC ĐỘ: CAO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Chờ đợi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nằm ở trạng thái Chờ xác nhận tới 24 giờ; chờ soạn hàng giờ cao điểm.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1600200"/>
            <a:ext cx="3520440" cy="128016"/>
          </a:xfrm>
          <a:prstGeom prst="round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MỨC ĐỘ: CAO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2148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Vận chuyển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480560" y="25603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880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lần Hẹn giao lại phát sinh trọn vẹn một chuyến vận chuyển không tạo giá trị.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1600200"/>
            <a:ext cx="3520440" cy="128016"/>
          </a:xfrm>
          <a:prstGeom prst="round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MỨC ĐỘ: CAO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83880" y="2148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Xử lý thừa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183880" y="25603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83880" y="2880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Gọi xác nhận cho cả đơn đã thanh toán trực tuyến thành công — dư thừa kiểm soát.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3891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Đòn bẩy cải tiến lớn nhất: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 3 lãng phí trên đều quy tụ về 2 điểm — bước gọi điện xác nhận &amp; vòng lặp giao lại. Riêng bước xác nhận gây ra cùng lúc 4 loại lãng phí; chỉ cần phân tầng theo rủi ro là có thể triệt tiêu đồng thời cả 4.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bán hàng trực tuyến — FPT Shop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3.3.5.3 · PHÂN TÍCH ĐỊNH TÍNH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 bên liên quan &amp; xung đột lợi ích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465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130552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hưởng: Cao  ·  Quan tâm: Cao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Muốn tốc độ, minh bạch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4453128" y="17465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lãnh đạo FPT Retail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53128" y="2130552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hưởng: Cao  ·  Quan tâm: Cao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53128" y="24688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Muốn giảm chi phí, tăng doanh thu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8156448" y="174650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phận Telesales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56448" y="2130552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hưởng: Cao  ·  Quan tâm: Cao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56448" y="24688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bằng số cuộc gọi, không phải hiệu quả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1064240" cy="2423160"/>
          </a:xfrm>
          <a:prstGeom prst="roundRect">
            <a:avLst>
              <a:gd name="adj" fmla="val 3774"/>
            </a:avLst>
          </a:prstGeom>
          <a:solidFill>
            <a:srgbClr val="FDE5D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XUNG ĐỘT CỐT LÕI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Tốc độ (khách hàng)  </a:t>
            </a:r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vs.</a:t>
            </a:r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Kiểm soát rủi ro (doanh nghiệp)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43484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đề xuất: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E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tầng xác nhận theo mức độ rủi ro của đơn hàng — bỏ gọi xác nhận với đơn rủi ro thấp (đã thanh toán trực tuyến, khách quen), giữ lại với đơn rủi ro cao.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bán hàng trực tuyến — FPT Shop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3.3.6 · PHÂN TÍCH ĐỊNH LƯỢNG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Thời gian: vấn đề nằm ở CHỜ, không phải XỬ LÝ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64208"/>
            <a:ext cx="24231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46,3 giờ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95144"/>
            <a:ext cx="24231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 kỳ toàn trình (≈1,93 ngày)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664208"/>
            <a:ext cx="24231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0" y="2295144"/>
            <a:ext cx="24231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suất chu kỳ (CTE)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64208"/>
            <a:ext cx="24231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22,1 giờ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26480" y="2295144"/>
            <a:ext cx="24231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 kỳ hướng khách hàng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1664208"/>
            <a:ext cx="24231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6,3%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869680" y="2295144"/>
            <a:ext cx="24231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 hướng khách hàng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gian CHỜ chiếm áp đảo tại 3 điểm: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3429000"/>
          <a:ext cx="11064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bán hàng trực tuyến — FPT Shop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3.3.6 · PHÂN TÍCH ĐỊNH LƯỢNG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Chất lượng &amp; chi phí — biên lợi nhuận rất mỏng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84248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78,2%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4231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lệ đơn hàng hoàn tất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874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984248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697480"/>
            <a:ext cx="24231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Thất thoát rơi ở bước xác nhận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984248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142.670đ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24231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xử lý mỗi đơn khởi tạo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1874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AAAAAA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0" y="1984248"/>
            <a:ext cx="242316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0,49%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44000" y="2697480"/>
            <a:ext cx="24231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Biên lợi nhuận trước thuế (2025)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1064240" cy="2240280"/>
          </a:xfrm>
          <a:prstGeom prst="roundRect">
            <a:avLst>
              <a:gd name="adj" fmla="val 4082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ĐỊNH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biên lợi nhuận toàn chuỗi chỉ 0,49%, tổng chi phí lãng phí (NVA) cộng chi phí cơ hội do thất thoát đơn hàng tương đương gần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 lợi nhuận thực thu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trên mỗi đơn. Đây không còn là bài toán tối ưu hóa, mà là vấn đề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sống còn của biên lợi nhuận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bán hàng trực tuyến — FPT Shop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&amp; ĐỀ XUẤT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Nút thắt rõ ràng — ba hướng cải tiến ưu tiên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tầng xác nhận theo rủi ro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3317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gọi xác nhận với đơn rủi ro thấp; giữ lại với đơn rủi ro cao — triệt tiêu 4 loại lãng phí cùng lúc.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1546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dữ liệu địa chỉ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56616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 số điện thoại &amp; gợi ý địa chỉ khi đặt hàng, hẹn khung giờ giao — giảm tỷ lệ giao lại.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548640" cy="54864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389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KPI của Telesales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8006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đo số cuộc gọi sang đo tỷ lệ đơn hoàn tất thành công — gắn động lực với kết quả, không phải khối lượng.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080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65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Xin cảm ơn thầy/cô và các bạn đã lắng nghe!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09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bán hàng trực tuyến — FPT Shop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2026-08-24T18:09:32Z</dcterms:created>
  <dcterms:modified xsi:type="dcterms:W3CDTF">2026-08-24T18:09:32Z</dcterms:modified>
</cp:coreProperties>
</file>